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df7f6b81cb49e7" /><Relationship Type="http://schemas.openxmlformats.org/officeDocument/2006/relationships/extended-properties" Target="/docProps/app.xml" Id="R04caffc7eb5b4003" /><Relationship Type="http://schemas.openxmlformats.org/officeDocument/2006/relationships/officeDocument" Target="/ppt/presentation.xml" Id="R5e7bf3fe2fa74fb7" /></Relationships>
</file>

<file path=ppt/presentation.xml><?xml version="1.0" encoding="utf-8"?>
<p:presentation xmlns:p="http://schemas.openxmlformats.org/presentationml/2006/main">
  <p:sldMasterIdLst>
    <p:sldMasterId xmlns:r="http://schemas.openxmlformats.org/officeDocument/2006/relationships" id="2147483648" r:id="Rfd2682fef5854921"/>
  </p:sldMasterIdLst>
  <p:notesMasterIdLst>
    <p:notesMasterId xmlns:r="http://schemas.openxmlformats.org/officeDocument/2006/relationships" r:id="R77d6ba4f63684636"/>
  </p:notesMasterIdLst>
  <p:sldIdLst>
    <p:sldId xmlns:r="http://schemas.openxmlformats.org/officeDocument/2006/relationships" id="256" r:id="Rf77cfe5230484123"/>
    <p:sldId xmlns:r="http://schemas.openxmlformats.org/officeDocument/2006/relationships" id="257" r:id="R09410bb606e047f8"/>
    <p:sldId xmlns:r="http://schemas.openxmlformats.org/officeDocument/2006/relationships" id="258" r:id="Re52be7ba6f5b4b0c"/>
    <p:sldId xmlns:r="http://schemas.openxmlformats.org/officeDocument/2006/relationships" id="259" r:id="R63e7968d12334252"/>
    <p:sldId xmlns:r="http://schemas.openxmlformats.org/officeDocument/2006/relationships" id="260" r:id="R7568e60b4fd74b45"/>
    <p:sldId xmlns:r="http://schemas.openxmlformats.org/officeDocument/2006/relationships" id="261" r:id="Re64561d1762946b9"/>
    <p:sldId xmlns:r="http://schemas.openxmlformats.org/officeDocument/2006/relationships" id="262" r:id="R6db9eb0e500145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f23d00592741dc" /><Relationship Type="http://schemas.openxmlformats.org/officeDocument/2006/relationships/slideMaster" Target="/ppt/slideMasters/slideMaster1.xml" Id="Rfd2682fef5854921" /><Relationship Type="http://schemas.openxmlformats.org/officeDocument/2006/relationships/notesMaster" Target="/ppt/notesMasters/notesMaster1.xml" Id="R77d6ba4f63684636" /><Relationship Type="http://schemas.openxmlformats.org/officeDocument/2006/relationships/presProps" Target="/ppt/presProps.xml" Id="R94d9e13176cb48d7" /><Relationship Type="http://schemas.openxmlformats.org/officeDocument/2006/relationships/tableStyles" Target="/ppt/tableStyles.xml" Id="Rdd9033edcb8a4920" /><Relationship Type="http://schemas.openxmlformats.org/officeDocument/2006/relationships/slide" Target="/ppt/slides/slide1.xml" Id="Rf77cfe5230484123" /><Relationship Type="http://schemas.openxmlformats.org/officeDocument/2006/relationships/slide" Target="/ppt/slides/slide2.xml" Id="R09410bb606e047f8" /><Relationship Type="http://schemas.openxmlformats.org/officeDocument/2006/relationships/slide" Target="/ppt/slides/slide3.xml" Id="Re52be7ba6f5b4b0c" /><Relationship Type="http://schemas.openxmlformats.org/officeDocument/2006/relationships/slide" Target="/ppt/slides/slide4.xml" Id="R63e7968d12334252" /><Relationship Type="http://schemas.openxmlformats.org/officeDocument/2006/relationships/slide" Target="/ppt/slides/slide5.xml" Id="R7568e60b4fd74b45" /><Relationship Type="http://schemas.openxmlformats.org/officeDocument/2006/relationships/slide" Target="/ppt/slides/slide6.xml" Id="Re64561d1762946b9" /><Relationship Type="http://schemas.openxmlformats.org/officeDocument/2006/relationships/slide" Target="/ppt/slides/slide7.xml" Id="R6db9eb0e500145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7ef82e59d044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b71b97a6e046fd" /><Relationship Type="http://schemas.openxmlformats.org/officeDocument/2006/relationships/notesMaster" Target="/ppt/notesMasters/notesMaster1.xml" Id="Rdab43809862345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d09680858e42a3" /><Relationship Type="http://schemas.openxmlformats.org/officeDocument/2006/relationships/notesMaster" Target="/ppt/notesMasters/notesMaster1.xml" Id="R98cad8a32f57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b2cb836cf04711" /><Relationship Type="http://schemas.openxmlformats.org/officeDocument/2006/relationships/notesMaster" Target="/ppt/notesMasters/notesMaster1.xml" Id="R9cca029b7f934c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3d26cd057449ee" /><Relationship Type="http://schemas.openxmlformats.org/officeDocument/2006/relationships/notesMaster" Target="/ppt/notesMasters/notesMaster1.xml" Id="R56208c726afa4a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0cb37eca3d4be4" /><Relationship Type="http://schemas.openxmlformats.org/officeDocument/2006/relationships/notesMaster" Target="/ppt/notesMasters/notesMaster1.xml" Id="R1d0f2175c8ac42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f16f5fc31e407e" /><Relationship Type="http://schemas.openxmlformats.org/officeDocument/2006/relationships/notesMaster" Target="/ppt/notesMasters/notesMaster1.xml" Id="Rb83e9190022c4c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b8ada09e494f93" /><Relationship Type="http://schemas.openxmlformats.org/officeDocument/2006/relationships/notesMaster" Target="/ppt/notesMasters/notesMaster1.xml" Id="Rfa090ca4caf54c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Goal Diggers. Today we’ll explain the basic ideas behind our WasteSort project: artificial intelligence, machine learning, the main learning types, and how we use supervised image classification. Our task is to predict the material of one waste item from a photograph. This presentation focuses on the concepts behind that task.</a:t>
            </a:r>
          </a:p>
          <a:p xmlns:a="http://schemas.openxmlformats.org/drawingml/2006/main">
            <a:r>
              <a:t/>
            </a:r>
          </a:p>
          <a:p xmlns:a="http://schemas.openxmlformats.org/drawingml/2006/main">
            <a:r>
              <a:t>Sources:</a:t>
            </a:r>
          </a:p>
          <a:p xmlns:a="http://schemas.openxmlformats.org/drawingml/2006/main">
            <a:r>
              <a:t>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Artificial intelligence, or AI, is the broad field of building systems that perform tasks such as recognizing images and making decisions. Machine learning is one approach within AI. Instead of writing a separate rule for every possible image, we train a model using examples. A model is the learned mathematical system that makes a prediction. Deep learning is a type of machine learning that uses multilayer neural networks.</a:t>
            </a:r>
          </a:p>
          <a:p xmlns:a="http://schemas.openxmlformats.org/drawingml/2006/main">
            <a:r>
              <a:t/>
            </a:r>
          </a:p>
          <a:p xmlns:a="http://schemas.openxmlformats.org/drawingml/2006/main">
            <a:r>
              <a:t>Sources:</a:t>
            </a:r>
          </a:p>
          <a:p xmlns:a="http://schemas.openxmlformats.org/drawingml/2006/main">
            <a:r>
              <a:t>https://www.ibm.com/think/topics/artificial-intelligence</a:t>
            </a:r>
          </a:p>
          <a:p xmlns:a="http://schemas.openxmlformats.org/drawingml/2006/main">
            <a:r>
              <a:t>https://developers.google.com/machine-learning/intro-to-ml/what-is-ml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supervised learning, examples include known answers called labels. For WasteSort, a photo can have the label plastic. In unsupervised learning, the system looks for patterns without target labels, such as grouping similar customers. In reinforcement learning, an agent learns from rewards after actions, such as a game-playing system improving its strategy. WasteSort uses supervised learning because our training images already have material labels.</a:t>
            </a:r>
          </a:p>
          <a:p xmlns:a="http://schemas.openxmlformats.org/drawingml/2006/main">
            <a:r>
              <a:t/>
            </a:r>
          </a:p>
          <a:p xmlns:a="http://schemas.openxmlformats.org/drawingml/2006/main">
            <a:r>
              <a:t>Sources:</a:t>
            </a:r>
          </a:p>
          <a:p xmlns:a="http://schemas.openxmlformats.org/drawingml/2006/main">
            <a:r>
              <a:t>https://developers.google.com/machine-learning/intro-to-ml/what-is-ml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Machine learning appears in several everyday tasks. A spam filter classifies an email into a category. A travel-time model predicts a number, so that task is regression. A clustering model groups similar examples without predefined target labels. WasteSort belongs to classification because its answer is a material category. Writing a category as a number in code does not turn the task into regression.</a:t>
            </a:r>
          </a:p>
          <a:p xmlns:a="http://schemas.openxmlformats.org/drawingml/2006/main">
            <a:r>
              <a:t/>
            </a:r>
          </a:p>
          <a:p xmlns:a="http://schemas.openxmlformats.org/drawingml/2006/main">
            <a:r>
              <a:t>Sources:</a:t>
            </a:r>
          </a:p>
          <a:p xmlns:a="http://schemas.openxmlformats.org/drawingml/2006/main">
            <a:r>
              <a:t>https://developers.google.com/machine-learning/intro-to-ml/what-is-ml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WasteSort accepts a photo containing one main waste item and predicts one of six materials: cardboard, glass, metal, paper, plastic or trash. We use TrashNet, a public dataset created by Gary Thung and Mindy Yang. Its original collection contains 2,527 labeled images. The pictures shown here are dataset examples. Similar-looking materials, such as glass and clear plastic, can make recognition difficult.</a:t>
            </a:r>
          </a:p>
          <a:p xmlns:a="http://schemas.openxmlformats.org/drawingml/2006/main">
            <a:r>
              <a:t/>
            </a:r>
          </a:p>
          <a:p xmlns:a="http://schemas.openxmlformats.org/drawingml/2006/main">
            <a:r>
              <a:t>Sources:</a:t>
            </a:r>
          </a:p>
          <a:p xmlns:a="http://schemas.openxmlformats.org/drawingml/2006/main">
            <a:r>
              <a:t>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training, the system receives photographs together with their material labels. The model learns visual patterns that help distinguish those labels. Later, during prediction, it receives a new photo without the answer and outputs a material category. We use separate images to check whether it learned useful patterns. The app uses a saved model to classify an upload. Uploading a photo does not automatically retrain that model.</a:t>
            </a:r>
          </a:p>
          <a:p xmlns:a="http://schemas.openxmlformats.org/drawingml/2006/main">
            <a:r>
              <a:t/>
            </a:r>
          </a:p>
          <a:p xmlns:a="http://schemas.openxmlformats.org/drawingml/2006/main">
            <a:r>
              <a:t>Sources:</a:t>
            </a:r>
          </a:p>
          <a:p xmlns:a="http://schemas.openxmlformats.org/drawingml/2006/main">
            <a:r>
              <a:t>https://developers.google.com/machine-learning/intro-to-ml/supervised</a:t>
            </a:r>
          </a:p>
          <a:p xmlns:a="http://schemas.openxmlformats.org/drawingml/2006/main">
            <a:r>
              <a:t>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WasteSort demonstrates how machine learning can assist with material recognition. Its prediction can be wrong, especially with cluttered backgrounds, mixed materials or unfamiliar objects. A material label alone does not decide whether an item is recyclable or which campus bin is correct. Those instructions depend on verified campus rules. The main idea is that labeled images allow a supervised model to learn a material-classification task. Thank you.</a:t>
            </a:r>
          </a:p>
          <a:p xmlns:a="http://schemas.openxmlformats.org/drawingml/2006/main">
            <a:r>
              <a:t/>
            </a:r>
          </a:p>
          <a:p xmlns:a="http://schemas.openxmlformats.org/drawingml/2006/main">
            <a:r>
              <a:t>Sources:</a:t>
            </a:r>
          </a:p>
          <a:p xmlns:a="http://schemas.openxmlformats.org/drawingml/2006/main">
            <a:r>
              <a:t>https://github.com/garythung/trashnet</a:t>
            </a:r>
          </a:p>
          <a:p xmlns:a="http://schemas.openxmlformats.org/drawingml/2006/main">
            <a:r>
              <a:t>Supplied WasteSort proposal: scope and delimitations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e0bc5c04294f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5d2210b99242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82785241634b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712fcb8f0446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30de6902f94a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6c5fa109f848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8D95F5-601F-456B-B59F-0ACEE39414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C33703-70DE-4C24-A74F-CD39D51C97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7BC80A-C5AF-4352-8B43-02A2BA252C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9B19E4-0F9C-45C4-839E-D7EC810FD4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A82BA5-D736-4A5A-A637-A78975C98D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91C316-6999-4A84-9239-4851FC3E7B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FE1355-9FF7-4BE7-9994-91053AAE54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781F4C-BEB2-4C39-96E6-CA1578195F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53ED12-0061-4D0F-A00B-E61FC6A572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396E29-108D-492D-A845-26740DA406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3e901958664405" /><Relationship Type="http://schemas.openxmlformats.org/officeDocument/2006/relationships/slideLayout" Target="/ppt/slideLayouts/slideLayout1.xml" Id="R2e5b9052f7b8471e" /><Relationship Type="http://schemas.openxmlformats.org/officeDocument/2006/relationships/slideLayout" Target="/ppt/slideLayouts/slideLayout2.xml" Id="R18c0955819d84479" /><Relationship Type="http://schemas.openxmlformats.org/officeDocument/2006/relationships/slideLayout" Target="/ppt/slideLayouts/slideLayout3.xml" Id="R30766939e0d643e9" /><Relationship Type="http://schemas.openxmlformats.org/officeDocument/2006/relationships/slideLayout" Target="/ppt/slideLayouts/slideLayout4.xml" Id="Rfdab2d34bc154498" /><Relationship Type="http://schemas.openxmlformats.org/officeDocument/2006/relationships/slideLayout" Target="/ppt/slideLayouts/slideLayout5.xml" Id="R64b55944aa85467e" /><Relationship Type="http://schemas.openxmlformats.org/officeDocument/2006/relationships/slideLayout" Target="/ppt/slideLayouts/slideLayout6.xml" Id="R6643662af5b943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5b9052f7b8471e"/>
    <p:sldLayoutId xmlns:r="http://schemas.openxmlformats.org/officeDocument/2006/relationships" id="2147483650" r:id="R18c0955819d84479"/>
    <p:sldLayoutId xmlns:r="http://schemas.openxmlformats.org/officeDocument/2006/relationships" id="2147483651" r:id="R30766939e0d643e9"/>
    <p:sldLayoutId xmlns:r="http://schemas.openxmlformats.org/officeDocument/2006/relationships" id="2147483652" r:id="Rfdab2d34bc154498"/>
    <p:sldLayoutId xmlns:r="http://schemas.openxmlformats.org/officeDocument/2006/relationships" id="2147483653" r:id="R64b55944aa85467e"/>
    <p:sldLayoutId xmlns:r="http://schemas.openxmlformats.org/officeDocument/2006/relationships" id="2147483654" r:id="R6643662af5b943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8d4f38736e4317" /><Relationship Type="http://schemas.openxmlformats.org/officeDocument/2006/relationships/image" Target="/ppt/media/image.jpeg" Id="Rea54a5e20f6a46c0" /><Relationship Type="http://schemas.openxmlformats.org/officeDocument/2006/relationships/notesSlide" Target="/ppt/notesSlides/notesSlide1.xml" Id="Re7d7c6c6e8f44c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91530b0e8546b6" /><Relationship Type="http://schemas.openxmlformats.org/officeDocument/2006/relationships/notesSlide" Target="/ppt/notesSlides/notesSlide2.xml" Id="Re887e8dcefe946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78586230bb425b" /><Relationship Type="http://schemas.openxmlformats.org/officeDocument/2006/relationships/notesSlide" Target="/ppt/notesSlides/notesSlide3.xml" Id="R51a01293504b44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7e53a6dc1e4353" /><Relationship Type="http://schemas.openxmlformats.org/officeDocument/2006/relationships/notesSlide" Target="/ppt/notesSlides/notesSlide4.xml" Id="Rd128e56c2d6742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a2e65bbcce4957" /><Relationship Type="http://schemas.openxmlformats.org/officeDocument/2006/relationships/image" Target="/ppt/media/image2.jpeg" Id="R82617658af2d44bf" /><Relationship Type="http://schemas.openxmlformats.org/officeDocument/2006/relationships/image" Target="/ppt/media/image3.jpeg" Id="R7d0edc8effb146d1" /><Relationship Type="http://schemas.openxmlformats.org/officeDocument/2006/relationships/image" Target="/ppt/media/image4.jpeg" Id="Rd41f662385914a01" /><Relationship Type="http://schemas.openxmlformats.org/officeDocument/2006/relationships/image" Target="/ppt/media/image5.jpeg" Id="Reb2e9f7df2f043ed" /><Relationship Type="http://schemas.openxmlformats.org/officeDocument/2006/relationships/image" Target="/ppt/media/image6.jpeg" Id="Red316de4881349e3" /><Relationship Type="http://schemas.openxmlformats.org/officeDocument/2006/relationships/image" Target="/ppt/media/image7.jpeg" Id="R0f86780f17114336" /><Relationship Type="http://schemas.openxmlformats.org/officeDocument/2006/relationships/notesSlide" Target="/ppt/notesSlides/notesSlide5.xml" Id="Rbd97c9a4e58f4a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3d93f9176c485a" /><Relationship Type="http://schemas.openxmlformats.org/officeDocument/2006/relationships/notesSlide" Target="/ppt/notesSlides/notesSlide6.xml" Id="Ra00873aa9f3643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402d2285484240" /><Relationship Type="http://schemas.openxmlformats.org/officeDocument/2006/relationships/notesSlide" Target="/ppt/notesSlides/notesSlide7.xml" Id="R2d557c21dcfc49bf" /></Relationships>
</file>

<file path=ppt/slides/slide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928CCF-EDE8-47A2-8C04-DAEABCFFF560}"/>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WasteSort</a:t>
            </a:r>
          </a:p>
        </p:txBody>
      </p:sp>
      <p:sp>
        <p:nvSpPr>
          <p:cNvPr id="2" name="">
            <a:extLst xmlns:a="http://schemas.openxmlformats.org/drawingml/2006/main">
              <a:ext uri="{FF2B5EF4-FFF2-40B4-BE49-F238E27FC236}">
                <a16:creationId xmlns:a16="http://schemas.microsoft.com/office/drawing/2014/main" id="{36E42C78-AD09-4112-9B5A-F3868D639EC4}"/>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2522DBE-9CF1-4DD6-9CF7-B68F88A4463C}"/>
              </a:ext>
            </a:extLst>
          </p:cNvPr>
          <p:cNvSpPr>
            <a:spLocks xmlns:a="http://schemas.openxmlformats.org/drawingml/2006/main" noGrp="1"/>
          </p:cNvSpPr>
          <p:nvPr/>
        </p:nvSpPr>
        <p:spPr>
          <a:xfrm xmlns:a="http://schemas.openxmlformats.org/drawingml/2006/main">
            <a:off x="685800" y="1809750"/>
            <a:ext cx="609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1">
                <a:solidFill>
                  <a:srgbClr val="183C2D"/>
                </a:solidFill>
                <a:latin typeface="Arial"/>
                <a:ea typeface="Arial"/>
                <a:cs typeface="Arial"/>
              </a:defRPr>
            </a:defPPr>
            <a:lvl1pPr>
              <a:defRPr sz="3750" b="1">
                <a:solidFill>
                  <a:srgbClr val="183C2D"/>
                </a:solidFill>
                <a:latin typeface="Arial"/>
                <a:ea typeface="Arial"/>
                <a:cs typeface="Arial"/>
              </a:defRPr>
            </a:lvl1pPr>
            <a:lvl2pPr>
              <a:defRPr sz="3750" b="1">
                <a:solidFill>
                  <a:srgbClr val="183C2D"/>
                </a:solidFill>
                <a:latin typeface="Arial"/>
                <a:ea typeface="Arial"/>
                <a:cs typeface="Arial"/>
              </a:defRPr>
            </a:lvl2pPr>
            <a:lvl3pPr>
              <a:defRPr sz="3750" b="1">
                <a:solidFill>
                  <a:srgbClr val="183C2D"/>
                </a:solidFill>
                <a:latin typeface="Arial"/>
                <a:ea typeface="Arial"/>
                <a:cs typeface="Arial"/>
              </a:defRPr>
            </a:lvl3pPr>
            <a:lvl4pPr>
              <a:defRPr sz="3750" b="1">
                <a:solidFill>
                  <a:srgbClr val="183C2D"/>
                </a:solidFill>
                <a:latin typeface="Arial"/>
                <a:ea typeface="Arial"/>
                <a:cs typeface="Arial"/>
              </a:defRPr>
            </a:lvl4pPr>
            <a:lvl5pPr>
              <a:defRPr sz="3750" b="1">
                <a:solidFill>
                  <a:srgbClr val="183C2D"/>
                </a:solidFill>
                <a:latin typeface="Arial"/>
                <a:ea typeface="Arial"/>
                <a:cs typeface="Arial"/>
              </a:defRPr>
            </a:lvl5pPr>
            <a:lvl6pPr>
              <a:defRPr sz="3750" b="1">
                <a:solidFill>
                  <a:srgbClr val="183C2D"/>
                </a:solidFill>
                <a:latin typeface="Arial"/>
                <a:ea typeface="Arial"/>
                <a:cs typeface="Arial"/>
              </a:defRPr>
            </a:lvl6pPr>
            <a:lvl7pPr>
              <a:defRPr sz="3750" b="1">
                <a:solidFill>
                  <a:srgbClr val="183C2D"/>
                </a:solidFill>
                <a:latin typeface="Arial"/>
                <a:ea typeface="Arial"/>
                <a:cs typeface="Arial"/>
              </a:defRPr>
            </a:lvl7pPr>
            <a:lvl8pPr>
              <a:defRPr sz="3750" b="1">
                <a:solidFill>
                  <a:srgbClr val="183C2D"/>
                </a:solidFill>
                <a:latin typeface="Arial"/>
                <a:ea typeface="Arial"/>
                <a:cs typeface="Arial"/>
              </a:defRPr>
            </a:lvl8pPr>
            <a:lvl9pPr>
              <a:defRPr sz="3750" b="1">
                <a:solidFill>
                  <a:srgbClr val="183C2D"/>
                </a:solidFill>
                <a:latin typeface="Arial"/>
                <a:ea typeface="Arial"/>
                <a:cs typeface="Arial"/>
              </a:defRPr>
            </a:lvl9pPr>
          </a:lstStyle>
          <a:p xmlns:a="http://schemas.openxmlformats.org/drawingml/2006/main">
            <a:pPr>
              <a:defRPr sz="3750" b="1">
                <a:solidFill>
                  <a:srgbClr val="183C2D"/>
                </a:solidFill>
                <a:latin typeface="Arial"/>
                <a:ea typeface="Arial"/>
                <a:cs typeface="Arial"/>
              </a:defRPr>
            </a:pPr>
            <a:r>
              <a:rPr sz="3750" b="1">
                <a:solidFill>
                  <a:srgbClr val="183C2D"/>
                </a:solidFill>
                <a:latin typeface="Arial"/>
                <a:ea typeface="Arial"/>
                <a:cs typeface="Arial"/>
              </a:rPr>
              <a:t>Basic AI and machine learning</a:t>
            </a:r>
          </a:p>
        </p:txBody>
      </p:sp>
      <p:sp>
        <p:nvSpPr>
          <p:cNvPr id="4" name="">
            <a:extLst xmlns:a="http://schemas.openxmlformats.org/drawingml/2006/main">
              <a:ext uri="{FF2B5EF4-FFF2-40B4-BE49-F238E27FC236}">
                <a16:creationId xmlns:a16="http://schemas.microsoft.com/office/drawing/2014/main" id="{1D46E9C4-CB35-48DA-A684-79E89117A3C5}"/>
              </a:ext>
            </a:extLst>
          </p:cNvPr>
          <p:cNvSpPr>
            <a:spLocks xmlns:a="http://schemas.openxmlformats.org/drawingml/2006/main" noGrp="1"/>
          </p:cNvSpPr>
          <p:nvPr/>
        </p:nvSpPr>
        <p:spPr>
          <a:xfrm xmlns:a="http://schemas.openxmlformats.org/drawingml/2006/main">
            <a:off x="685800" y="32385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8714F"/>
                </a:solidFill>
                <a:latin typeface="Arial"/>
                <a:ea typeface="Arial"/>
                <a:cs typeface="Arial"/>
              </a:defRPr>
            </a:defPPr>
            <a:lvl1pPr>
              <a:defRPr sz="2025" b="0">
                <a:solidFill>
                  <a:srgbClr val="28714F"/>
                </a:solidFill>
                <a:latin typeface="Arial"/>
                <a:ea typeface="Arial"/>
                <a:cs typeface="Arial"/>
              </a:defRPr>
            </a:lvl1pPr>
            <a:lvl2pPr>
              <a:defRPr sz="2025" b="0">
                <a:solidFill>
                  <a:srgbClr val="28714F"/>
                </a:solidFill>
                <a:latin typeface="Arial"/>
                <a:ea typeface="Arial"/>
                <a:cs typeface="Arial"/>
              </a:defRPr>
            </a:lvl2pPr>
            <a:lvl3pPr>
              <a:defRPr sz="2025" b="0">
                <a:solidFill>
                  <a:srgbClr val="28714F"/>
                </a:solidFill>
                <a:latin typeface="Arial"/>
                <a:ea typeface="Arial"/>
                <a:cs typeface="Arial"/>
              </a:defRPr>
            </a:lvl3pPr>
            <a:lvl4pPr>
              <a:defRPr sz="2025" b="0">
                <a:solidFill>
                  <a:srgbClr val="28714F"/>
                </a:solidFill>
                <a:latin typeface="Arial"/>
                <a:ea typeface="Arial"/>
                <a:cs typeface="Arial"/>
              </a:defRPr>
            </a:lvl4pPr>
            <a:lvl5pPr>
              <a:defRPr sz="2025" b="0">
                <a:solidFill>
                  <a:srgbClr val="28714F"/>
                </a:solidFill>
                <a:latin typeface="Arial"/>
                <a:ea typeface="Arial"/>
                <a:cs typeface="Arial"/>
              </a:defRPr>
            </a:lvl5pPr>
            <a:lvl6pPr>
              <a:defRPr sz="2025" b="0">
                <a:solidFill>
                  <a:srgbClr val="28714F"/>
                </a:solidFill>
                <a:latin typeface="Arial"/>
                <a:ea typeface="Arial"/>
                <a:cs typeface="Arial"/>
              </a:defRPr>
            </a:lvl6pPr>
            <a:lvl7pPr>
              <a:defRPr sz="2025" b="0">
                <a:solidFill>
                  <a:srgbClr val="28714F"/>
                </a:solidFill>
                <a:latin typeface="Arial"/>
                <a:ea typeface="Arial"/>
                <a:cs typeface="Arial"/>
              </a:defRPr>
            </a:lvl7pPr>
            <a:lvl8pPr>
              <a:defRPr sz="2025" b="0">
                <a:solidFill>
                  <a:srgbClr val="28714F"/>
                </a:solidFill>
                <a:latin typeface="Arial"/>
                <a:ea typeface="Arial"/>
                <a:cs typeface="Arial"/>
              </a:defRPr>
            </a:lvl8pPr>
            <a:lvl9pPr>
              <a:defRPr sz="2025" b="0">
                <a:solidFill>
                  <a:srgbClr val="28714F"/>
                </a:solidFill>
                <a:latin typeface="Arial"/>
                <a:ea typeface="Arial"/>
                <a:cs typeface="Arial"/>
              </a:defRPr>
            </a:lvl9pPr>
          </a:lstStyle>
          <a:p xmlns:a="http://schemas.openxmlformats.org/drawingml/2006/main">
            <a:pPr>
              <a:defRPr sz="2025" b="0">
                <a:solidFill>
                  <a:srgbClr val="28714F"/>
                </a:solidFill>
                <a:latin typeface="Arial"/>
                <a:ea typeface="Arial"/>
                <a:cs typeface="Arial"/>
              </a:defRPr>
            </a:pPr>
            <a:r>
              <a:rPr sz="2025" b="0">
                <a:solidFill>
                  <a:srgbClr val="28714F"/>
                </a:solidFill>
                <a:latin typeface="Arial"/>
                <a:ea typeface="Arial"/>
                <a:cs typeface="Arial"/>
              </a:rPr>
              <a:t>Monday learning task</a:t>
            </a:r>
          </a:p>
        </p:txBody>
      </p:sp>
      <p:sp>
        <p:nvSpPr>
          <p:cNvPr id="5" name="">
            <a:extLst xmlns:a="http://schemas.openxmlformats.org/drawingml/2006/main">
              <a:ext uri="{FF2B5EF4-FFF2-40B4-BE49-F238E27FC236}">
                <a16:creationId xmlns:a16="http://schemas.microsoft.com/office/drawing/2014/main" id="{17F88042-EB4E-4D9B-9F24-82DCF8472277}"/>
              </a:ext>
            </a:extLst>
          </p:cNvPr>
          <p:cNvSpPr>
            <a:spLocks xmlns:a="http://schemas.openxmlformats.org/drawingml/2006/main" noGrp="1"/>
          </p:cNvSpPr>
          <p:nvPr/>
        </p:nvSpPr>
        <p:spPr>
          <a:xfrm xmlns:a="http://schemas.openxmlformats.org/drawingml/2006/main">
            <a:off x="685800" y="430530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C2D"/>
                </a:solidFill>
                <a:latin typeface="Arial"/>
                <a:ea typeface="Arial"/>
                <a:cs typeface="Arial"/>
              </a:defRPr>
            </a:defPPr>
            <a:lvl1pPr>
              <a:defRPr sz="1875" b="0">
                <a:solidFill>
                  <a:srgbClr val="183C2D"/>
                </a:solidFill>
                <a:latin typeface="Arial"/>
                <a:ea typeface="Arial"/>
                <a:cs typeface="Arial"/>
              </a:defRPr>
            </a:lvl1pPr>
            <a:lvl2pPr>
              <a:defRPr sz="1875" b="0">
                <a:solidFill>
                  <a:srgbClr val="183C2D"/>
                </a:solidFill>
                <a:latin typeface="Arial"/>
                <a:ea typeface="Arial"/>
                <a:cs typeface="Arial"/>
              </a:defRPr>
            </a:lvl2pPr>
            <a:lvl3pPr>
              <a:defRPr sz="1875" b="0">
                <a:solidFill>
                  <a:srgbClr val="183C2D"/>
                </a:solidFill>
                <a:latin typeface="Arial"/>
                <a:ea typeface="Arial"/>
                <a:cs typeface="Arial"/>
              </a:defRPr>
            </a:lvl3pPr>
            <a:lvl4pPr>
              <a:defRPr sz="1875" b="0">
                <a:solidFill>
                  <a:srgbClr val="183C2D"/>
                </a:solidFill>
                <a:latin typeface="Arial"/>
                <a:ea typeface="Arial"/>
                <a:cs typeface="Arial"/>
              </a:defRPr>
            </a:lvl4pPr>
            <a:lvl5pPr>
              <a:defRPr sz="1875" b="0">
                <a:solidFill>
                  <a:srgbClr val="183C2D"/>
                </a:solidFill>
                <a:latin typeface="Arial"/>
                <a:ea typeface="Arial"/>
                <a:cs typeface="Arial"/>
              </a:defRPr>
            </a:lvl5pPr>
            <a:lvl6pPr>
              <a:defRPr sz="1875" b="0">
                <a:solidFill>
                  <a:srgbClr val="183C2D"/>
                </a:solidFill>
                <a:latin typeface="Arial"/>
                <a:ea typeface="Arial"/>
                <a:cs typeface="Arial"/>
              </a:defRPr>
            </a:lvl6pPr>
            <a:lvl7pPr>
              <a:defRPr sz="1875" b="0">
                <a:solidFill>
                  <a:srgbClr val="183C2D"/>
                </a:solidFill>
                <a:latin typeface="Arial"/>
                <a:ea typeface="Arial"/>
                <a:cs typeface="Arial"/>
              </a:defRPr>
            </a:lvl7pPr>
            <a:lvl8pPr>
              <a:defRPr sz="1875" b="0">
                <a:solidFill>
                  <a:srgbClr val="183C2D"/>
                </a:solidFill>
                <a:latin typeface="Arial"/>
                <a:ea typeface="Arial"/>
                <a:cs typeface="Arial"/>
              </a:defRPr>
            </a:lvl8pPr>
            <a:lvl9pPr>
              <a:defRPr sz="1875" b="0">
                <a:solidFill>
                  <a:srgbClr val="183C2D"/>
                </a:solidFill>
                <a:latin typeface="Arial"/>
                <a:ea typeface="Arial"/>
                <a:cs typeface="Arial"/>
              </a:defRPr>
            </a:lvl9pPr>
          </a:lstStyle>
          <a:p xmlns:a="http://schemas.openxmlformats.org/drawingml/2006/main">
            <a:pPr>
              <a:defRPr sz="1875" b="0">
                <a:solidFill>
                  <a:srgbClr val="183C2D"/>
                </a:solidFill>
                <a:latin typeface="Arial"/>
                <a:ea typeface="Arial"/>
                <a:cs typeface="Arial"/>
              </a:defRPr>
            </a:pPr>
            <a:r>
              <a:rPr sz="1875" b="0">
                <a:solidFill>
                  <a:srgbClr val="183C2D"/>
                </a:solidFill>
                <a:latin typeface="Arial"/>
                <a:ea typeface="Arial"/>
                <a:cs typeface="Arial"/>
              </a:rPr>
              <a:t>Goal Diggers</a:t>
            </a:r>
          </a:p>
          <a:p xmlns:a="http://schemas.openxmlformats.org/drawingml/2006/main">
            <a:pPr>
              <a:defRPr sz="1875" b="0">
                <a:solidFill>
                  <a:srgbClr val="183C2D"/>
                </a:solidFill>
                <a:latin typeface="Arial"/>
                <a:ea typeface="Arial"/>
                <a:cs typeface="Arial"/>
              </a:defRPr>
            </a:pPr>
            <a:r>
              <a:rPr sz="1875" b="0">
                <a:solidFill>
                  <a:srgbClr val="183C2D"/>
                </a:solidFill>
                <a:latin typeface="Arial"/>
                <a:ea typeface="Arial"/>
                <a:cs typeface="Arial"/>
              </a:rPr>
              <a:t>BCS34   October 21, 2026</a:t>
            </a:r>
          </a:p>
        </p:txBody>
      </p:sp>
      <p:pic>
        <p:nvPicPr>
          <p:cNvPr id="6" name="">
            <a:extLst xmlns:a="http://schemas.openxmlformats.org/drawingml/2006/main">
              <a:ext uri="{FF2B5EF4-FFF2-40B4-BE49-F238E27FC236}">
                <a16:creationId xmlns:a16="http://schemas.microsoft.com/office/drawing/2014/main" id="{1C7D3F48-8BC4-4C3F-AD9F-C7951BB7C609}"/>
              </a:ext>
            </a:extLst>
          </p:cNvPr>
          <p:cNvPicPr>
            <a:picLocks xmlns:a="http://schemas.openxmlformats.org/drawingml/2006/main" noChangeAspect="1"/>
          </p:cNvPicPr>
          <p:nvPr/>
        </p:nvPicPr>
        <p:blipFill>
          <a:blip xmlns:r="http://schemas.openxmlformats.org/officeDocument/2006/relationships" xmlns:a="http://schemas.openxmlformats.org/drawingml/2006/main" r:embed="Rea54a5e20f6a46c0"/>
          <a:stretch xmlns:a="http://schemas.openxmlformats.org/drawingml/2006/main"/>
        </p:blipFill>
        <p:spPr>
          <a:xfrm xmlns:a="http://schemas.openxmlformats.org/drawingml/2006/main">
            <a:off x="7239000" y="1845469"/>
            <a:ext cx="4095750" cy="3071813"/>
          </a:xfrm>
          <a:prstGeom xmlns:a="http://schemas.openxmlformats.org/drawingml/2006/main" prst="rect">
            <a:avLst/>
          </a:prstGeom>
        </p:spPr>
      </p:pic>
    </p:spTree>
    <p:extLst>
      <p:ext uri="{BB962C8B-B14F-4D97-AF65-F5344CB8AC3E}">
        <p14:creationId xmlns:p14="http://schemas.microsoft.com/office/powerpoint/2010/main" val="231009659"/>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7C9137-A848-4667-880F-46FA1488D71A}"/>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Artificial intelligence and machine learning</a:t>
            </a:r>
          </a:p>
        </p:txBody>
      </p:sp>
      <p:sp>
        <p:nvSpPr>
          <p:cNvPr id="2" name="">
            <a:extLst xmlns:a="http://schemas.openxmlformats.org/drawingml/2006/main">
              <a:ext uri="{FF2B5EF4-FFF2-40B4-BE49-F238E27FC236}">
                <a16:creationId xmlns:a16="http://schemas.microsoft.com/office/drawing/2014/main" id="{EEF163AB-8DB7-4700-AD27-42CE06AB7841}"/>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6C5D3F4-BD39-4F88-A701-3316085DC7E2}"/>
              </a:ext>
            </a:extLst>
          </p:cNvPr>
          <p:cNvSpPr>
            <a:spLocks xmlns:a="http://schemas.openxmlformats.org/drawingml/2006/main" noGrp="1"/>
          </p:cNvSpPr>
          <p:nvPr/>
        </p:nvSpPr>
        <p:spPr>
          <a:xfrm xmlns:a="http://schemas.openxmlformats.org/drawingml/2006/main">
            <a:off x="685800" y="1924050"/>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8714F"/>
                </a:solidFill>
                <a:latin typeface="Arial"/>
                <a:ea typeface="Arial"/>
                <a:cs typeface="Arial"/>
              </a:defRPr>
            </a:defPPr>
            <a:lvl1pPr>
              <a:defRPr sz="1725" b="1">
                <a:solidFill>
                  <a:srgbClr val="28714F"/>
                </a:solidFill>
                <a:latin typeface="Arial"/>
                <a:ea typeface="Arial"/>
                <a:cs typeface="Arial"/>
              </a:defRPr>
            </a:lvl1pPr>
            <a:lvl2pPr>
              <a:defRPr sz="1725" b="1">
                <a:solidFill>
                  <a:srgbClr val="28714F"/>
                </a:solidFill>
                <a:latin typeface="Arial"/>
                <a:ea typeface="Arial"/>
                <a:cs typeface="Arial"/>
              </a:defRPr>
            </a:lvl2pPr>
            <a:lvl3pPr>
              <a:defRPr sz="1725" b="1">
                <a:solidFill>
                  <a:srgbClr val="28714F"/>
                </a:solidFill>
                <a:latin typeface="Arial"/>
                <a:ea typeface="Arial"/>
                <a:cs typeface="Arial"/>
              </a:defRPr>
            </a:lvl3pPr>
            <a:lvl4pPr>
              <a:defRPr sz="1725" b="1">
                <a:solidFill>
                  <a:srgbClr val="28714F"/>
                </a:solidFill>
                <a:latin typeface="Arial"/>
                <a:ea typeface="Arial"/>
                <a:cs typeface="Arial"/>
              </a:defRPr>
            </a:lvl4pPr>
            <a:lvl5pPr>
              <a:defRPr sz="1725" b="1">
                <a:solidFill>
                  <a:srgbClr val="28714F"/>
                </a:solidFill>
                <a:latin typeface="Arial"/>
                <a:ea typeface="Arial"/>
                <a:cs typeface="Arial"/>
              </a:defRPr>
            </a:lvl5pPr>
            <a:lvl6pPr>
              <a:defRPr sz="1725" b="1">
                <a:solidFill>
                  <a:srgbClr val="28714F"/>
                </a:solidFill>
                <a:latin typeface="Arial"/>
                <a:ea typeface="Arial"/>
                <a:cs typeface="Arial"/>
              </a:defRPr>
            </a:lvl6pPr>
            <a:lvl7pPr>
              <a:defRPr sz="1725" b="1">
                <a:solidFill>
                  <a:srgbClr val="28714F"/>
                </a:solidFill>
                <a:latin typeface="Arial"/>
                <a:ea typeface="Arial"/>
                <a:cs typeface="Arial"/>
              </a:defRPr>
            </a:lvl7pPr>
            <a:lvl8pPr>
              <a:defRPr sz="1725" b="1">
                <a:solidFill>
                  <a:srgbClr val="28714F"/>
                </a:solidFill>
                <a:latin typeface="Arial"/>
                <a:ea typeface="Arial"/>
                <a:cs typeface="Arial"/>
              </a:defRPr>
            </a:lvl8pPr>
            <a:lvl9pPr>
              <a:defRPr sz="1725" b="1">
                <a:solidFill>
                  <a:srgbClr val="28714F"/>
                </a:solidFill>
                <a:latin typeface="Arial"/>
                <a:ea typeface="Arial"/>
                <a:cs typeface="Arial"/>
              </a:defRPr>
            </a:lvl9pPr>
          </a:lstStyle>
          <a:p xmlns:a="http://schemas.openxmlformats.org/drawingml/2006/main">
            <a:pPr>
              <a:defRPr sz="1725" b="1">
                <a:solidFill>
                  <a:srgbClr val="28714F"/>
                </a:solidFill>
                <a:latin typeface="Arial"/>
                <a:ea typeface="Arial"/>
                <a:cs typeface="Arial"/>
              </a:defRPr>
            </a:pPr>
            <a:r>
              <a:rPr sz="1725" b="1">
                <a:solidFill>
                  <a:srgbClr val="28714F"/>
                </a:solidFill>
                <a:latin typeface="Arial"/>
                <a:ea typeface="Arial"/>
                <a:cs typeface="Arial"/>
              </a:rPr>
              <a:t>ARTIFICIAL INTELLIGENCE</a:t>
            </a:r>
          </a:p>
        </p:txBody>
      </p:sp>
      <p:sp>
        <p:nvSpPr>
          <p:cNvPr id="4" name="">
            <a:extLst xmlns:a="http://schemas.openxmlformats.org/drawingml/2006/main">
              <a:ext uri="{FF2B5EF4-FFF2-40B4-BE49-F238E27FC236}">
                <a16:creationId xmlns:a16="http://schemas.microsoft.com/office/drawing/2014/main" id="{D95B3A81-1B7C-46A0-B21D-85437BBCBC76}"/>
              </a:ext>
            </a:extLst>
          </p:cNvPr>
          <p:cNvSpPr>
            <a:spLocks xmlns:a="http://schemas.openxmlformats.org/drawingml/2006/main" noGrp="1"/>
          </p:cNvSpPr>
          <p:nvPr/>
        </p:nvSpPr>
        <p:spPr>
          <a:xfrm xmlns:a="http://schemas.openxmlformats.org/drawingml/2006/main">
            <a:off x="685800" y="2524125"/>
            <a:ext cx="4905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The broad field of systems that perform tasks such as recognition and decision-making.</a:t>
            </a:r>
          </a:p>
        </p:txBody>
      </p:sp>
      <p:sp>
        <p:nvSpPr>
          <p:cNvPr id="5" name="">
            <a:extLst xmlns:a="http://schemas.openxmlformats.org/drawingml/2006/main">
              <a:ext uri="{FF2B5EF4-FFF2-40B4-BE49-F238E27FC236}">
                <a16:creationId xmlns:a16="http://schemas.microsoft.com/office/drawing/2014/main" id="{498A027D-AFA2-4C5B-A901-DB9F55D2D897}"/>
              </a:ext>
            </a:extLst>
          </p:cNvPr>
          <p:cNvSpPr>
            <a:spLocks xmlns:a="http://schemas.openxmlformats.org/drawingml/2006/main" noGrp="1"/>
          </p:cNvSpPr>
          <p:nvPr/>
        </p:nvSpPr>
        <p:spPr>
          <a:xfrm xmlns:a="http://schemas.openxmlformats.org/drawingml/2006/main">
            <a:off x="6477000" y="1924050"/>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8714F"/>
                </a:solidFill>
                <a:latin typeface="Arial"/>
                <a:ea typeface="Arial"/>
                <a:cs typeface="Arial"/>
              </a:defRPr>
            </a:defPPr>
            <a:lvl1pPr>
              <a:defRPr sz="1725" b="1">
                <a:solidFill>
                  <a:srgbClr val="28714F"/>
                </a:solidFill>
                <a:latin typeface="Arial"/>
                <a:ea typeface="Arial"/>
                <a:cs typeface="Arial"/>
              </a:defRPr>
            </a:lvl1pPr>
            <a:lvl2pPr>
              <a:defRPr sz="1725" b="1">
                <a:solidFill>
                  <a:srgbClr val="28714F"/>
                </a:solidFill>
                <a:latin typeface="Arial"/>
                <a:ea typeface="Arial"/>
                <a:cs typeface="Arial"/>
              </a:defRPr>
            </a:lvl2pPr>
            <a:lvl3pPr>
              <a:defRPr sz="1725" b="1">
                <a:solidFill>
                  <a:srgbClr val="28714F"/>
                </a:solidFill>
                <a:latin typeface="Arial"/>
                <a:ea typeface="Arial"/>
                <a:cs typeface="Arial"/>
              </a:defRPr>
            </a:lvl3pPr>
            <a:lvl4pPr>
              <a:defRPr sz="1725" b="1">
                <a:solidFill>
                  <a:srgbClr val="28714F"/>
                </a:solidFill>
                <a:latin typeface="Arial"/>
                <a:ea typeface="Arial"/>
                <a:cs typeface="Arial"/>
              </a:defRPr>
            </a:lvl4pPr>
            <a:lvl5pPr>
              <a:defRPr sz="1725" b="1">
                <a:solidFill>
                  <a:srgbClr val="28714F"/>
                </a:solidFill>
                <a:latin typeface="Arial"/>
                <a:ea typeface="Arial"/>
                <a:cs typeface="Arial"/>
              </a:defRPr>
            </a:lvl5pPr>
            <a:lvl6pPr>
              <a:defRPr sz="1725" b="1">
                <a:solidFill>
                  <a:srgbClr val="28714F"/>
                </a:solidFill>
                <a:latin typeface="Arial"/>
                <a:ea typeface="Arial"/>
                <a:cs typeface="Arial"/>
              </a:defRPr>
            </a:lvl6pPr>
            <a:lvl7pPr>
              <a:defRPr sz="1725" b="1">
                <a:solidFill>
                  <a:srgbClr val="28714F"/>
                </a:solidFill>
                <a:latin typeface="Arial"/>
                <a:ea typeface="Arial"/>
                <a:cs typeface="Arial"/>
              </a:defRPr>
            </a:lvl7pPr>
            <a:lvl8pPr>
              <a:defRPr sz="1725" b="1">
                <a:solidFill>
                  <a:srgbClr val="28714F"/>
                </a:solidFill>
                <a:latin typeface="Arial"/>
                <a:ea typeface="Arial"/>
                <a:cs typeface="Arial"/>
              </a:defRPr>
            </a:lvl8pPr>
            <a:lvl9pPr>
              <a:defRPr sz="1725" b="1">
                <a:solidFill>
                  <a:srgbClr val="28714F"/>
                </a:solidFill>
                <a:latin typeface="Arial"/>
                <a:ea typeface="Arial"/>
                <a:cs typeface="Arial"/>
              </a:defRPr>
            </a:lvl9pPr>
          </a:lstStyle>
          <a:p xmlns:a="http://schemas.openxmlformats.org/drawingml/2006/main">
            <a:pPr>
              <a:defRPr sz="1725" b="1">
                <a:solidFill>
                  <a:srgbClr val="28714F"/>
                </a:solidFill>
                <a:latin typeface="Arial"/>
                <a:ea typeface="Arial"/>
                <a:cs typeface="Arial"/>
              </a:defRPr>
            </a:pPr>
            <a:r>
              <a:rPr sz="1725" b="1">
                <a:solidFill>
                  <a:srgbClr val="28714F"/>
                </a:solidFill>
                <a:latin typeface="Arial"/>
                <a:ea typeface="Arial"/>
                <a:cs typeface="Arial"/>
              </a:rPr>
              <a:t>MACHINE LEARNING</a:t>
            </a:r>
          </a:p>
        </p:txBody>
      </p:sp>
      <p:sp>
        <p:nvSpPr>
          <p:cNvPr id="6" name="">
            <a:extLst xmlns:a="http://schemas.openxmlformats.org/drawingml/2006/main">
              <a:ext uri="{FF2B5EF4-FFF2-40B4-BE49-F238E27FC236}">
                <a16:creationId xmlns:a16="http://schemas.microsoft.com/office/drawing/2014/main" id="{61AD3FD9-341D-4007-AE6B-F806E7678CE0}"/>
              </a:ext>
            </a:extLst>
          </p:cNvPr>
          <p:cNvSpPr>
            <a:spLocks xmlns:a="http://schemas.openxmlformats.org/drawingml/2006/main" noGrp="1"/>
          </p:cNvSpPr>
          <p:nvPr/>
        </p:nvSpPr>
        <p:spPr>
          <a:xfrm xmlns:a="http://schemas.openxmlformats.org/drawingml/2006/main">
            <a:off x="6477000" y="2524125"/>
            <a:ext cx="4905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An approach within AI that learns patterns from data to make predictions.</a:t>
            </a:r>
          </a:p>
        </p:txBody>
      </p:sp>
      <p:sp>
        <p:nvSpPr>
          <p:cNvPr id="7" name="">
            <a:extLst xmlns:a="http://schemas.openxmlformats.org/drawingml/2006/main">
              <a:ext uri="{FF2B5EF4-FFF2-40B4-BE49-F238E27FC236}">
                <a16:creationId xmlns:a16="http://schemas.microsoft.com/office/drawing/2014/main" id="{2356A9BE-5BE2-4F89-A93E-6E1CC34F80D2}"/>
              </a:ext>
            </a:extLst>
          </p:cNvPr>
          <p:cNvSpPr>
            <a:spLocks xmlns:a="http://schemas.openxmlformats.org/drawingml/2006/main" noGrp="1"/>
          </p:cNvSpPr>
          <p:nvPr/>
        </p:nvSpPr>
        <p:spPr>
          <a:xfrm xmlns:a="http://schemas.openxmlformats.org/drawingml/2006/main">
            <a:off x="685800" y="5143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4675A"/>
                </a:solidFill>
                <a:latin typeface="Arial"/>
                <a:ea typeface="Arial"/>
                <a:cs typeface="Arial"/>
              </a:defRPr>
            </a:defPPr>
            <a:lvl1pPr>
              <a:defRPr sz="2025" b="0">
                <a:solidFill>
                  <a:srgbClr val="54675A"/>
                </a:solidFill>
                <a:latin typeface="Arial"/>
                <a:ea typeface="Arial"/>
                <a:cs typeface="Arial"/>
              </a:defRPr>
            </a:lvl1pPr>
            <a:lvl2pPr>
              <a:defRPr sz="2025" b="0">
                <a:solidFill>
                  <a:srgbClr val="54675A"/>
                </a:solidFill>
                <a:latin typeface="Arial"/>
                <a:ea typeface="Arial"/>
                <a:cs typeface="Arial"/>
              </a:defRPr>
            </a:lvl2pPr>
            <a:lvl3pPr>
              <a:defRPr sz="2025" b="0">
                <a:solidFill>
                  <a:srgbClr val="54675A"/>
                </a:solidFill>
                <a:latin typeface="Arial"/>
                <a:ea typeface="Arial"/>
                <a:cs typeface="Arial"/>
              </a:defRPr>
            </a:lvl3pPr>
            <a:lvl4pPr>
              <a:defRPr sz="2025" b="0">
                <a:solidFill>
                  <a:srgbClr val="54675A"/>
                </a:solidFill>
                <a:latin typeface="Arial"/>
                <a:ea typeface="Arial"/>
                <a:cs typeface="Arial"/>
              </a:defRPr>
            </a:lvl4pPr>
            <a:lvl5pPr>
              <a:defRPr sz="2025" b="0">
                <a:solidFill>
                  <a:srgbClr val="54675A"/>
                </a:solidFill>
                <a:latin typeface="Arial"/>
                <a:ea typeface="Arial"/>
                <a:cs typeface="Arial"/>
              </a:defRPr>
            </a:lvl5pPr>
            <a:lvl6pPr>
              <a:defRPr sz="2025" b="0">
                <a:solidFill>
                  <a:srgbClr val="54675A"/>
                </a:solidFill>
                <a:latin typeface="Arial"/>
                <a:ea typeface="Arial"/>
                <a:cs typeface="Arial"/>
              </a:defRPr>
            </a:lvl6pPr>
            <a:lvl7pPr>
              <a:defRPr sz="2025" b="0">
                <a:solidFill>
                  <a:srgbClr val="54675A"/>
                </a:solidFill>
                <a:latin typeface="Arial"/>
                <a:ea typeface="Arial"/>
                <a:cs typeface="Arial"/>
              </a:defRPr>
            </a:lvl7pPr>
            <a:lvl8pPr>
              <a:defRPr sz="2025" b="0">
                <a:solidFill>
                  <a:srgbClr val="54675A"/>
                </a:solidFill>
                <a:latin typeface="Arial"/>
                <a:ea typeface="Arial"/>
                <a:cs typeface="Arial"/>
              </a:defRPr>
            </a:lvl8pPr>
            <a:lvl9pPr>
              <a:defRPr sz="2025" b="0">
                <a:solidFill>
                  <a:srgbClr val="54675A"/>
                </a:solidFill>
                <a:latin typeface="Arial"/>
                <a:ea typeface="Arial"/>
                <a:cs typeface="Arial"/>
              </a:defRPr>
            </a:lvl9pPr>
          </a:lstStyle>
          <a:p xmlns:a="http://schemas.openxmlformats.org/drawingml/2006/main">
            <a:pPr>
              <a:defRPr sz="2025" b="0">
                <a:solidFill>
                  <a:srgbClr val="54675A"/>
                </a:solidFill>
                <a:latin typeface="Arial"/>
                <a:ea typeface="Arial"/>
                <a:cs typeface="Arial"/>
              </a:defRPr>
            </a:pPr>
            <a:r>
              <a:rPr sz="2025" b="0">
                <a:solidFill>
                  <a:srgbClr val="54675A"/>
                </a:solidFill>
                <a:latin typeface="Arial"/>
                <a:ea typeface="Arial"/>
                <a:cs typeface="Arial"/>
              </a:rPr>
              <a:t>Deep learning uses multilayer neural networks within machine learning.</a:t>
            </a:r>
          </a:p>
        </p:txBody>
      </p:sp>
    </p:spTree>
    <p:extLst>
      <p:ext uri="{BB962C8B-B14F-4D97-AF65-F5344CB8AC3E}">
        <p14:creationId xmlns:p14="http://schemas.microsoft.com/office/powerpoint/2010/main" val="1016747519"/>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02A19D-FF69-4366-8E48-21B1EA4C83D8}"/>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Common learning types</a:t>
            </a:r>
          </a:p>
        </p:txBody>
      </p:sp>
      <p:sp>
        <p:nvSpPr>
          <p:cNvPr id="2" name="">
            <a:extLst xmlns:a="http://schemas.openxmlformats.org/drawingml/2006/main">
              <a:ext uri="{FF2B5EF4-FFF2-40B4-BE49-F238E27FC236}">
                <a16:creationId xmlns:a16="http://schemas.microsoft.com/office/drawing/2014/main" id="{32566864-7212-4992-A02F-5D8FE67EC730}"/>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90012184-0F94-44CC-86DA-81D8915AFE0E}"/>
              </a:ext>
            </a:extLst>
          </p:cNvPr>
          <p:cNvGraphicFramePr/>
          <p:nvPr/>
        </p:nvGraphicFramePr>
        <p:xfrm>
          <a:off xmlns:a="http://schemas.openxmlformats.org/drawingml/2006/main" x="685800" y="1905000"/>
          <a:ext xmlns:a="http://schemas.openxmlformats.org/drawingml/2006/main" cx="10820400" cy="3429000"/>
        </p:xfrm>
        <a:graphic xmlns:a="http://schemas.openxmlformats.org/drawingml/2006/main">
          <a:graphicData uri="http://schemas.openxmlformats.org/drawingml/2006/table">
            <a:tbl>
              <a:tblPr/>
              <a:tblGrid>
                <a:gridCol w="2571750"/>
                <a:gridCol w="4381500"/>
                <a:gridCol w="3867150"/>
              </a:tblGrid>
              <a:tr h="857250">
                <a:tc>
                  <a:txBody>
                    <a:bodyPr/>
                    <a:lstStyle/>
                    <a:p>
                      <a:r>
                        <a:rPr sz="1875" b="1">
                          <a:solidFill>
                            <a:srgbClr val="FFFFFF"/>
                          </a:solidFill>
                          <a:latin typeface="Arial"/>
                          <a:ea typeface="Arial"/>
                          <a:cs typeface="Arial"/>
                        </a:rPr>
                        <a:t>Learning type</a:t>
                      </a:r>
                    </a:p>
                  </a:txBody>
                  <a:tcPr marL="91440" marR="91440" marT="45720" marB="45720">
                    <a:lnL w="9525">
                      <a:solidFill>
                        <a:srgbClr val="D4DDD3"/>
                      </a:solidFill>
                      <a:prstDash val="solid"/>
                    </a:lnL>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What the model learns from</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c>
                  <a:txBody>
                    <a:bodyPr/>
                    <a:lstStyle/>
                    <a:p>
                      <a:r>
                        <a:rPr sz="1875" b="1">
                          <a:solidFill>
                            <a:srgbClr val="FFFFFF"/>
                          </a:solidFill>
                          <a:latin typeface="Arial"/>
                          <a:ea typeface="Arial"/>
                          <a:cs typeface="Arial"/>
                        </a:rPr>
                        <a:t>Example</a:t>
                      </a:r>
                    </a:p>
                  </a:txBody>
                  <a:tcPr marL="91440" marR="91440" marT="45720" marB="45720">
                    <a:lnR w="9525">
                      <a:solidFill>
                        <a:srgbClr val="D4DDD3"/>
                      </a:solidFill>
                      <a:prstDash val="solid"/>
                    </a:lnR>
                    <a:lnT w="9525">
                      <a:solidFill>
                        <a:srgbClr val="D4DDD3"/>
                      </a:solidFill>
                      <a:prstDash val="solid"/>
                    </a:lnT>
                    <a:lnB w="9525">
                      <a:solidFill>
                        <a:srgbClr val="D4DDD3"/>
                      </a:solidFill>
                      <a:prstDash val="solid"/>
                    </a:lnB>
                    <a:solidFill>
                      <a:srgbClr val="183C2D"/>
                    </a:solidFill>
                  </a:tcPr>
                </a:tc>
              </a:tr>
              <a:tr h="857250">
                <a:tc>
                  <a:txBody>
                    <a:bodyPr/>
                    <a:lstStyle/>
                    <a:p>
                      <a:r>
                        <a:rPr sz="1875" b="0">
                          <a:solidFill>
                            <a:srgbClr val="183C2D"/>
                          </a:solidFill>
                          <a:latin typeface="Arial"/>
                          <a:ea typeface="Arial"/>
                          <a:cs typeface="Arial"/>
                        </a:rPr>
                        <a:t>Supervised</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Examples with known labels</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Photo and its material label</a:t>
                      </a:r>
                    </a:p>
                  </a:txBody>
                  <a:tcPr marL="91440" marR="91440" marT="45720" marB="45720">
                    <a:lnR w="9525">
                      <a:solidFill>
                        <a:srgbClr val="D4DDD3"/>
                      </a:solidFill>
                      <a:prstDash val="solid"/>
                    </a:lnR>
                    <a:lnB w="9525">
                      <a:solidFill>
                        <a:srgbClr val="D4DDD3"/>
                      </a:solidFill>
                      <a:prstDash val="solid"/>
                    </a:lnB>
                    <a:solidFill>
                      <a:srgbClr val="FFFFFF"/>
                    </a:solidFill>
                  </a:tcPr>
                </a:tc>
              </a:tr>
              <a:tr h="857250">
                <a:tc>
                  <a:txBody>
                    <a:bodyPr/>
                    <a:lstStyle/>
                    <a:p>
                      <a:r>
                        <a:rPr sz="1875" b="0">
                          <a:solidFill>
                            <a:srgbClr val="183C2D"/>
                          </a:solidFill>
                          <a:latin typeface="Arial"/>
                          <a:ea typeface="Arial"/>
                          <a:cs typeface="Arial"/>
                        </a:rPr>
                        <a:t>Unsupervised</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Data without target labels</a:t>
                      </a:r>
                    </a:p>
                  </a:txBody>
                  <a:tcPr marL="91440" marR="91440" marT="45720" marB="45720">
                    <a:lnR w="9525">
                      <a:solidFill>
                        <a:srgbClr val="D4DDD3"/>
                      </a:solidFill>
                      <a:prstDash val="solid"/>
                    </a:lnR>
                    <a:lnB w="9525">
                      <a:solidFill>
                        <a:srgbClr val="D4DDD3"/>
                      </a:solidFill>
                      <a:prstDash val="solid"/>
                    </a:lnB>
                    <a:solidFill>
                      <a:srgbClr val="EBF0E7"/>
                    </a:solidFill>
                  </a:tcPr>
                </a:tc>
                <a:tc>
                  <a:txBody>
                    <a:bodyPr/>
                    <a:lstStyle/>
                    <a:p>
                      <a:r>
                        <a:rPr sz="1875" b="0">
                          <a:solidFill>
                            <a:srgbClr val="183C2D"/>
                          </a:solidFill>
                          <a:latin typeface="Arial"/>
                          <a:ea typeface="Arial"/>
                          <a:cs typeface="Arial"/>
                        </a:rPr>
                        <a:t>Groups of similar customers</a:t>
                      </a:r>
                    </a:p>
                  </a:txBody>
                  <a:tcPr marL="91440" marR="91440" marT="45720" marB="45720">
                    <a:lnR w="9525">
                      <a:solidFill>
                        <a:srgbClr val="D4DDD3"/>
                      </a:solidFill>
                      <a:prstDash val="solid"/>
                    </a:lnR>
                    <a:lnB w="9525">
                      <a:solidFill>
                        <a:srgbClr val="D4DDD3"/>
                      </a:solidFill>
                      <a:prstDash val="solid"/>
                    </a:lnB>
                    <a:solidFill>
                      <a:srgbClr val="EBF0E7"/>
                    </a:solidFill>
                  </a:tcPr>
                </a:tc>
              </a:tr>
              <a:tr h="857250">
                <a:tc>
                  <a:txBody>
                    <a:bodyPr/>
                    <a:lstStyle/>
                    <a:p>
                      <a:r>
                        <a:rPr sz="1875" b="0">
                          <a:solidFill>
                            <a:srgbClr val="183C2D"/>
                          </a:solidFill>
                          <a:latin typeface="Arial"/>
                          <a:ea typeface="Arial"/>
                          <a:cs typeface="Arial"/>
                        </a:rPr>
                        <a:t>Reinforcement</a:t>
                      </a:r>
                    </a:p>
                  </a:txBody>
                  <a:tcPr marL="91440" marR="91440" marT="45720" marB="45720">
                    <a:lnL w="9525">
                      <a:solidFill>
                        <a:srgbClr val="D4DDD3"/>
                      </a:solidFill>
                      <a:prstDash val="solid"/>
                    </a:lnL>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Actions and reward feedback</a:t>
                      </a:r>
                    </a:p>
                  </a:txBody>
                  <a:tcPr marL="91440" marR="91440" marT="45720" marB="45720">
                    <a:lnR w="9525">
                      <a:solidFill>
                        <a:srgbClr val="D4DDD3"/>
                      </a:solidFill>
                      <a:prstDash val="solid"/>
                    </a:lnR>
                    <a:lnB w="9525">
                      <a:solidFill>
                        <a:srgbClr val="D4DDD3"/>
                      </a:solidFill>
                      <a:prstDash val="solid"/>
                    </a:lnB>
                    <a:solidFill>
                      <a:srgbClr val="FFFFFF"/>
                    </a:solidFill>
                  </a:tcPr>
                </a:tc>
                <a:tc>
                  <a:txBody>
                    <a:bodyPr/>
                    <a:lstStyle/>
                    <a:p>
                      <a:r>
                        <a:rPr sz="1875" b="0">
                          <a:solidFill>
                            <a:srgbClr val="183C2D"/>
                          </a:solidFill>
                          <a:latin typeface="Arial"/>
                          <a:ea typeface="Arial"/>
                          <a:cs typeface="Arial"/>
                        </a:rPr>
                        <a:t>Game-playing strategy</a:t>
                      </a:r>
                    </a:p>
                  </a:txBody>
                  <a:tcPr marL="91440" marR="91440" marT="45720" marB="45720">
                    <a:lnR w="9525">
                      <a:solidFill>
                        <a:srgbClr val="D4DDD3"/>
                      </a:solidFill>
                      <a:prstDash val="solid"/>
                    </a:lnR>
                    <a:lnB w="9525">
                      <a:solidFill>
                        <a:srgbClr val="D4DD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7EE37AE-BD44-44CA-B152-3288DC17C35D}"/>
              </a:ext>
            </a:extLst>
          </p:cNvPr>
          <p:cNvSpPr>
            <a:spLocks xmlns:a="http://schemas.openxmlformats.org/drawingml/2006/main" noGrp="1"/>
          </p:cNvSpPr>
          <p:nvPr/>
        </p:nvSpPr>
        <p:spPr>
          <a:xfrm xmlns:a="http://schemas.openxmlformats.org/drawingml/2006/main">
            <a:off x="685800" y="56959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8714F"/>
                </a:solidFill>
                <a:latin typeface="Arial"/>
                <a:ea typeface="Arial"/>
                <a:cs typeface="Arial"/>
              </a:defRPr>
            </a:defPPr>
            <a:lvl1pPr>
              <a:defRPr sz="2175" b="1">
                <a:solidFill>
                  <a:srgbClr val="28714F"/>
                </a:solidFill>
                <a:latin typeface="Arial"/>
                <a:ea typeface="Arial"/>
                <a:cs typeface="Arial"/>
              </a:defRPr>
            </a:lvl1pPr>
            <a:lvl2pPr>
              <a:defRPr sz="2175" b="1">
                <a:solidFill>
                  <a:srgbClr val="28714F"/>
                </a:solidFill>
                <a:latin typeface="Arial"/>
                <a:ea typeface="Arial"/>
                <a:cs typeface="Arial"/>
              </a:defRPr>
            </a:lvl2pPr>
            <a:lvl3pPr>
              <a:defRPr sz="2175" b="1">
                <a:solidFill>
                  <a:srgbClr val="28714F"/>
                </a:solidFill>
                <a:latin typeface="Arial"/>
                <a:ea typeface="Arial"/>
                <a:cs typeface="Arial"/>
              </a:defRPr>
            </a:lvl3pPr>
            <a:lvl4pPr>
              <a:defRPr sz="2175" b="1">
                <a:solidFill>
                  <a:srgbClr val="28714F"/>
                </a:solidFill>
                <a:latin typeface="Arial"/>
                <a:ea typeface="Arial"/>
                <a:cs typeface="Arial"/>
              </a:defRPr>
            </a:lvl4pPr>
            <a:lvl5pPr>
              <a:defRPr sz="2175" b="1">
                <a:solidFill>
                  <a:srgbClr val="28714F"/>
                </a:solidFill>
                <a:latin typeface="Arial"/>
                <a:ea typeface="Arial"/>
                <a:cs typeface="Arial"/>
              </a:defRPr>
            </a:lvl5pPr>
            <a:lvl6pPr>
              <a:defRPr sz="2175" b="1">
                <a:solidFill>
                  <a:srgbClr val="28714F"/>
                </a:solidFill>
                <a:latin typeface="Arial"/>
                <a:ea typeface="Arial"/>
                <a:cs typeface="Arial"/>
              </a:defRPr>
            </a:lvl6pPr>
            <a:lvl7pPr>
              <a:defRPr sz="2175" b="1">
                <a:solidFill>
                  <a:srgbClr val="28714F"/>
                </a:solidFill>
                <a:latin typeface="Arial"/>
                <a:ea typeface="Arial"/>
                <a:cs typeface="Arial"/>
              </a:defRPr>
            </a:lvl7pPr>
            <a:lvl8pPr>
              <a:defRPr sz="2175" b="1">
                <a:solidFill>
                  <a:srgbClr val="28714F"/>
                </a:solidFill>
                <a:latin typeface="Arial"/>
                <a:ea typeface="Arial"/>
                <a:cs typeface="Arial"/>
              </a:defRPr>
            </a:lvl8pPr>
            <a:lvl9pPr>
              <a:defRPr sz="2175" b="1">
                <a:solidFill>
                  <a:srgbClr val="28714F"/>
                </a:solidFill>
                <a:latin typeface="Arial"/>
                <a:ea typeface="Arial"/>
                <a:cs typeface="Arial"/>
              </a:defRPr>
            </a:lvl9pPr>
          </a:lstStyle>
          <a:p xmlns:a="http://schemas.openxmlformats.org/drawingml/2006/main">
            <a:pPr>
              <a:defRPr sz="2175" b="1">
                <a:solidFill>
                  <a:srgbClr val="28714F"/>
                </a:solidFill>
                <a:latin typeface="Arial"/>
                <a:ea typeface="Arial"/>
                <a:cs typeface="Arial"/>
              </a:defRPr>
            </a:pPr>
            <a:r>
              <a:rPr sz="2175" b="1">
                <a:solidFill>
                  <a:srgbClr val="28714F"/>
                </a:solidFill>
                <a:latin typeface="Arial"/>
                <a:ea typeface="Arial"/>
                <a:cs typeface="Arial"/>
              </a:rPr>
              <a:t>WasteSort uses supervised learning.</a:t>
            </a:r>
          </a:p>
        </p:txBody>
      </p:sp>
    </p:spTree>
    <p:extLst>
      <p:ext uri="{BB962C8B-B14F-4D97-AF65-F5344CB8AC3E}">
        <p14:creationId xmlns:p14="http://schemas.microsoft.com/office/powerpoint/2010/main" val="1874458300"/>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CD7AC8-7653-40E2-A0F8-20CF42820406}"/>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Practical machine learning applications</a:t>
            </a:r>
          </a:p>
        </p:txBody>
      </p:sp>
      <p:sp>
        <p:nvSpPr>
          <p:cNvPr id="2" name="">
            <a:extLst xmlns:a="http://schemas.openxmlformats.org/drawingml/2006/main">
              <a:ext uri="{FF2B5EF4-FFF2-40B4-BE49-F238E27FC236}">
                <a16:creationId xmlns:a16="http://schemas.microsoft.com/office/drawing/2014/main" id="{3B159E8D-83F2-43FA-A979-FB0F20AB7AC9}"/>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DCFCFF6-F9A0-47E4-BD1F-EECCCC6735D2}"/>
              </a:ext>
            </a:extLst>
          </p:cNvPr>
          <p:cNvSpPr>
            <a:spLocks xmlns:a="http://schemas.openxmlformats.org/drawingml/2006/main" noGrp="1"/>
          </p:cNvSpPr>
          <p:nvPr/>
        </p:nvSpPr>
        <p:spPr>
          <a:xfrm xmlns:a="http://schemas.openxmlformats.org/drawingml/2006/main">
            <a:off x="685800" y="19526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83C2D"/>
                </a:solidFill>
                <a:latin typeface="Arial"/>
                <a:ea typeface="Arial"/>
                <a:cs typeface="Arial"/>
              </a:defRPr>
            </a:defPPr>
            <a:lvl1pPr>
              <a:defRPr sz="2400" b="1">
                <a:solidFill>
                  <a:srgbClr val="183C2D"/>
                </a:solidFill>
                <a:latin typeface="Arial"/>
                <a:ea typeface="Arial"/>
                <a:cs typeface="Arial"/>
              </a:defRPr>
            </a:lvl1pPr>
            <a:lvl2pPr>
              <a:defRPr sz="2400" b="1">
                <a:solidFill>
                  <a:srgbClr val="183C2D"/>
                </a:solidFill>
                <a:latin typeface="Arial"/>
                <a:ea typeface="Arial"/>
                <a:cs typeface="Arial"/>
              </a:defRPr>
            </a:lvl2pPr>
            <a:lvl3pPr>
              <a:defRPr sz="2400" b="1">
                <a:solidFill>
                  <a:srgbClr val="183C2D"/>
                </a:solidFill>
                <a:latin typeface="Arial"/>
                <a:ea typeface="Arial"/>
                <a:cs typeface="Arial"/>
              </a:defRPr>
            </a:lvl3pPr>
            <a:lvl4pPr>
              <a:defRPr sz="2400" b="1">
                <a:solidFill>
                  <a:srgbClr val="183C2D"/>
                </a:solidFill>
                <a:latin typeface="Arial"/>
                <a:ea typeface="Arial"/>
                <a:cs typeface="Arial"/>
              </a:defRPr>
            </a:lvl4pPr>
            <a:lvl5pPr>
              <a:defRPr sz="2400" b="1">
                <a:solidFill>
                  <a:srgbClr val="183C2D"/>
                </a:solidFill>
                <a:latin typeface="Arial"/>
                <a:ea typeface="Arial"/>
                <a:cs typeface="Arial"/>
              </a:defRPr>
            </a:lvl5pPr>
            <a:lvl6pPr>
              <a:defRPr sz="2400" b="1">
                <a:solidFill>
                  <a:srgbClr val="183C2D"/>
                </a:solidFill>
                <a:latin typeface="Arial"/>
                <a:ea typeface="Arial"/>
                <a:cs typeface="Arial"/>
              </a:defRPr>
            </a:lvl6pPr>
            <a:lvl7pPr>
              <a:defRPr sz="2400" b="1">
                <a:solidFill>
                  <a:srgbClr val="183C2D"/>
                </a:solidFill>
                <a:latin typeface="Arial"/>
                <a:ea typeface="Arial"/>
                <a:cs typeface="Arial"/>
              </a:defRPr>
            </a:lvl7pPr>
            <a:lvl8pPr>
              <a:defRPr sz="2400" b="1">
                <a:solidFill>
                  <a:srgbClr val="183C2D"/>
                </a:solidFill>
                <a:latin typeface="Arial"/>
                <a:ea typeface="Arial"/>
                <a:cs typeface="Arial"/>
              </a:defRPr>
            </a:lvl8pPr>
            <a:lvl9pPr>
              <a:defRPr sz="2400" b="1">
                <a:solidFill>
                  <a:srgbClr val="183C2D"/>
                </a:solidFill>
                <a:latin typeface="Arial"/>
                <a:ea typeface="Arial"/>
                <a:cs typeface="Arial"/>
              </a:defRPr>
            </a:lvl9pPr>
          </a:lstStyle>
          <a:p xmlns:a="http://schemas.openxmlformats.org/drawingml/2006/main">
            <a:pPr>
              <a:defRPr sz="2400" b="1">
                <a:solidFill>
                  <a:srgbClr val="183C2D"/>
                </a:solidFill>
                <a:latin typeface="Arial"/>
                <a:ea typeface="Arial"/>
                <a:cs typeface="Arial"/>
              </a:defRPr>
            </a:pPr>
            <a:r>
              <a:rPr sz="2400" b="1">
                <a:solidFill>
                  <a:srgbClr val="183C2D"/>
                </a:solidFill>
                <a:latin typeface="Arial"/>
                <a:ea typeface="Arial"/>
                <a:cs typeface="Arial"/>
              </a:rPr>
              <a:t>Spam filtering</a:t>
            </a:r>
          </a:p>
        </p:txBody>
      </p:sp>
      <p:sp>
        <p:nvSpPr>
          <p:cNvPr id="4" name="">
            <a:extLst xmlns:a="http://schemas.openxmlformats.org/drawingml/2006/main">
              <a:ext uri="{FF2B5EF4-FFF2-40B4-BE49-F238E27FC236}">
                <a16:creationId xmlns:a16="http://schemas.microsoft.com/office/drawing/2014/main" id="{07D656B4-473C-4CCA-B989-E788F3C825DE}"/>
              </a:ext>
            </a:extLst>
          </p:cNvPr>
          <p:cNvSpPr>
            <a:spLocks xmlns:a="http://schemas.openxmlformats.org/drawingml/2006/main" noGrp="1"/>
          </p:cNvSpPr>
          <p:nvPr/>
        </p:nvSpPr>
        <p:spPr>
          <a:xfrm xmlns:a="http://schemas.openxmlformats.org/drawingml/2006/main">
            <a:off x="4953000" y="19526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Predict an email category</a:t>
            </a:r>
          </a:p>
        </p:txBody>
      </p:sp>
      <p:sp>
        <p:nvSpPr>
          <p:cNvPr id="5" name="">
            <a:extLst xmlns:a="http://schemas.openxmlformats.org/drawingml/2006/main">
              <a:ext uri="{FF2B5EF4-FFF2-40B4-BE49-F238E27FC236}">
                <a16:creationId xmlns:a16="http://schemas.microsoft.com/office/drawing/2014/main" id="{91C32DCE-55A8-495D-91A5-BD6610394DBB}"/>
              </a:ext>
            </a:extLst>
          </p:cNvPr>
          <p:cNvSpPr>
            <a:spLocks xmlns:a="http://schemas.openxmlformats.org/drawingml/2006/main" noGrp="1"/>
          </p:cNvSpPr>
          <p:nvPr/>
        </p:nvSpPr>
        <p:spPr>
          <a:xfrm xmlns:a="http://schemas.openxmlformats.org/drawingml/2006/main">
            <a:off x="4953000" y="240982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8714F"/>
                </a:solidFill>
                <a:latin typeface="Arial"/>
                <a:ea typeface="Arial"/>
                <a:cs typeface="Arial"/>
              </a:defRPr>
            </a:defPPr>
            <a:lvl1pPr>
              <a:defRPr sz="1800" b="0">
                <a:solidFill>
                  <a:srgbClr val="28714F"/>
                </a:solidFill>
                <a:latin typeface="Arial"/>
                <a:ea typeface="Arial"/>
                <a:cs typeface="Arial"/>
              </a:defRPr>
            </a:lvl1pPr>
            <a:lvl2pPr>
              <a:defRPr sz="1800" b="0">
                <a:solidFill>
                  <a:srgbClr val="28714F"/>
                </a:solidFill>
                <a:latin typeface="Arial"/>
                <a:ea typeface="Arial"/>
                <a:cs typeface="Arial"/>
              </a:defRPr>
            </a:lvl2pPr>
            <a:lvl3pPr>
              <a:defRPr sz="1800" b="0">
                <a:solidFill>
                  <a:srgbClr val="28714F"/>
                </a:solidFill>
                <a:latin typeface="Arial"/>
                <a:ea typeface="Arial"/>
                <a:cs typeface="Arial"/>
              </a:defRPr>
            </a:lvl3pPr>
            <a:lvl4pPr>
              <a:defRPr sz="1800" b="0">
                <a:solidFill>
                  <a:srgbClr val="28714F"/>
                </a:solidFill>
                <a:latin typeface="Arial"/>
                <a:ea typeface="Arial"/>
                <a:cs typeface="Arial"/>
              </a:defRPr>
            </a:lvl4pPr>
            <a:lvl5pPr>
              <a:defRPr sz="1800" b="0">
                <a:solidFill>
                  <a:srgbClr val="28714F"/>
                </a:solidFill>
                <a:latin typeface="Arial"/>
                <a:ea typeface="Arial"/>
                <a:cs typeface="Arial"/>
              </a:defRPr>
            </a:lvl5pPr>
            <a:lvl6pPr>
              <a:defRPr sz="1800" b="0">
                <a:solidFill>
                  <a:srgbClr val="28714F"/>
                </a:solidFill>
                <a:latin typeface="Arial"/>
                <a:ea typeface="Arial"/>
                <a:cs typeface="Arial"/>
              </a:defRPr>
            </a:lvl6pPr>
            <a:lvl7pPr>
              <a:defRPr sz="1800" b="0">
                <a:solidFill>
                  <a:srgbClr val="28714F"/>
                </a:solidFill>
                <a:latin typeface="Arial"/>
                <a:ea typeface="Arial"/>
                <a:cs typeface="Arial"/>
              </a:defRPr>
            </a:lvl7pPr>
            <a:lvl8pPr>
              <a:defRPr sz="1800" b="0">
                <a:solidFill>
                  <a:srgbClr val="28714F"/>
                </a:solidFill>
                <a:latin typeface="Arial"/>
                <a:ea typeface="Arial"/>
                <a:cs typeface="Arial"/>
              </a:defRPr>
            </a:lvl8pPr>
            <a:lvl9pPr>
              <a:defRPr sz="1800" b="0">
                <a:solidFill>
                  <a:srgbClr val="28714F"/>
                </a:solidFill>
                <a:latin typeface="Arial"/>
                <a:ea typeface="Arial"/>
                <a:cs typeface="Arial"/>
              </a:defRPr>
            </a:lvl9pPr>
          </a:lstStyle>
          <a:p xmlns:a="http://schemas.openxmlformats.org/drawingml/2006/main">
            <a:pPr>
              <a:defRPr sz="1800" b="0">
                <a:solidFill>
                  <a:srgbClr val="28714F"/>
                </a:solidFill>
                <a:latin typeface="Arial"/>
                <a:ea typeface="Arial"/>
                <a:cs typeface="Arial"/>
              </a:defRPr>
            </a:pPr>
            <a:r>
              <a:rPr sz="1800" b="0">
                <a:solidFill>
                  <a:srgbClr val="28714F"/>
                </a:solidFill>
                <a:latin typeface="Arial"/>
                <a:ea typeface="Arial"/>
                <a:cs typeface="Arial"/>
              </a:rPr>
              <a:t>Classification</a:t>
            </a:r>
          </a:p>
        </p:txBody>
      </p:sp>
      <p:sp>
        <p:nvSpPr>
          <p:cNvPr id="6" name="">
            <a:extLst xmlns:a="http://schemas.openxmlformats.org/drawingml/2006/main">
              <a:ext uri="{FF2B5EF4-FFF2-40B4-BE49-F238E27FC236}">
                <a16:creationId xmlns:a16="http://schemas.microsoft.com/office/drawing/2014/main" id="{62258A65-CCEF-4B48-9B21-88256A3585D5}"/>
              </a:ext>
            </a:extLst>
          </p:cNvPr>
          <p:cNvSpPr>
            <a:spLocks xmlns:a="http://schemas.openxmlformats.org/drawingml/2006/main" noGrp="1"/>
          </p:cNvSpPr>
          <p:nvPr/>
        </p:nvSpPr>
        <p:spPr>
          <a:xfrm xmlns:a="http://schemas.openxmlformats.org/drawingml/2006/main">
            <a:off x="685800" y="31718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83C2D"/>
                </a:solidFill>
                <a:latin typeface="Arial"/>
                <a:ea typeface="Arial"/>
                <a:cs typeface="Arial"/>
              </a:defRPr>
            </a:defPPr>
            <a:lvl1pPr>
              <a:defRPr sz="2400" b="1">
                <a:solidFill>
                  <a:srgbClr val="183C2D"/>
                </a:solidFill>
                <a:latin typeface="Arial"/>
                <a:ea typeface="Arial"/>
                <a:cs typeface="Arial"/>
              </a:defRPr>
            </a:lvl1pPr>
            <a:lvl2pPr>
              <a:defRPr sz="2400" b="1">
                <a:solidFill>
                  <a:srgbClr val="183C2D"/>
                </a:solidFill>
                <a:latin typeface="Arial"/>
                <a:ea typeface="Arial"/>
                <a:cs typeface="Arial"/>
              </a:defRPr>
            </a:lvl2pPr>
            <a:lvl3pPr>
              <a:defRPr sz="2400" b="1">
                <a:solidFill>
                  <a:srgbClr val="183C2D"/>
                </a:solidFill>
                <a:latin typeface="Arial"/>
                <a:ea typeface="Arial"/>
                <a:cs typeface="Arial"/>
              </a:defRPr>
            </a:lvl3pPr>
            <a:lvl4pPr>
              <a:defRPr sz="2400" b="1">
                <a:solidFill>
                  <a:srgbClr val="183C2D"/>
                </a:solidFill>
                <a:latin typeface="Arial"/>
                <a:ea typeface="Arial"/>
                <a:cs typeface="Arial"/>
              </a:defRPr>
            </a:lvl4pPr>
            <a:lvl5pPr>
              <a:defRPr sz="2400" b="1">
                <a:solidFill>
                  <a:srgbClr val="183C2D"/>
                </a:solidFill>
                <a:latin typeface="Arial"/>
                <a:ea typeface="Arial"/>
                <a:cs typeface="Arial"/>
              </a:defRPr>
            </a:lvl5pPr>
            <a:lvl6pPr>
              <a:defRPr sz="2400" b="1">
                <a:solidFill>
                  <a:srgbClr val="183C2D"/>
                </a:solidFill>
                <a:latin typeface="Arial"/>
                <a:ea typeface="Arial"/>
                <a:cs typeface="Arial"/>
              </a:defRPr>
            </a:lvl6pPr>
            <a:lvl7pPr>
              <a:defRPr sz="2400" b="1">
                <a:solidFill>
                  <a:srgbClr val="183C2D"/>
                </a:solidFill>
                <a:latin typeface="Arial"/>
                <a:ea typeface="Arial"/>
                <a:cs typeface="Arial"/>
              </a:defRPr>
            </a:lvl7pPr>
            <a:lvl8pPr>
              <a:defRPr sz="2400" b="1">
                <a:solidFill>
                  <a:srgbClr val="183C2D"/>
                </a:solidFill>
                <a:latin typeface="Arial"/>
                <a:ea typeface="Arial"/>
                <a:cs typeface="Arial"/>
              </a:defRPr>
            </a:lvl8pPr>
            <a:lvl9pPr>
              <a:defRPr sz="2400" b="1">
                <a:solidFill>
                  <a:srgbClr val="183C2D"/>
                </a:solidFill>
                <a:latin typeface="Arial"/>
                <a:ea typeface="Arial"/>
                <a:cs typeface="Arial"/>
              </a:defRPr>
            </a:lvl9pPr>
          </a:lstStyle>
          <a:p xmlns:a="http://schemas.openxmlformats.org/drawingml/2006/main">
            <a:pPr>
              <a:defRPr sz="2400" b="1">
                <a:solidFill>
                  <a:srgbClr val="183C2D"/>
                </a:solidFill>
                <a:latin typeface="Arial"/>
                <a:ea typeface="Arial"/>
                <a:cs typeface="Arial"/>
              </a:defRPr>
            </a:pPr>
            <a:r>
              <a:rPr sz="2400" b="1">
                <a:solidFill>
                  <a:srgbClr val="183C2D"/>
                </a:solidFill>
                <a:latin typeface="Arial"/>
                <a:ea typeface="Arial"/>
                <a:cs typeface="Arial"/>
              </a:rPr>
              <a:t>Travel-time estimation</a:t>
            </a:r>
          </a:p>
        </p:txBody>
      </p:sp>
      <p:sp>
        <p:nvSpPr>
          <p:cNvPr id="7" name="">
            <a:extLst xmlns:a="http://schemas.openxmlformats.org/drawingml/2006/main">
              <a:ext uri="{FF2B5EF4-FFF2-40B4-BE49-F238E27FC236}">
                <a16:creationId xmlns:a16="http://schemas.microsoft.com/office/drawing/2014/main" id="{F5882C74-2982-4B8D-AEE5-7BDD44F63F5E}"/>
              </a:ext>
            </a:extLst>
          </p:cNvPr>
          <p:cNvSpPr>
            <a:spLocks xmlns:a="http://schemas.openxmlformats.org/drawingml/2006/main" noGrp="1"/>
          </p:cNvSpPr>
          <p:nvPr/>
        </p:nvSpPr>
        <p:spPr>
          <a:xfrm xmlns:a="http://schemas.openxmlformats.org/drawingml/2006/main">
            <a:off x="4953000" y="31718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Predict a duration in minutes</a:t>
            </a:r>
          </a:p>
        </p:txBody>
      </p:sp>
      <p:sp>
        <p:nvSpPr>
          <p:cNvPr id="8" name="">
            <a:extLst xmlns:a="http://schemas.openxmlformats.org/drawingml/2006/main">
              <a:ext uri="{FF2B5EF4-FFF2-40B4-BE49-F238E27FC236}">
                <a16:creationId xmlns:a16="http://schemas.microsoft.com/office/drawing/2014/main" id="{0AD3A554-7EB4-4886-9AFB-4DCEDA079067}"/>
              </a:ext>
            </a:extLst>
          </p:cNvPr>
          <p:cNvSpPr>
            <a:spLocks xmlns:a="http://schemas.openxmlformats.org/drawingml/2006/main" noGrp="1"/>
          </p:cNvSpPr>
          <p:nvPr/>
        </p:nvSpPr>
        <p:spPr>
          <a:xfrm xmlns:a="http://schemas.openxmlformats.org/drawingml/2006/main">
            <a:off x="4953000" y="362902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8714F"/>
                </a:solidFill>
                <a:latin typeface="Arial"/>
                <a:ea typeface="Arial"/>
                <a:cs typeface="Arial"/>
              </a:defRPr>
            </a:defPPr>
            <a:lvl1pPr>
              <a:defRPr sz="1800" b="0">
                <a:solidFill>
                  <a:srgbClr val="28714F"/>
                </a:solidFill>
                <a:latin typeface="Arial"/>
                <a:ea typeface="Arial"/>
                <a:cs typeface="Arial"/>
              </a:defRPr>
            </a:lvl1pPr>
            <a:lvl2pPr>
              <a:defRPr sz="1800" b="0">
                <a:solidFill>
                  <a:srgbClr val="28714F"/>
                </a:solidFill>
                <a:latin typeface="Arial"/>
                <a:ea typeface="Arial"/>
                <a:cs typeface="Arial"/>
              </a:defRPr>
            </a:lvl2pPr>
            <a:lvl3pPr>
              <a:defRPr sz="1800" b="0">
                <a:solidFill>
                  <a:srgbClr val="28714F"/>
                </a:solidFill>
                <a:latin typeface="Arial"/>
                <a:ea typeface="Arial"/>
                <a:cs typeface="Arial"/>
              </a:defRPr>
            </a:lvl3pPr>
            <a:lvl4pPr>
              <a:defRPr sz="1800" b="0">
                <a:solidFill>
                  <a:srgbClr val="28714F"/>
                </a:solidFill>
                <a:latin typeface="Arial"/>
                <a:ea typeface="Arial"/>
                <a:cs typeface="Arial"/>
              </a:defRPr>
            </a:lvl4pPr>
            <a:lvl5pPr>
              <a:defRPr sz="1800" b="0">
                <a:solidFill>
                  <a:srgbClr val="28714F"/>
                </a:solidFill>
                <a:latin typeface="Arial"/>
                <a:ea typeface="Arial"/>
                <a:cs typeface="Arial"/>
              </a:defRPr>
            </a:lvl5pPr>
            <a:lvl6pPr>
              <a:defRPr sz="1800" b="0">
                <a:solidFill>
                  <a:srgbClr val="28714F"/>
                </a:solidFill>
                <a:latin typeface="Arial"/>
                <a:ea typeface="Arial"/>
                <a:cs typeface="Arial"/>
              </a:defRPr>
            </a:lvl6pPr>
            <a:lvl7pPr>
              <a:defRPr sz="1800" b="0">
                <a:solidFill>
                  <a:srgbClr val="28714F"/>
                </a:solidFill>
                <a:latin typeface="Arial"/>
                <a:ea typeface="Arial"/>
                <a:cs typeface="Arial"/>
              </a:defRPr>
            </a:lvl7pPr>
            <a:lvl8pPr>
              <a:defRPr sz="1800" b="0">
                <a:solidFill>
                  <a:srgbClr val="28714F"/>
                </a:solidFill>
                <a:latin typeface="Arial"/>
                <a:ea typeface="Arial"/>
                <a:cs typeface="Arial"/>
              </a:defRPr>
            </a:lvl8pPr>
            <a:lvl9pPr>
              <a:defRPr sz="1800" b="0">
                <a:solidFill>
                  <a:srgbClr val="28714F"/>
                </a:solidFill>
                <a:latin typeface="Arial"/>
                <a:ea typeface="Arial"/>
                <a:cs typeface="Arial"/>
              </a:defRPr>
            </a:lvl9pPr>
          </a:lstStyle>
          <a:p xmlns:a="http://schemas.openxmlformats.org/drawingml/2006/main">
            <a:pPr>
              <a:defRPr sz="1800" b="0">
                <a:solidFill>
                  <a:srgbClr val="28714F"/>
                </a:solidFill>
                <a:latin typeface="Arial"/>
                <a:ea typeface="Arial"/>
                <a:cs typeface="Arial"/>
              </a:defRPr>
            </a:pPr>
            <a:r>
              <a:rPr sz="1800" b="0">
                <a:solidFill>
                  <a:srgbClr val="28714F"/>
                </a:solidFill>
                <a:latin typeface="Arial"/>
                <a:ea typeface="Arial"/>
                <a:cs typeface="Arial"/>
              </a:rPr>
              <a:t>Regression</a:t>
            </a:r>
          </a:p>
        </p:txBody>
      </p:sp>
      <p:sp>
        <p:nvSpPr>
          <p:cNvPr id="9" name="">
            <a:extLst xmlns:a="http://schemas.openxmlformats.org/drawingml/2006/main">
              <a:ext uri="{FF2B5EF4-FFF2-40B4-BE49-F238E27FC236}">
                <a16:creationId xmlns:a16="http://schemas.microsoft.com/office/drawing/2014/main" id="{90748865-15C1-4841-B8F8-C392F87FA4FD}"/>
              </a:ext>
            </a:extLst>
          </p:cNvPr>
          <p:cNvSpPr>
            <a:spLocks xmlns:a="http://schemas.openxmlformats.org/drawingml/2006/main" noGrp="1"/>
          </p:cNvSpPr>
          <p:nvPr/>
        </p:nvSpPr>
        <p:spPr>
          <a:xfrm xmlns:a="http://schemas.openxmlformats.org/drawingml/2006/main">
            <a:off x="685800" y="43910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83C2D"/>
                </a:solidFill>
                <a:latin typeface="Arial"/>
                <a:ea typeface="Arial"/>
                <a:cs typeface="Arial"/>
              </a:defRPr>
            </a:defPPr>
            <a:lvl1pPr>
              <a:defRPr sz="2400" b="1">
                <a:solidFill>
                  <a:srgbClr val="183C2D"/>
                </a:solidFill>
                <a:latin typeface="Arial"/>
                <a:ea typeface="Arial"/>
                <a:cs typeface="Arial"/>
              </a:defRPr>
            </a:lvl1pPr>
            <a:lvl2pPr>
              <a:defRPr sz="2400" b="1">
                <a:solidFill>
                  <a:srgbClr val="183C2D"/>
                </a:solidFill>
                <a:latin typeface="Arial"/>
                <a:ea typeface="Arial"/>
                <a:cs typeface="Arial"/>
              </a:defRPr>
            </a:lvl2pPr>
            <a:lvl3pPr>
              <a:defRPr sz="2400" b="1">
                <a:solidFill>
                  <a:srgbClr val="183C2D"/>
                </a:solidFill>
                <a:latin typeface="Arial"/>
                <a:ea typeface="Arial"/>
                <a:cs typeface="Arial"/>
              </a:defRPr>
            </a:lvl3pPr>
            <a:lvl4pPr>
              <a:defRPr sz="2400" b="1">
                <a:solidFill>
                  <a:srgbClr val="183C2D"/>
                </a:solidFill>
                <a:latin typeface="Arial"/>
                <a:ea typeface="Arial"/>
                <a:cs typeface="Arial"/>
              </a:defRPr>
            </a:lvl4pPr>
            <a:lvl5pPr>
              <a:defRPr sz="2400" b="1">
                <a:solidFill>
                  <a:srgbClr val="183C2D"/>
                </a:solidFill>
                <a:latin typeface="Arial"/>
                <a:ea typeface="Arial"/>
                <a:cs typeface="Arial"/>
              </a:defRPr>
            </a:lvl5pPr>
            <a:lvl6pPr>
              <a:defRPr sz="2400" b="1">
                <a:solidFill>
                  <a:srgbClr val="183C2D"/>
                </a:solidFill>
                <a:latin typeface="Arial"/>
                <a:ea typeface="Arial"/>
                <a:cs typeface="Arial"/>
              </a:defRPr>
            </a:lvl6pPr>
            <a:lvl7pPr>
              <a:defRPr sz="2400" b="1">
                <a:solidFill>
                  <a:srgbClr val="183C2D"/>
                </a:solidFill>
                <a:latin typeface="Arial"/>
                <a:ea typeface="Arial"/>
                <a:cs typeface="Arial"/>
              </a:defRPr>
            </a:lvl7pPr>
            <a:lvl8pPr>
              <a:defRPr sz="2400" b="1">
                <a:solidFill>
                  <a:srgbClr val="183C2D"/>
                </a:solidFill>
                <a:latin typeface="Arial"/>
                <a:ea typeface="Arial"/>
                <a:cs typeface="Arial"/>
              </a:defRPr>
            </a:lvl8pPr>
            <a:lvl9pPr>
              <a:defRPr sz="2400" b="1">
                <a:solidFill>
                  <a:srgbClr val="183C2D"/>
                </a:solidFill>
                <a:latin typeface="Arial"/>
                <a:ea typeface="Arial"/>
                <a:cs typeface="Arial"/>
              </a:defRPr>
            </a:lvl9pPr>
          </a:lstStyle>
          <a:p xmlns:a="http://schemas.openxmlformats.org/drawingml/2006/main">
            <a:pPr>
              <a:defRPr sz="2400" b="1">
                <a:solidFill>
                  <a:srgbClr val="183C2D"/>
                </a:solidFill>
                <a:latin typeface="Arial"/>
                <a:ea typeface="Arial"/>
                <a:cs typeface="Arial"/>
              </a:defRPr>
            </a:pPr>
            <a:r>
              <a:rPr sz="2400" b="1">
                <a:solidFill>
                  <a:srgbClr val="183C2D"/>
                </a:solidFill>
                <a:latin typeface="Arial"/>
                <a:ea typeface="Arial"/>
                <a:cs typeface="Arial"/>
              </a:rPr>
              <a:t>Customer grouping</a:t>
            </a:r>
          </a:p>
        </p:txBody>
      </p:sp>
      <p:sp>
        <p:nvSpPr>
          <p:cNvPr id="10" name="">
            <a:extLst xmlns:a="http://schemas.openxmlformats.org/drawingml/2006/main">
              <a:ext uri="{FF2B5EF4-FFF2-40B4-BE49-F238E27FC236}">
                <a16:creationId xmlns:a16="http://schemas.microsoft.com/office/drawing/2014/main" id="{63CFF05C-B570-4336-9E60-A871C40FE45F}"/>
              </a:ext>
            </a:extLst>
          </p:cNvPr>
          <p:cNvSpPr>
            <a:spLocks xmlns:a="http://schemas.openxmlformats.org/drawingml/2006/main" noGrp="1"/>
          </p:cNvSpPr>
          <p:nvPr/>
        </p:nvSpPr>
        <p:spPr>
          <a:xfrm xmlns:a="http://schemas.openxmlformats.org/drawingml/2006/main">
            <a:off x="4953000" y="43910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2D"/>
                </a:solidFill>
                <a:latin typeface="Arial"/>
                <a:ea typeface="Arial"/>
                <a:cs typeface="Arial"/>
              </a:defRPr>
            </a:defPPr>
            <a:lvl1pPr>
              <a:defRPr sz="2175" b="0">
                <a:solidFill>
                  <a:srgbClr val="183C2D"/>
                </a:solidFill>
                <a:latin typeface="Arial"/>
                <a:ea typeface="Arial"/>
                <a:cs typeface="Arial"/>
              </a:defRPr>
            </a:lvl1pPr>
            <a:lvl2pPr>
              <a:defRPr sz="2175" b="0">
                <a:solidFill>
                  <a:srgbClr val="183C2D"/>
                </a:solidFill>
                <a:latin typeface="Arial"/>
                <a:ea typeface="Arial"/>
                <a:cs typeface="Arial"/>
              </a:defRPr>
            </a:lvl2pPr>
            <a:lvl3pPr>
              <a:defRPr sz="2175" b="0">
                <a:solidFill>
                  <a:srgbClr val="183C2D"/>
                </a:solidFill>
                <a:latin typeface="Arial"/>
                <a:ea typeface="Arial"/>
                <a:cs typeface="Arial"/>
              </a:defRPr>
            </a:lvl3pPr>
            <a:lvl4pPr>
              <a:defRPr sz="2175" b="0">
                <a:solidFill>
                  <a:srgbClr val="183C2D"/>
                </a:solidFill>
                <a:latin typeface="Arial"/>
                <a:ea typeface="Arial"/>
                <a:cs typeface="Arial"/>
              </a:defRPr>
            </a:lvl4pPr>
            <a:lvl5pPr>
              <a:defRPr sz="2175" b="0">
                <a:solidFill>
                  <a:srgbClr val="183C2D"/>
                </a:solidFill>
                <a:latin typeface="Arial"/>
                <a:ea typeface="Arial"/>
                <a:cs typeface="Arial"/>
              </a:defRPr>
            </a:lvl5pPr>
            <a:lvl6pPr>
              <a:defRPr sz="2175" b="0">
                <a:solidFill>
                  <a:srgbClr val="183C2D"/>
                </a:solidFill>
                <a:latin typeface="Arial"/>
                <a:ea typeface="Arial"/>
                <a:cs typeface="Arial"/>
              </a:defRPr>
            </a:lvl6pPr>
            <a:lvl7pPr>
              <a:defRPr sz="2175" b="0">
                <a:solidFill>
                  <a:srgbClr val="183C2D"/>
                </a:solidFill>
                <a:latin typeface="Arial"/>
                <a:ea typeface="Arial"/>
                <a:cs typeface="Arial"/>
              </a:defRPr>
            </a:lvl7pPr>
            <a:lvl8pPr>
              <a:defRPr sz="2175" b="0">
                <a:solidFill>
                  <a:srgbClr val="183C2D"/>
                </a:solidFill>
                <a:latin typeface="Arial"/>
                <a:ea typeface="Arial"/>
                <a:cs typeface="Arial"/>
              </a:defRPr>
            </a:lvl8pPr>
            <a:lvl9pPr>
              <a:defRPr sz="2175" b="0">
                <a:solidFill>
                  <a:srgbClr val="183C2D"/>
                </a:solidFill>
                <a:latin typeface="Arial"/>
                <a:ea typeface="Arial"/>
                <a:cs typeface="Arial"/>
              </a:defRPr>
            </a:lvl9pPr>
          </a:lstStyle>
          <a:p xmlns:a="http://schemas.openxmlformats.org/drawingml/2006/main">
            <a:pPr>
              <a:defRPr sz="2175" b="0">
                <a:solidFill>
                  <a:srgbClr val="183C2D"/>
                </a:solidFill>
                <a:latin typeface="Arial"/>
                <a:ea typeface="Arial"/>
                <a:cs typeface="Arial"/>
              </a:defRPr>
            </a:pPr>
            <a:r>
              <a:rPr sz="2175" b="0">
                <a:solidFill>
                  <a:srgbClr val="183C2D"/>
                </a:solidFill>
                <a:latin typeface="Arial"/>
                <a:ea typeface="Arial"/>
                <a:cs typeface="Arial"/>
              </a:rPr>
              <a:t>Find similar examples</a:t>
            </a:r>
          </a:p>
        </p:txBody>
      </p:sp>
      <p:sp>
        <p:nvSpPr>
          <p:cNvPr id="11" name="">
            <a:extLst xmlns:a="http://schemas.openxmlformats.org/drawingml/2006/main">
              <a:ext uri="{FF2B5EF4-FFF2-40B4-BE49-F238E27FC236}">
                <a16:creationId xmlns:a16="http://schemas.microsoft.com/office/drawing/2014/main" id="{9B523E1F-9F98-4C15-BCC6-2978C1FE308D}"/>
              </a:ext>
            </a:extLst>
          </p:cNvPr>
          <p:cNvSpPr>
            <a:spLocks xmlns:a="http://schemas.openxmlformats.org/drawingml/2006/main" noGrp="1"/>
          </p:cNvSpPr>
          <p:nvPr/>
        </p:nvSpPr>
        <p:spPr>
          <a:xfrm xmlns:a="http://schemas.openxmlformats.org/drawingml/2006/main">
            <a:off x="4953000" y="484822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8714F"/>
                </a:solidFill>
                <a:latin typeface="Arial"/>
                <a:ea typeface="Arial"/>
                <a:cs typeface="Arial"/>
              </a:defRPr>
            </a:defPPr>
            <a:lvl1pPr>
              <a:defRPr sz="1800" b="0">
                <a:solidFill>
                  <a:srgbClr val="28714F"/>
                </a:solidFill>
                <a:latin typeface="Arial"/>
                <a:ea typeface="Arial"/>
                <a:cs typeface="Arial"/>
              </a:defRPr>
            </a:lvl1pPr>
            <a:lvl2pPr>
              <a:defRPr sz="1800" b="0">
                <a:solidFill>
                  <a:srgbClr val="28714F"/>
                </a:solidFill>
                <a:latin typeface="Arial"/>
                <a:ea typeface="Arial"/>
                <a:cs typeface="Arial"/>
              </a:defRPr>
            </a:lvl2pPr>
            <a:lvl3pPr>
              <a:defRPr sz="1800" b="0">
                <a:solidFill>
                  <a:srgbClr val="28714F"/>
                </a:solidFill>
                <a:latin typeface="Arial"/>
                <a:ea typeface="Arial"/>
                <a:cs typeface="Arial"/>
              </a:defRPr>
            </a:lvl3pPr>
            <a:lvl4pPr>
              <a:defRPr sz="1800" b="0">
                <a:solidFill>
                  <a:srgbClr val="28714F"/>
                </a:solidFill>
                <a:latin typeface="Arial"/>
                <a:ea typeface="Arial"/>
                <a:cs typeface="Arial"/>
              </a:defRPr>
            </a:lvl4pPr>
            <a:lvl5pPr>
              <a:defRPr sz="1800" b="0">
                <a:solidFill>
                  <a:srgbClr val="28714F"/>
                </a:solidFill>
                <a:latin typeface="Arial"/>
                <a:ea typeface="Arial"/>
                <a:cs typeface="Arial"/>
              </a:defRPr>
            </a:lvl5pPr>
            <a:lvl6pPr>
              <a:defRPr sz="1800" b="0">
                <a:solidFill>
                  <a:srgbClr val="28714F"/>
                </a:solidFill>
                <a:latin typeface="Arial"/>
                <a:ea typeface="Arial"/>
                <a:cs typeface="Arial"/>
              </a:defRPr>
            </a:lvl6pPr>
            <a:lvl7pPr>
              <a:defRPr sz="1800" b="0">
                <a:solidFill>
                  <a:srgbClr val="28714F"/>
                </a:solidFill>
                <a:latin typeface="Arial"/>
                <a:ea typeface="Arial"/>
                <a:cs typeface="Arial"/>
              </a:defRPr>
            </a:lvl7pPr>
            <a:lvl8pPr>
              <a:defRPr sz="1800" b="0">
                <a:solidFill>
                  <a:srgbClr val="28714F"/>
                </a:solidFill>
                <a:latin typeface="Arial"/>
                <a:ea typeface="Arial"/>
                <a:cs typeface="Arial"/>
              </a:defRPr>
            </a:lvl8pPr>
            <a:lvl9pPr>
              <a:defRPr sz="1800" b="0">
                <a:solidFill>
                  <a:srgbClr val="28714F"/>
                </a:solidFill>
                <a:latin typeface="Arial"/>
                <a:ea typeface="Arial"/>
                <a:cs typeface="Arial"/>
              </a:defRPr>
            </a:lvl9pPr>
          </a:lstStyle>
          <a:p xmlns:a="http://schemas.openxmlformats.org/drawingml/2006/main">
            <a:pPr>
              <a:defRPr sz="1800" b="0">
                <a:solidFill>
                  <a:srgbClr val="28714F"/>
                </a:solidFill>
                <a:latin typeface="Arial"/>
                <a:ea typeface="Arial"/>
                <a:cs typeface="Arial"/>
              </a:defRPr>
            </a:pPr>
            <a:r>
              <a:rPr sz="1800" b="0">
                <a:solidFill>
                  <a:srgbClr val="28714F"/>
                </a:solidFill>
                <a:latin typeface="Arial"/>
                <a:ea typeface="Arial"/>
                <a:cs typeface="Arial"/>
              </a:rPr>
              <a:t>Clustering</a:t>
            </a:r>
          </a:p>
        </p:txBody>
      </p:sp>
    </p:spTree>
    <p:extLst>
      <p:ext uri="{BB962C8B-B14F-4D97-AF65-F5344CB8AC3E}">
        <p14:creationId xmlns:p14="http://schemas.microsoft.com/office/powerpoint/2010/main" val="192823472"/>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5B7F2E-D167-4AF9-8180-5BDE73E1AF45}"/>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The WasteSort problem</a:t>
            </a:r>
          </a:p>
        </p:txBody>
      </p:sp>
      <p:sp>
        <p:nvSpPr>
          <p:cNvPr id="2" name="">
            <a:extLst xmlns:a="http://schemas.openxmlformats.org/drawingml/2006/main">
              <a:ext uri="{FF2B5EF4-FFF2-40B4-BE49-F238E27FC236}">
                <a16:creationId xmlns:a16="http://schemas.microsoft.com/office/drawing/2014/main" id="{236C3B3A-8738-47CA-B245-22B0FD47D4AB}"/>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C2174BBC-48A1-490C-A12E-8F740194AD62}"/>
              </a:ext>
            </a:extLst>
          </p:cNvPr>
          <p:cNvSpPr>
            <a:spLocks xmlns:a="http://schemas.openxmlformats.org/drawingml/2006/main" noGrp="1"/>
          </p:cNvSpPr>
          <p:nvPr/>
        </p:nvSpPr>
        <p:spPr>
          <a:xfrm xmlns:a="http://schemas.openxmlformats.org/drawingml/2006/main">
            <a:off x="685800" y="14287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83C2D"/>
                </a:solidFill>
                <a:latin typeface="Arial"/>
                <a:ea typeface="Arial"/>
                <a:cs typeface="Arial"/>
              </a:defRPr>
            </a:defPPr>
            <a:lvl1pPr>
              <a:defRPr sz="2250" b="0">
                <a:solidFill>
                  <a:srgbClr val="183C2D"/>
                </a:solidFill>
                <a:latin typeface="Arial"/>
                <a:ea typeface="Arial"/>
                <a:cs typeface="Arial"/>
              </a:defRPr>
            </a:lvl1pPr>
            <a:lvl2pPr>
              <a:defRPr sz="2250" b="0">
                <a:solidFill>
                  <a:srgbClr val="183C2D"/>
                </a:solidFill>
                <a:latin typeface="Arial"/>
                <a:ea typeface="Arial"/>
                <a:cs typeface="Arial"/>
              </a:defRPr>
            </a:lvl2pPr>
            <a:lvl3pPr>
              <a:defRPr sz="2250" b="0">
                <a:solidFill>
                  <a:srgbClr val="183C2D"/>
                </a:solidFill>
                <a:latin typeface="Arial"/>
                <a:ea typeface="Arial"/>
                <a:cs typeface="Arial"/>
              </a:defRPr>
            </a:lvl3pPr>
            <a:lvl4pPr>
              <a:defRPr sz="2250" b="0">
                <a:solidFill>
                  <a:srgbClr val="183C2D"/>
                </a:solidFill>
                <a:latin typeface="Arial"/>
                <a:ea typeface="Arial"/>
                <a:cs typeface="Arial"/>
              </a:defRPr>
            </a:lvl4pPr>
            <a:lvl5pPr>
              <a:defRPr sz="2250" b="0">
                <a:solidFill>
                  <a:srgbClr val="183C2D"/>
                </a:solidFill>
                <a:latin typeface="Arial"/>
                <a:ea typeface="Arial"/>
                <a:cs typeface="Arial"/>
              </a:defRPr>
            </a:lvl5pPr>
            <a:lvl6pPr>
              <a:defRPr sz="2250" b="0">
                <a:solidFill>
                  <a:srgbClr val="183C2D"/>
                </a:solidFill>
                <a:latin typeface="Arial"/>
                <a:ea typeface="Arial"/>
                <a:cs typeface="Arial"/>
              </a:defRPr>
            </a:lvl6pPr>
            <a:lvl7pPr>
              <a:defRPr sz="2250" b="0">
                <a:solidFill>
                  <a:srgbClr val="183C2D"/>
                </a:solidFill>
                <a:latin typeface="Arial"/>
                <a:ea typeface="Arial"/>
                <a:cs typeface="Arial"/>
              </a:defRPr>
            </a:lvl7pPr>
            <a:lvl8pPr>
              <a:defRPr sz="2250" b="0">
                <a:solidFill>
                  <a:srgbClr val="183C2D"/>
                </a:solidFill>
                <a:latin typeface="Arial"/>
                <a:ea typeface="Arial"/>
                <a:cs typeface="Arial"/>
              </a:defRPr>
            </a:lvl8pPr>
            <a:lvl9pPr>
              <a:defRPr sz="2250" b="0">
                <a:solidFill>
                  <a:srgbClr val="183C2D"/>
                </a:solidFill>
                <a:latin typeface="Arial"/>
                <a:ea typeface="Arial"/>
                <a:cs typeface="Arial"/>
              </a:defRPr>
            </a:lvl9pPr>
          </a:lstStyle>
          <a:p xmlns:a="http://schemas.openxmlformats.org/drawingml/2006/main">
            <a:pPr>
              <a:defRPr sz="2250" b="0">
                <a:solidFill>
                  <a:srgbClr val="183C2D"/>
                </a:solidFill>
                <a:latin typeface="Arial"/>
                <a:ea typeface="Arial"/>
                <a:cs typeface="Arial"/>
              </a:defRPr>
            </a:pPr>
            <a:r>
              <a:rPr sz="2250" b="0">
                <a:solidFill>
                  <a:srgbClr val="183C2D"/>
                </a:solidFill>
                <a:latin typeface="Arial"/>
                <a:ea typeface="Arial"/>
                <a:cs typeface="Arial"/>
              </a:rPr>
              <a:t>One item photo. One predicted material category.</a:t>
            </a:r>
          </a:p>
        </p:txBody>
      </p:sp>
      <p:pic>
        <p:nvPicPr>
          <p:cNvPr id="4" name="">
            <a:extLst xmlns:a="http://schemas.openxmlformats.org/drawingml/2006/main">
              <a:ext uri="{FF2B5EF4-FFF2-40B4-BE49-F238E27FC236}">
                <a16:creationId xmlns:a16="http://schemas.microsoft.com/office/drawing/2014/main" id="{46689970-83B7-44A7-86FF-893D1E2DCA17}"/>
              </a:ext>
            </a:extLst>
          </p:cNvPr>
          <p:cNvPicPr>
            <a:picLocks xmlns:a="http://schemas.openxmlformats.org/drawingml/2006/main" noChangeAspect="1"/>
          </p:cNvPicPr>
          <p:nvPr/>
        </p:nvPicPr>
        <p:blipFill>
          <a:blip xmlns:r="http://schemas.openxmlformats.org/officeDocument/2006/relationships" xmlns:a="http://schemas.openxmlformats.org/drawingml/2006/main" r:embed="R82617658af2d44bf"/>
          <a:stretch xmlns:a="http://schemas.openxmlformats.org/drawingml/2006/main"/>
        </p:blipFill>
        <p:spPr>
          <a:xfrm xmlns:a="http://schemas.openxmlformats.org/drawingml/2006/main">
            <a:off x="1336675" y="2143125"/>
            <a:ext cx="1841500" cy="1381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E5AC36-5B5F-4D9B-86A5-3E05336A83CE}"/>
              </a:ext>
            </a:extLst>
          </p:cNvPr>
          <p:cNvSpPr>
            <a:spLocks xmlns:a="http://schemas.openxmlformats.org/drawingml/2006/main" noGrp="1"/>
          </p:cNvSpPr>
          <p:nvPr/>
        </p:nvSpPr>
        <p:spPr>
          <a:xfrm xmlns:a="http://schemas.openxmlformats.org/drawingml/2006/main">
            <a:off x="685800" y="3571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Cardboard</a:t>
            </a:r>
          </a:p>
        </p:txBody>
      </p:sp>
      <p:pic>
        <p:nvPicPr>
          <p:cNvPr id="6" name="">
            <a:extLst xmlns:a="http://schemas.openxmlformats.org/drawingml/2006/main">
              <a:ext uri="{FF2B5EF4-FFF2-40B4-BE49-F238E27FC236}">
                <a16:creationId xmlns:a16="http://schemas.microsoft.com/office/drawing/2014/main" id="{D4CA62DC-8F9D-46EB-B578-3D79D5477DC4}"/>
              </a:ext>
            </a:extLst>
          </p:cNvPr>
          <p:cNvPicPr>
            <a:picLocks xmlns:a="http://schemas.openxmlformats.org/drawingml/2006/main" noChangeAspect="1"/>
          </p:cNvPicPr>
          <p:nvPr/>
        </p:nvPicPr>
        <p:blipFill>
          <a:blip xmlns:r="http://schemas.openxmlformats.org/officeDocument/2006/relationships" xmlns:a="http://schemas.openxmlformats.org/drawingml/2006/main" r:embed="R7d0edc8effb146d1"/>
          <a:stretch xmlns:a="http://schemas.openxmlformats.org/drawingml/2006/main"/>
        </p:blipFill>
        <p:spPr>
          <a:xfrm xmlns:a="http://schemas.openxmlformats.org/drawingml/2006/main">
            <a:off x="5003800" y="2143125"/>
            <a:ext cx="1841500" cy="1381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5553964-F341-4A0A-BA0B-6435D4B6B801}"/>
              </a:ext>
            </a:extLst>
          </p:cNvPr>
          <p:cNvSpPr>
            <a:spLocks xmlns:a="http://schemas.openxmlformats.org/drawingml/2006/main" noGrp="1"/>
          </p:cNvSpPr>
          <p:nvPr/>
        </p:nvSpPr>
        <p:spPr>
          <a:xfrm xmlns:a="http://schemas.openxmlformats.org/drawingml/2006/main">
            <a:off x="4352925" y="3571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Glass</a:t>
            </a:r>
          </a:p>
        </p:txBody>
      </p:sp>
      <p:pic>
        <p:nvPicPr>
          <p:cNvPr id="8" name="">
            <a:extLst xmlns:a="http://schemas.openxmlformats.org/drawingml/2006/main">
              <a:ext uri="{FF2B5EF4-FFF2-40B4-BE49-F238E27FC236}">
                <a16:creationId xmlns:a16="http://schemas.microsoft.com/office/drawing/2014/main" id="{9BA2416E-99A2-4231-99DE-A854EFB959B8}"/>
              </a:ext>
            </a:extLst>
          </p:cNvPr>
          <p:cNvPicPr>
            <a:picLocks xmlns:a="http://schemas.openxmlformats.org/drawingml/2006/main" noChangeAspect="1"/>
          </p:cNvPicPr>
          <p:nvPr/>
        </p:nvPicPr>
        <p:blipFill>
          <a:blip xmlns:r="http://schemas.openxmlformats.org/officeDocument/2006/relationships" xmlns:a="http://schemas.openxmlformats.org/drawingml/2006/main" r:embed="Rd41f662385914a01"/>
          <a:stretch xmlns:a="http://schemas.openxmlformats.org/drawingml/2006/main"/>
        </p:blipFill>
        <p:spPr>
          <a:xfrm xmlns:a="http://schemas.openxmlformats.org/drawingml/2006/main">
            <a:off x="8670925" y="2143125"/>
            <a:ext cx="1841500" cy="1381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90A8F21-9B4D-4489-A367-8C84DFE66FB5}"/>
              </a:ext>
            </a:extLst>
          </p:cNvPr>
          <p:cNvSpPr>
            <a:spLocks xmlns:a="http://schemas.openxmlformats.org/drawingml/2006/main" noGrp="1"/>
          </p:cNvSpPr>
          <p:nvPr/>
        </p:nvSpPr>
        <p:spPr>
          <a:xfrm xmlns:a="http://schemas.openxmlformats.org/drawingml/2006/main">
            <a:off x="8020050" y="3571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Metal</a:t>
            </a:r>
          </a:p>
        </p:txBody>
      </p:sp>
      <p:pic>
        <p:nvPicPr>
          <p:cNvPr id="10" name="">
            <a:extLst xmlns:a="http://schemas.openxmlformats.org/drawingml/2006/main">
              <a:ext uri="{FF2B5EF4-FFF2-40B4-BE49-F238E27FC236}">
                <a16:creationId xmlns:a16="http://schemas.microsoft.com/office/drawing/2014/main" id="{A63D9CAF-DFDE-4153-876C-2630CB3B765C}"/>
              </a:ext>
            </a:extLst>
          </p:cNvPr>
          <p:cNvPicPr>
            <a:picLocks xmlns:a="http://schemas.openxmlformats.org/drawingml/2006/main" noChangeAspect="1"/>
          </p:cNvPicPr>
          <p:nvPr/>
        </p:nvPicPr>
        <p:blipFill>
          <a:blip xmlns:r="http://schemas.openxmlformats.org/officeDocument/2006/relationships" xmlns:a="http://schemas.openxmlformats.org/drawingml/2006/main" r:embed="Reb2e9f7df2f043ed"/>
          <a:stretch xmlns:a="http://schemas.openxmlformats.org/drawingml/2006/main"/>
        </p:blipFill>
        <p:spPr>
          <a:xfrm xmlns:a="http://schemas.openxmlformats.org/drawingml/2006/main">
            <a:off x="1336675" y="4029075"/>
            <a:ext cx="1841500" cy="1381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5181D4D-D295-4FE3-9890-AD25B0B7B5B8}"/>
              </a:ext>
            </a:extLst>
          </p:cNvPr>
          <p:cNvSpPr>
            <a:spLocks xmlns:a="http://schemas.openxmlformats.org/drawingml/2006/main" noGrp="1"/>
          </p:cNvSpPr>
          <p:nvPr/>
        </p:nvSpPr>
        <p:spPr>
          <a:xfrm xmlns:a="http://schemas.openxmlformats.org/drawingml/2006/main">
            <a:off x="685800" y="54578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Paper</a:t>
            </a:r>
          </a:p>
        </p:txBody>
      </p:sp>
      <p:pic>
        <p:nvPicPr>
          <p:cNvPr id="12" name="">
            <a:extLst xmlns:a="http://schemas.openxmlformats.org/drawingml/2006/main">
              <a:ext uri="{FF2B5EF4-FFF2-40B4-BE49-F238E27FC236}">
                <a16:creationId xmlns:a16="http://schemas.microsoft.com/office/drawing/2014/main" id="{47049685-533E-4AA3-B28E-352588D4E62D}"/>
              </a:ext>
            </a:extLst>
          </p:cNvPr>
          <p:cNvPicPr>
            <a:picLocks xmlns:a="http://schemas.openxmlformats.org/drawingml/2006/main" noChangeAspect="1"/>
          </p:cNvPicPr>
          <p:nvPr/>
        </p:nvPicPr>
        <p:blipFill>
          <a:blip xmlns:r="http://schemas.openxmlformats.org/officeDocument/2006/relationships" xmlns:a="http://schemas.openxmlformats.org/drawingml/2006/main" r:embed="Red316de4881349e3"/>
          <a:stretch xmlns:a="http://schemas.openxmlformats.org/drawingml/2006/main"/>
        </p:blipFill>
        <p:spPr>
          <a:xfrm xmlns:a="http://schemas.openxmlformats.org/drawingml/2006/main">
            <a:off x="5003800" y="4029075"/>
            <a:ext cx="1841500" cy="13811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CDAAE3E-0347-45FB-ADE3-28D0BA60F770}"/>
              </a:ext>
            </a:extLst>
          </p:cNvPr>
          <p:cNvSpPr>
            <a:spLocks xmlns:a="http://schemas.openxmlformats.org/drawingml/2006/main" noGrp="1"/>
          </p:cNvSpPr>
          <p:nvPr/>
        </p:nvSpPr>
        <p:spPr>
          <a:xfrm xmlns:a="http://schemas.openxmlformats.org/drawingml/2006/main">
            <a:off x="4352925" y="54578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Plastic</a:t>
            </a:r>
          </a:p>
        </p:txBody>
      </p:sp>
      <p:pic>
        <p:nvPicPr>
          <p:cNvPr id="14" name="">
            <a:extLst xmlns:a="http://schemas.openxmlformats.org/drawingml/2006/main">
              <a:ext uri="{FF2B5EF4-FFF2-40B4-BE49-F238E27FC236}">
                <a16:creationId xmlns:a16="http://schemas.microsoft.com/office/drawing/2014/main" id="{CB79218A-A93F-43AC-A052-996E21119FF7}"/>
              </a:ext>
            </a:extLst>
          </p:cNvPr>
          <p:cNvPicPr>
            <a:picLocks xmlns:a="http://schemas.openxmlformats.org/drawingml/2006/main" noChangeAspect="1"/>
          </p:cNvPicPr>
          <p:nvPr/>
        </p:nvPicPr>
        <p:blipFill>
          <a:blip xmlns:r="http://schemas.openxmlformats.org/officeDocument/2006/relationships" xmlns:a="http://schemas.openxmlformats.org/drawingml/2006/main" r:embed="R0f86780f17114336"/>
          <a:stretch xmlns:a="http://schemas.openxmlformats.org/drawingml/2006/main"/>
        </p:blipFill>
        <p:spPr>
          <a:xfrm xmlns:a="http://schemas.openxmlformats.org/drawingml/2006/main">
            <a:off x="8670925" y="4029075"/>
            <a:ext cx="1841500" cy="13811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2F50A8F-9D1A-444A-977C-3A148D3D57AF}"/>
              </a:ext>
            </a:extLst>
          </p:cNvPr>
          <p:cNvSpPr>
            <a:spLocks xmlns:a="http://schemas.openxmlformats.org/drawingml/2006/main" noGrp="1"/>
          </p:cNvSpPr>
          <p:nvPr/>
        </p:nvSpPr>
        <p:spPr>
          <a:xfrm xmlns:a="http://schemas.openxmlformats.org/drawingml/2006/main">
            <a:off x="8020050" y="54578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3C2D"/>
                </a:solidFill>
                <a:latin typeface="Arial"/>
                <a:ea typeface="Arial"/>
                <a:cs typeface="Arial"/>
              </a:defRPr>
            </a:defPPr>
            <a:lvl1pPr>
              <a:defRPr sz="1950" b="1">
                <a:solidFill>
                  <a:srgbClr val="183C2D"/>
                </a:solidFill>
                <a:latin typeface="Arial"/>
                <a:ea typeface="Arial"/>
                <a:cs typeface="Arial"/>
              </a:defRPr>
            </a:lvl1pPr>
            <a:lvl2pPr>
              <a:defRPr sz="1950" b="1">
                <a:solidFill>
                  <a:srgbClr val="183C2D"/>
                </a:solidFill>
                <a:latin typeface="Arial"/>
                <a:ea typeface="Arial"/>
                <a:cs typeface="Arial"/>
              </a:defRPr>
            </a:lvl2pPr>
            <a:lvl3pPr>
              <a:defRPr sz="1950" b="1">
                <a:solidFill>
                  <a:srgbClr val="183C2D"/>
                </a:solidFill>
                <a:latin typeface="Arial"/>
                <a:ea typeface="Arial"/>
                <a:cs typeface="Arial"/>
              </a:defRPr>
            </a:lvl3pPr>
            <a:lvl4pPr>
              <a:defRPr sz="1950" b="1">
                <a:solidFill>
                  <a:srgbClr val="183C2D"/>
                </a:solidFill>
                <a:latin typeface="Arial"/>
                <a:ea typeface="Arial"/>
                <a:cs typeface="Arial"/>
              </a:defRPr>
            </a:lvl4pPr>
            <a:lvl5pPr>
              <a:defRPr sz="1950" b="1">
                <a:solidFill>
                  <a:srgbClr val="183C2D"/>
                </a:solidFill>
                <a:latin typeface="Arial"/>
                <a:ea typeface="Arial"/>
                <a:cs typeface="Arial"/>
              </a:defRPr>
            </a:lvl5pPr>
            <a:lvl6pPr>
              <a:defRPr sz="1950" b="1">
                <a:solidFill>
                  <a:srgbClr val="183C2D"/>
                </a:solidFill>
                <a:latin typeface="Arial"/>
                <a:ea typeface="Arial"/>
                <a:cs typeface="Arial"/>
              </a:defRPr>
            </a:lvl6pPr>
            <a:lvl7pPr>
              <a:defRPr sz="1950" b="1">
                <a:solidFill>
                  <a:srgbClr val="183C2D"/>
                </a:solidFill>
                <a:latin typeface="Arial"/>
                <a:ea typeface="Arial"/>
                <a:cs typeface="Arial"/>
              </a:defRPr>
            </a:lvl7pPr>
            <a:lvl8pPr>
              <a:defRPr sz="1950" b="1">
                <a:solidFill>
                  <a:srgbClr val="183C2D"/>
                </a:solidFill>
                <a:latin typeface="Arial"/>
                <a:ea typeface="Arial"/>
                <a:cs typeface="Arial"/>
              </a:defRPr>
            </a:lvl8pPr>
            <a:lvl9pPr>
              <a:defRPr sz="1950" b="1">
                <a:solidFill>
                  <a:srgbClr val="183C2D"/>
                </a:solidFill>
                <a:latin typeface="Arial"/>
                <a:ea typeface="Arial"/>
                <a:cs typeface="Arial"/>
              </a:defRPr>
            </a:lvl9pPr>
          </a:lstStyle>
          <a:p xmlns:a="http://schemas.openxmlformats.org/drawingml/2006/main">
            <a:pPr>
              <a:defRPr sz="1950" b="1">
                <a:solidFill>
                  <a:srgbClr val="183C2D"/>
                </a:solidFill>
                <a:latin typeface="Arial"/>
                <a:ea typeface="Arial"/>
                <a:cs typeface="Arial"/>
              </a:defRPr>
            </a:pPr>
            <a:r>
              <a:rPr sz="1950" b="1">
                <a:solidFill>
                  <a:srgbClr val="183C2D"/>
                </a:solidFill>
                <a:latin typeface="Arial"/>
                <a:ea typeface="Arial"/>
                <a:cs typeface="Arial"/>
              </a:rPr>
              <a:t>Trash</a:t>
            </a:r>
          </a:p>
        </p:txBody>
      </p:sp>
      <p:sp>
        <p:nvSpPr>
          <p:cNvPr id="16" name="">
            <a:extLst xmlns:a="http://schemas.openxmlformats.org/drawingml/2006/main">
              <a:ext uri="{FF2B5EF4-FFF2-40B4-BE49-F238E27FC236}">
                <a16:creationId xmlns:a16="http://schemas.microsoft.com/office/drawing/2014/main" id="{BC1FE7AD-0BCD-43A2-AFCA-A0EFBEC8BECD}"/>
              </a:ext>
            </a:extLst>
          </p:cNvPr>
          <p:cNvSpPr>
            <a:spLocks xmlns:a="http://schemas.openxmlformats.org/drawingml/2006/main" noGrp="1"/>
          </p:cNvSpPr>
          <p:nvPr/>
        </p:nvSpPr>
        <p:spPr>
          <a:xfrm xmlns:a="http://schemas.openxmlformats.org/drawingml/2006/main">
            <a:off x="685800" y="6124575"/>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75A"/>
                </a:solidFill>
                <a:latin typeface="Arial"/>
                <a:ea typeface="Arial"/>
                <a:cs typeface="Arial"/>
              </a:defRPr>
            </a:defPPr>
            <a:lvl1pPr>
              <a:defRPr sz="1500" b="0">
                <a:solidFill>
                  <a:srgbClr val="54675A"/>
                </a:solidFill>
                <a:latin typeface="Arial"/>
                <a:ea typeface="Arial"/>
                <a:cs typeface="Arial"/>
              </a:defRPr>
            </a:lvl1pPr>
            <a:lvl2pPr>
              <a:defRPr sz="1500" b="0">
                <a:solidFill>
                  <a:srgbClr val="54675A"/>
                </a:solidFill>
                <a:latin typeface="Arial"/>
                <a:ea typeface="Arial"/>
                <a:cs typeface="Arial"/>
              </a:defRPr>
            </a:lvl2pPr>
            <a:lvl3pPr>
              <a:defRPr sz="1500" b="0">
                <a:solidFill>
                  <a:srgbClr val="54675A"/>
                </a:solidFill>
                <a:latin typeface="Arial"/>
                <a:ea typeface="Arial"/>
                <a:cs typeface="Arial"/>
              </a:defRPr>
            </a:lvl3pPr>
            <a:lvl4pPr>
              <a:defRPr sz="1500" b="0">
                <a:solidFill>
                  <a:srgbClr val="54675A"/>
                </a:solidFill>
                <a:latin typeface="Arial"/>
                <a:ea typeface="Arial"/>
                <a:cs typeface="Arial"/>
              </a:defRPr>
            </a:lvl4pPr>
            <a:lvl5pPr>
              <a:defRPr sz="1500" b="0">
                <a:solidFill>
                  <a:srgbClr val="54675A"/>
                </a:solidFill>
                <a:latin typeface="Arial"/>
                <a:ea typeface="Arial"/>
                <a:cs typeface="Arial"/>
              </a:defRPr>
            </a:lvl5pPr>
            <a:lvl6pPr>
              <a:defRPr sz="1500" b="0">
                <a:solidFill>
                  <a:srgbClr val="54675A"/>
                </a:solidFill>
                <a:latin typeface="Arial"/>
                <a:ea typeface="Arial"/>
                <a:cs typeface="Arial"/>
              </a:defRPr>
            </a:lvl6pPr>
            <a:lvl7pPr>
              <a:defRPr sz="1500" b="0">
                <a:solidFill>
                  <a:srgbClr val="54675A"/>
                </a:solidFill>
                <a:latin typeface="Arial"/>
                <a:ea typeface="Arial"/>
                <a:cs typeface="Arial"/>
              </a:defRPr>
            </a:lvl7pPr>
            <a:lvl8pPr>
              <a:defRPr sz="1500" b="0">
                <a:solidFill>
                  <a:srgbClr val="54675A"/>
                </a:solidFill>
                <a:latin typeface="Arial"/>
                <a:ea typeface="Arial"/>
                <a:cs typeface="Arial"/>
              </a:defRPr>
            </a:lvl8pPr>
            <a:lvl9pPr>
              <a:defRPr sz="1500" b="0">
                <a:solidFill>
                  <a:srgbClr val="54675A"/>
                </a:solidFill>
                <a:latin typeface="Arial"/>
                <a:ea typeface="Arial"/>
                <a:cs typeface="Arial"/>
              </a:defRPr>
            </a:lvl9pPr>
          </a:lstStyle>
          <a:p xmlns:a="http://schemas.openxmlformats.org/drawingml/2006/main">
            <a:pPr>
              <a:defRPr sz="1500" b="0">
                <a:solidFill>
                  <a:srgbClr val="54675A"/>
                </a:solidFill>
                <a:latin typeface="Arial"/>
                <a:ea typeface="Arial"/>
                <a:cs typeface="Arial"/>
              </a:defRPr>
            </a:pPr>
            <a:r>
              <a:rPr sz="1500" b="0">
                <a:solidFill>
                  <a:srgbClr val="54675A"/>
                </a:solidFill>
                <a:latin typeface="Arial"/>
                <a:ea typeface="Arial"/>
                <a:cs typeface="Arial"/>
              </a:rPr>
              <a:t>TrashNet: 2,527 original labeled photos by Thung and Yang</a:t>
            </a:r>
          </a:p>
        </p:txBody>
      </p:sp>
    </p:spTree>
    <p:extLst>
      <p:ext uri="{BB962C8B-B14F-4D97-AF65-F5344CB8AC3E}">
        <p14:creationId xmlns:p14="http://schemas.microsoft.com/office/powerpoint/2010/main" val="664513414"/>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3FC660-4905-4E6A-8B06-E2CEA2669902}"/>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Supervised image classification in WasteSort</a:t>
            </a:r>
          </a:p>
        </p:txBody>
      </p:sp>
      <p:sp>
        <p:nvSpPr>
          <p:cNvPr id="2" name="">
            <a:extLst xmlns:a="http://schemas.openxmlformats.org/drawingml/2006/main">
              <a:ext uri="{FF2B5EF4-FFF2-40B4-BE49-F238E27FC236}">
                <a16:creationId xmlns:a16="http://schemas.microsoft.com/office/drawing/2014/main" id="{A2FBA98B-201F-4D41-BACA-95ECDA8C0EAF}"/>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6DA9DFF-BA13-4CF5-A74E-73C95AFFC036}"/>
              </a:ext>
            </a:extLst>
          </p:cNvPr>
          <p:cNvSpPr>
            <a:spLocks xmlns:a="http://schemas.openxmlformats.org/drawingml/2006/main" noGrp="1"/>
          </p:cNvSpPr>
          <p:nvPr/>
        </p:nvSpPr>
        <p:spPr>
          <a:xfrm xmlns:a="http://schemas.openxmlformats.org/drawingml/2006/main">
            <a:off x="685800" y="1952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8714F"/>
                </a:solidFill>
                <a:latin typeface="Arial"/>
                <a:ea typeface="Arial"/>
                <a:cs typeface="Arial"/>
              </a:defRPr>
            </a:defPPr>
            <a:lvl1pPr>
              <a:defRPr sz="2550" b="1">
                <a:solidFill>
                  <a:srgbClr val="28714F"/>
                </a:solidFill>
                <a:latin typeface="Arial"/>
                <a:ea typeface="Arial"/>
                <a:cs typeface="Arial"/>
              </a:defRPr>
            </a:lvl1pPr>
            <a:lvl2pPr>
              <a:defRPr sz="2550" b="1">
                <a:solidFill>
                  <a:srgbClr val="28714F"/>
                </a:solidFill>
                <a:latin typeface="Arial"/>
                <a:ea typeface="Arial"/>
                <a:cs typeface="Arial"/>
              </a:defRPr>
            </a:lvl2pPr>
            <a:lvl3pPr>
              <a:defRPr sz="2550" b="1">
                <a:solidFill>
                  <a:srgbClr val="28714F"/>
                </a:solidFill>
                <a:latin typeface="Arial"/>
                <a:ea typeface="Arial"/>
                <a:cs typeface="Arial"/>
              </a:defRPr>
            </a:lvl3pPr>
            <a:lvl4pPr>
              <a:defRPr sz="2550" b="1">
                <a:solidFill>
                  <a:srgbClr val="28714F"/>
                </a:solidFill>
                <a:latin typeface="Arial"/>
                <a:ea typeface="Arial"/>
                <a:cs typeface="Arial"/>
              </a:defRPr>
            </a:lvl4pPr>
            <a:lvl5pPr>
              <a:defRPr sz="2550" b="1">
                <a:solidFill>
                  <a:srgbClr val="28714F"/>
                </a:solidFill>
                <a:latin typeface="Arial"/>
                <a:ea typeface="Arial"/>
                <a:cs typeface="Arial"/>
              </a:defRPr>
            </a:lvl5pPr>
            <a:lvl6pPr>
              <a:defRPr sz="2550" b="1">
                <a:solidFill>
                  <a:srgbClr val="28714F"/>
                </a:solidFill>
                <a:latin typeface="Arial"/>
                <a:ea typeface="Arial"/>
                <a:cs typeface="Arial"/>
              </a:defRPr>
            </a:lvl6pPr>
            <a:lvl7pPr>
              <a:defRPr sz="2550" b="1">
                <a:solidFill>
                  <a:srgbClr val="28714F"/>
                </a:solidFill>
                <a:latin typeface="Arial"/>
                <a:ea typeface="Arial"/>
                <a:cs typeface="Arial"/>
              </a:defRPr>
            </a:lvl7pPr>
            <a:lvl8pPr>
              <a:defRPr sz="2550" b="1">
                <a:solidFill>
                  <a:srgbClr val="28714F"/>
                </a:solidFill>
                <a:latin typeface="Arial"/>
                <a:ea typeface="Arial"/>
                <a:cs typeface="Arial"/>
              </a:defRPr>
            </a:lvl8pPr>
            <a:lvl9pPr>
              <a:defRPr sz="2550" b="1">
                <a:solidFill>
                  <a:srgbClr val="28714F"/>
                </a:solidFill>
                <a:latin typeface="Arial"/>
                <a:ea typeface="Arial"/>
                <a:cs typeface="Arial"/>
              </a:defRPr>
            </a:lvl9pPr>
          </a:lstStyle>
          <a:p xmlns:a="http://schemas.openxmlformats.org/drawingml/2006/main">
            <a:pPr>
              <a:defRPr sz="2550" b="1">
                <a:solidFill>
                  <a:srgbClr val="28714F"/>
                </a:solidFill>
                <a:latin typeface="Arial"/>
                <a:ea typeface="Arial"/>
                <a:cs typeface="Arial"/>
              </a:defRPr>
            </a:pPr>
            <a:r>
              <a:rPr sz="2550" b="1">
                <a:solidFill>
                  <a:srgbClr val="28714F"/>
                </a:solidFill>
                <a:latin typeface="Arial"/>
                <a:ea typeface="Arial"/>
                <a:cs typeface="Arial"/>
              </a:rPr>
              <a:t>1   Training</a:t>
            </a:r>
          </a:p>
        </p:txBody>
      </p:sp>
      <p:sp>
        <p:nvSpPr>
          <p:cNvPr id="4" name="">
            <a:extLst xmlns:a="http://schemas.openxmlformats.org/drawingml/2006/main">
              <a:ext uri="{FF2B5EF4-FFF2-40B4-BE49-F238E27FC236}">
                <a16:creationId xmlns:a16="http://schemas.microsoft.com/office/drawing/2014/main" id="{54C1CE09-68B0-4C06-94D8-2C04F418811C}"/>
              </a:ext>
            </a:extLst>
          </p:cNvPr>
          <p:cNvSpPr>
            <a:spLocks xmlns:a="http://schemas.openxmlformats.org/drawingml/2006/main" noGrp="1"/>
          </p:cNvSpPr>
          <p:nvPr/>
        </p:nvSpPr>
        <p:spPr>
          <a:xfrm xmlns:a="http://schemas.openxmlformats.org/drawingml/2006/main">
            <a:off x="4381500" y="1952625"/>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Labeled photos teach the model patterns associated with each material.</a:t>
            </a:r>
          </a:p>
        </p:txBody>
      </p:sp>
      <p:sp>
        <p:nvSpPr>
          <p:cNvPr id="5" name="">
            <a:extLst xmlns:a="http://schemas.openxmlformats.org/drawingml/2006/main">
              <a:ext uri="{FF2B5EF4-FFF2-40B4-BE49-F238E27FC236}">
                <a16:creationId xmlns:a16="http://schemas.microsoft.com/office/drawing/2014/main" id="{51CC8162-C026-4DF6-B7B0-333089A1CDAB}"/>
              </a:ext>
            </a:extLst>
          </p:cNvPr>
          <p:cNvSpPr>
            <a:spLocks xmlns:a="http://schemas.openxmlformats.org/drawingml/2006/main" noGrp="1"/>
          </p:cNvSpPr>
          <p:nvPr/>
        </p:nvSpPr>
        <p:spPr>
          <a:xfrm xmlns:a="http://schemas.openxmlformats.org/drawingml/2006/main">
            <a:off x="685800" y="33337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8714F"/>
                </a:solidFill>
                <a:latin typeface="Arial"/>
                <a:ea typeface="Arial"/>
                <a:cs typeface="Arial"/>
              </a:defRPr>
            </a:defPPr>
            <a:lvl1pPr>
              <a:defRPr sz="2550" b="1">
                <a:solidFill>
                  <a:srgbClr val="28714F"/>
                </a:solidFill>
                <a:latin typeface="Arial"/>
                <a:ea typeface="Arial"/>
                <a:cs typeface="Arial"/>
              </a:defRPr>
            </a:lvl1pPr>
            <a:lvl2pPr>
              <a:defRPr sz="2550" b="1">
                <a:solidFill>
                  <a:srgbClr val="28714F"/>
                </a:solidFill>
                <a:latin typeface="Arial"/>
                <a:ea typeface="Arial"/>
                <a:cs typeface="Arial"/>
              </a:defRPr>
            </a:lvl2pPr>
            <a:lvl3pPr>
              <a:defRPr sz="2550" b="1">
                <a:solidFill>
                  <a:srgbClr val="28714F"/>
                </a:solidFill>
                <a:latin typeface="Arial"/>
                <a:ea typeface="Arial"/>
                <a:cs typeface="Arial"/>
              </a:defRPr>
            </a:lvl3pPr>
            <a:lvl4pPr>
              <a:defRPr sz="2550" b="1">
                <a:solidFill>
                  <a:srgbClr val="28714F"/>
                </a:solidFill>
                <a:latin typeface="Arial"/>
                <a:ea typeface="Arial"/>
                <a:cs typeface="Arial"/>
              </a:defRPr>
            </a:lvl4pPr>
            <a:lvl5pPr>
              <a:defRPr sz="2550" b="1">
                <a:solidFill>
                  <a:srgbClr val="28714F"/>
                </a:solidFill>
                <a:latin typeface="Arial"/>
                <a:ea typeface="Arial"/>
                <a:cs typeface="Arial"/>
              </a:defRPr>
            </a:lvl5pPr>
            <a:lvl6pPr>
              <a:defRPr sz="2550" b="1">
                <a:solidFill>
                  <a:srgbClr val="28714F"/>
                </a:solidFill>
                <a:latin typeface="Arial"/>
                <a:ea typeface="Arial"/>
                <a:cs typeface="Arial"/>
              </a:defRPr>
            </a:lvl6pPr>
            <a:lvl7pPr>
              <a:defRPr sz="2550" b="1">
                <a:solidFill>
                  <a:srgbClr val="28714F"/>
                </a:solidFill>
                <a:latin typeface="Arial"/>
                <a:ea typeface="Arial"/>
                <a:cs typeface="Arial"/>
              </a:defRPr>
            </a:lvl7pPr>
            <a:lvl8pPr>
              <a:defRPr sz="2550" b="1">
                <a:solidFill>
                  <a:srgbClr val="28714F"/>
                </a:solidFill>
                <a:latin typeface="Arial"/>
                <a:ea typeface="Arial"/>
                <a:cs typeface="Arial"/>
              </a:defRPr>
            </a:lvl8pPr>
            <a:lvl9pPr>
              <a:defRPr sz="2550" b="1">
                <a:solidFill>
                  <a:srgbClr val="28714F"/>
                </a:solidFill>
                <a:latin typeface="Arial"/>
                <a:ea typeface="Arial"/>
                <a:cs typeface="Arial"/>
              </a:defRPr>
            </a:lvl9pPr>
          </a:lstStyle>
          <a:p xmlns:a="http://schemas.openxmlformats.org/drawingml/2006/main">
            <a:pPr>
              <a:defRPr sz="2550" b="1">
                <a:solidFill>
                  <a:srgbClr val="28714F"/>
                </a:solidFill>
                <a:latin typeface="Arial"/>
                <a:ea typeface="Arial"/>
                <a:cs typeface="Arial"/>
              </a:defRPr>
            </a:pPr>
            <a:r>
              <a:rPr sz="2550" b="1">
                <a:solidFill>
                  <a:srgbClr val="28714F"/>
                </a:solidFill>
                <a:latin typeface="Arial"/>
                <a:ea typeface="Arial"/>
                <a:cs typeface="Arial"/>
              </a:rPr>
              <a:t>2   Evaluation</a:t>
            </a:r>
          </a:p>
        </p:txBody>
      </p:sp>
      <p:sp>
        <p:nvSpPr>
          <p:cNvPr id="6" name="">
            <a:extLst xmlns:a="http://schemas.openxmlformats.org/drawingml/2006/main">
              <a:ext uri="{FF2B5EF4-FFF2-40B4-BE49-F238E27FC236}">
                <a16:creationId xmlns:a16="http://schemas.microsoft.com/office/drawing/2014/main" id="{3C119D8C-B41D-4321-BDF6-EC3B3A7143BA}"/>
              </a:ext>
            </a:extLst>
          </p:cNvPr>
          <p:cNvSpPr>
            <a:spLocks xmlns:a="http://schemas.openxmlformats.org/drawingml/2006/main" noGrp="1"/>
          </p:cNvSpPr>
          <p:nvPr/>
        </p:nvSpPr>
        <p:spPr>
          <a:xfrm xmlns:a="http://schemas.openxmlformats.org/drawingml/2006/main">
            <a:off x="4381500" y="3333750"/>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Separate images help check whether the model can classify unseen examples.</a:t>
            </a:r>
          </a:p>
        </p:txBody>
      </p:sp>
      <p:sp>
        <p:nvSpPr>
          <p:cNvPr id="7" name="">
            <a:extLst xmlns:a="http://schemas.openxmlformats.org/drawingml/2006/main">
              <a:ext uri="{FF2B5EF4-FFF2-40B4-BE49-F238E27FC236}">
                <a16:creationId xmlns:a16="http://schemas.microsoft.com/office/drawing/2014/main" id="{F283BF8E-76A7-49AE-98D7-B0344A27C6D8}"/>
              </a:ext>
            </a:extLst>
          </p:cNvPr>
          <p:cNvSpPr>
            <a:spLocks xmlns:a="http://schemas.openxmlformats.org/drawingml/2006/main" noGrp="1"/>
          </p:cNvSpPr>
          <p:nvPr/>
        </p:nvSpPr>
        <p:spPr>
          <a:xfrm xmlns:a="http://schemas.openxmlformats.org/drawingml/2006/main">
            <a:off x="685800" y="47148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8714F"/>
                </a:solidFill>
                <a:latin typeface="Arial"/>
                <a:ea typeface="Arial"/>
                <a:cs typeface="Arial"/>
              </a:defRPr>
            </a:defPPr>
            <a:lvl1pPr>
              <a:defRPr sz="2550" b="1">
                <a:solidFill>
                  <a:srgbClr val="28714F"/>
                </a:solidFill>
                <a:latin typeface="Arial"/>
                <a:ea typeface="Arial"/>
                <a:cs typeface="Arial"/>
              </a:defRPr>
            </a:lvl1pPr>
            <a:lvl2pPr>
              <a:defRPr sz="2550" b="1">
                <a:solidFill>
                  <a:srgbClr val="28714F"/>
                </a:solidFill>
                <a:latin typeface="Arial"/>
                <a:ea typeface="Arial"/>
                <a:cs typeface="Arial"/>
              </a:defRPr>
            </a:lvl2pPr>
            <a:lvl3pPr>
              <a:defRPr sz="2550" b="1">
                <a:solidFill>
                  <a:srgbClr val="28714F"/>
                </a:solidFill>
                <a:latin typeface="Arial"/>
                <a:ea typeface="Arial"/>
                <a:cs typeface="Arial"/>
              </a:defRPr>
            </a:lvl3pPr>
            <a:lvl4pPr>
              <a:defRPr sz="2550" b="1">
                <a:solidFill>
                  <a:srgbClr val="28714F"/>
                </a:solidFill>
                <a:latin typeface="Arial"/>
                <a:ea typeface="Arial"/>
                <a:cs typeface="Arial"/>
              </a:defRPr>
            </a:lvl4pPr>
            <a:lvl5pPr>
              <a:defRPr sz="2550" b="1">
                <a:solidFill>
                  <a:srgbClr val="28714F"/>
                </a:solidFill>
                <a:latin typeface="Arial"/>
                <a:ea typeface="Arial"/>
                <a:cs typeface="Arial"/>
              </a:defRPr>
            </a:lvl5pPr>
            <a:lvl6pPr>
              <a:defRPr sz="2550" b="1">
                <a:solidFill>
                  <a:srgbClr val="28714F"/>
                </a:solidFill>
                <a:latin typeface="Arial"/>
                <a:ea typeface="Arial"/>
                <a:cs typeface="Arial"/>
              </a:defRPr>
            </a:lvl6pPr>
            <a:lvl7pPr>
              <a:defRPr sz="2550" b="1">
                <a:solidFill>
                  <a:srgbClr val="28714F"/>
                </a:solidFill>
                <a:latin typeface="Arial"/>
                <a:ea typeface="Arial"/>
                <a:cs typeface="Arial"/>
              </a:defRPr>
            </a:lvl7pPr>
            <a:lvl8pPr>
              <a:defRPr sz="2550" b="1">
                <a:solidFill>
                  <a:srgbClr val="28714F"/>
                </a:solidFill>
                <a:latin typeface="Arial"/>
                <a:ea typeface="Arial"/>
                <a:cs typeface="Arial"/>
              </a:defRPr>
            </a:lvl8pPr>
            <a:lvl9pPr>
              <a:defRPr sz="2550" b="1">
                <a:solidFill>
                  <a:srgbClr val="28714F"/>
                </a:solidFill>
                <a:latin typeface="Arial"/>
                <a:ea typeface="Arial"/>
                <a:cs typeface="Arial"/>
              </a:defRPr>
            </a:lvl9pPr>
          </a:lstStyle>
          <a:p xmlns:a="http://schemas.openxmlformats.org/drawingml/2006/main">
            <a:pPr>
              <a:defRPr sz="2550" b="1">
                <a:solidFill>
                  <a:srgbClr val="28714F"/>
                </a:solidFill>
                <a:latin typeface="Arial"/>
                <a:ea typeface="Arial"/>
                <a:cs typeface="Arial"/>
              </a:defRPr>
            </a:pPr>
            <a:r>
              <a:rPr sz="2550" b="1">
                <a:solidFill>
                  <a:srgbClr val="28714F"/>
                </a:solidFill>
                <a:latin typeface="Arial"/>
                <a:ea typeface="Arial"/>
                <a:cs typeface="Arial"/>
              </a:rPr>
              <a:t>3   Prediction</a:t>
            </a:r>
          </a:p>
        </p:txBody>
      </p:sp>
      <p:sp>
        <p:nvSpPr>
          <p:cNvPr id="8" name="">
            <a:extLst xmlns:a="http://schemas.openxmlformats.org/drawingml/2006/main">
              <a:ext uri="{FF2B5EF4-FFF2-40B4-BE49-F238E27FC236}">
                <a16:creationId xmlns:a16="http://schemas.microsoft.com/office/drawing/2014/main" id="{D10214E0-BA18-47B4-BC43-915C123D14A9}"/>
              </a:ext>
            </a:extLst>
          </p:cNvPr>
          <p:cNvSpPr>
            <a:spLocks xmlns:a="http://schemas.openxmlformats.org/drawingml/2006/main" noGrp="1"/>
          </p:cNvSpPr>
          <p:nvPr/>
        </p:nvSpPr>
        <p:spPr>
          <a:xfrm xmlns:a="http://schemas.openxmlformats.org/drawingml/2006/main">
            <a:off x="4381500" y="4714875"/>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A saved model predicts a material for a new uploaded photo.</a:t>
            </a:r>
          </a:p>
        </p:txBody>
      </p:sp>
    </p:spTree>
    <p:extLst>
      <p:ext uri="{BB962C8B-B14F-4D97-AF65-F5344CB8AC3E}">
        <p14:creationId xmlns:p14="http://schemas.microsoft.com/office/powerpoint/2010/main" val="1481154280"/>
      </p:ext>
    </p:extLst>
  </p:cSld>
</p:sld>
</file>

<file path=ppt/slides/slide7.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05023F-1112-427D-98A1-860BCCCCDAC3}"/>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3C2D"/>
                </a:solidFill>
                <a:latin typeface="Arial"/>
                <a:ea typeface="Arial"/>
                <a:cs typeface="Arial"/>
              </a:defRPr>
            </a:defPPr>
            <a:lvl1pPr>
              <a:defRPr sz="3300" b="1">
                <a:solidFill>
                  <a:srgbClr val="183C2D"/>
                </a:solidFill>
                <a:latin typeface="Arial"/>
                <a:ea typeface="Arial"/>
                <a:cs typeface="Arial"/>
              </a:defRPr>
            </a:lvl1pPr>
            <a:lvl2pPr>
              <a:defRPr sz="3300" b="1">
                <a:solidFill>
                  <a:srgbClr val="183C2D"/>
                </a:solidFill>
                <a:latin typeface="Arial"/>
                <a:ea typeface="Arial"/>
                <a:cs typeface="Arial"/>
              </a:defRPr>
            </a:lvl2pPr>
            <a:lvl3pPr>
              <a:defRPr sz="3300" b="1">
                <a:solidFill>
                  <a:srgbClr val="183C2D"/>
                </a:solidFill>
                <a:latin typeface="Arial"/>
                <a:ea typeface="Arial"/>
                <a:cs typeface="Arial"/>
              </a:defRPr>
            </a:lvl3pPr>
            <a:lvl4pPr>
              <a:defRPr sz="3300" b="1">
                <a:solidFill>
                  <a:srgbClr val="183C2D"/>
                </a:solidFill>
                <a:latin typeface="Arial"/>
                <a:ea typeface="Arial"/>
                <a:cs typeface="Arial"/>
              </a:defRPr>
            </a:lvl4pPr>
            <a:lvl5pPr>
              <a:defRPr sz="3300" b="1">
                <a:solidFill>
                  <a:srgbClr val="183C2D"/>
                </a:solidFill>
                <a:latin typeface="Arial"/>
                <a:ea typeface="Arial"/>
                <a:cs typeface="Arial"/>
              </a:defRPr>
            </a:lvl5pPr>
            <a:lvl6pPr>
              <a:defRPr sz="3300" b="1">
                <a:solidFill>
                  <a:srgbClr val="183C2D"/>
                </a:solidFill>
                <a:latin typeface="Arial"/>
                <a:ea typeface="Arial"/>
                <a:cs typeface="Arial"/>
              </a:defRPr>
            </a:lvl6pPr>
            <a:lvl7pPr>
              <a:defRPr sz="3300" b="1">
                <a:solidFill>
                  <a:srgbClr val="183C2D"/>
                </a:solidFill>
                <a:latin typeface="Arial"/>
                <a:ea typeface="Arial"/>
                <a:cs typeface="Arial"/>
              </a:defRPr>
            </a:lvl7pPr>
            <a:lvl8pPr>
              <a:defRPr sz="3300" b="1">
                <a:solidFill>
                  <a:srgbClr val="183C2D"/>
                </a:solidFill>
                <a:latin typeface="Arial"/>
                <a:ea typeface="Arial"/>
                <a:cs typeface="Arial"/>
              </a:defRPr>
            </a:lvl8pPr>
            <a:lvl9pPr>
              <a:defRPr sz="3300" b="1">
                <a:solidFill>
                  <a:srgbClr val="183C2D"/>
                </a:solidFill>
                <a:latin typeface="Arial"/>
                <a:ea typeface="Arial"/>
                <a:cs typeface="Arial"/>
              </a:defRPr>
            </a:lvl9pPr>
          </a:lstStyle>
          <a:p xmlns:a="http://schemas.openxmlformats.org/drawingml/2006/main">
            <a:pPr>
              <a:defRPr sz="3300" b="1">
                <a:solidFill>
                  <a:srgbClr val="183C2D"/>
                </a:solidFill>
                <a:latin typeface="Arial"/>
                <a:ea typeface="Arial"/>
                <a:cs typeface="Arial"/>
              </a:defRPr>
            </a:pPr>
            <a:r>
              <a:rPr sz="3300" b="1">
                <a:solidFill>
                  <a:srgbClr val="183C2D"/>
                </a:solidFill>
                <a:latin typeface="Arial"/>
                <a:ea typeface="Arial"/>
                <a:cs typeface="Arial"/>
              </a:rPr>
              <a:t>What WasteSort can support</a:t>
            </a:r>
          </a:p>
        </p:txBody>
      </p:sp>
      <p:sp>
        <p:nvSpPr>
          <p:cNvPr id="2" name="">
            <a:extLst xmlns:a="http://schemas.openxmlformats.org/drawingml/2006/main">
              <a:ext uri="{FF2B5EF4-FFF2-40B4-BE49-F238E27FC236}">
                <a16:creationId xmlns:a16="http://schemas.microsoft.com/office/drawing/2014/main" id="{D4459087-AE5B-4CED-A001-394E9576DFFA}"/>
              </a:ext>
            </a:extLst>
          </p:cNvPr>
          <p:cNvSpPr>
            <a:spLocks xmlns:a="http://schemas.openxmlformats.org/drawingml/2006/main" noGrp="1"/>
          </p:cNvSpPr>
          <p:nvPr/>
        </p:nvSpPr>
        <p:spPr>
          <a:xfrm xmlns:a="http://schemas.openxmlformats.org/drawingml/2006/main">
            <a:off x="10972800" y="63055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4675A"/>
                </a:solidFill>
                <a:latin typeface="Arial"/>
                <a:ea typeface="Arial"/>
                <a:cs typeface="Arial"/>
              </a:defRPr>
            </a:defPPr>
            <a:lvl1pPr>
              <a:defRPr sz="1350" b="0">
                <a:solidFill>
                  <a:srgbClr val="54675A"/>
                </a:solidFill>
                <a:latin typeface="Arial"/>
                <a:ea typeface="Arial"/>
                <a:cs typeface="Arial"/>
              </a:defRPr>
            </a:lvl1pPr>
            <a:lvl2pPr>
              <a:defRPr sz="1350" b="0">
                <a:solidFill>
                  <a:srgbClr val="54675A"/>
                </a:solidFill>
                <a:latin typeface="Arial"/>
                <a:ea typeface="Arial"/>
                <a:cs typeface="Arial"/>
              </a:defRPr>
            </a:lvl2pPr>
            <a:lvl3pPr>
              <a:defRPr sz="1350" b="0">
                <a:solidFill>
                  <a:srgbClr val="54675A"/>
                </a:solidFill>
                <a:latin typeface="Arial"/>
                <a:ea typeface="Arial"/>
                <a:cs typeface="Arial"/>
              </a:defRPr>
            </a:lvl3pPr>
            <a:lvl4pPr>
              <a:defRPr sz="1350" b="0">
                <a:solidFill>
                  <a:srgbClr val="54675A"/>
                </a:solidFill>
                <a:latin typeface="Arial"/>
                <a:ea typeface="Arial"/>
                <a:cs typeface="Arial"/>
              </a:defRPr>
            </a:lvl4pPr>
            <a:lvl5pPr>
              <a:defRPr sz="1350" b="0">
                <a:solidFill>
                  <a:srgbClr val="54675A"/>
                </a:solidFill>
                <a:latin typeface="Arial"/>
                <a:ea typeface="Arial"/>
                <a:cs typeface="Arial"/>
              </a:defRPr>
            </a:lvl5pPr>
            <a:lvl6pPr>
              <a:defRPr sz="1350" b="0">
                <a:solidFill>
                  <a:srgbClr val="54675A"/>
                </a:solidFill>
                <a:latin typeface="Arial"/>
                <a:ea typeface="Arial"/>
                <a:cs typeface="Arial"/>
              </a:defRPr>
            </a:lvl6pPr>
            <a:lvl7pPr>
              <a:defRPr sz="1350" b="0">
                <a:solidFill>
                  <a:srgbClr val="54675A"/>
                </a:solidFill>
                <a:latin typeface="Arial"/>
                <a:ea typeface="Arial"/>
                <a:cs typeface="Arial"/>
              </a:defRPr>
            </a:lvl7pPr>
            <a:lvl8pPr>
              <a:defRPr sz="1350" b="0">
                <a:solidFill>
                  <a:srgbClr val="54675A"/>
                </a:solidFill>
                <a:latin typeface="Arial"/>
                <a:ea typeface="Arial"/>
                <a:cs typeface="Arial"/>
              </a:defRPr>
            </a:lvl8pPr>
            <a:lvl9pPr>
              <a:defRPr sz="1350" b="0">
                <a:solidFill>
                  <a:srgbClr val="54675A"/>
                </a:solidFill>
                <a:latin typeface="Arial"/>
                <a:ea typeface="Arial"/>
                <a:cs typeface="Arial"/>
              </a:defRPr>
            </a:lvl9pPr>
          </a:lstStyle>
          <a:p xmlns:a="http://schemas.openxmlformats.org/drawingml/2006/main">
            <a:pPr>
              <a:defRPr sz="1350" b="0">
                <a:solidFill>
                  <a:srgbClr val="54675A"/>
                </a:solidFill>
                <a:latin typeface="Arial"/>
                <a:ea typeface="Arial"/>
                <a:cs typeface="Arial"/>
              </a:defRPr>
            </a:pPr>
            <a:r>
              <a:rPr sz="1350" b="0">
                <a:solidFill>
                  <a:srgbClr val="54675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FF11359-2EBC-4F8F-80C8-B4DE952574B7}"/>
              </a:ext>
            </a:extLst>
          </p:cNvPr>
          <p:cNvSpPr>
            <a:spLocks xmlns:a="http://schemas.openxmlformats.org/drawingml/2006/main" noGrp="1"/>
          </p:cNvSpPr>
          <p:nvPr/>
        </p:nvSpPr>
        <p:spPr>
          <a:xfrm xmlns:a="http://schemas.openxmlformats.org/drawingml/2006/main">
            <a:off x="685800" y="19526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8714F"/>
                </a:solidFill>
                <a:latin typeface="Arial"/>
                <a:ea typeface="Arial"/>
                <a:cs typeface="Arial"/>
              </a:defRPr>
            </a:defPPr>
            <a:lvl1pPr>
              <a:defRPr sz="2850" b="1">
                <a:solidFill>
                  <a:srgbClr val="28714F"/>
                </a:solidFill>
                <a:latin typeface="Arial"/>
                <a:ea typeface="Arial"/>
                <a:cs typeface="Arial"/>
              </a:defRPr>
            </a:lvl1pPr>
            <a:lvl2pPr>
              <a:defRPr sz="2850" b="1">
                <a:solidFill>
                  <a:srgbClr val="28714F"/>
                </a:solidFill>
                <a:latin typeface="Arial"/>
                <a:ea typeface="Arial"/>
                <a:cs typeface="Arial"/>
              </a:defRPr>
            </a:lvl2pPr>
            <a:lvl3pPr>
              <a:defRPr sz="2850" b="1">
                <a:solidFill>
                  <a:srgbClr val="28714F"/>
                </a:solidFill>
                <a:latin typeface="Arial"/>
                <a:ea typeface="Arial"/>
                <a:cs typeface="Arial"/>
              </a:defRPr>
            </a:lvl3pPr>
            <a:lvl4pPr>
              <a:defRPr sz="2850" b="1">
                <a:solidFill>
                  <a:srgbClr val="28714F"/>
                </a:solidFill>
                <a:latin typeface="Arial"/>
                <a:ea typeface="Arial"/>
                <a:cs typeface="Arial"/>
              </a:defRPr>
            </a:lvl4pPr>
            <a:lvl5pPr>
              <a:defRPr sz="2850" b="1">
                <a:solidFill>
                  <a:srgbClr val="28714F"/>
                </a:solidFill>
                <a:latin typeface="Arial"/>
                <a:ea typeface="Arial"/>
                <a:cs typeface="Arial"/>
              </a:defRPr>
            </a:lvl5pPr>
            <a:lvl6pPr>
              <a:defRPr sz="2850" b="1">
                <a:solidFill>
                  <a:srgbClr val="28714F"/>
                </a:solidFill>
                <a:latin typeface="Arial"/>
                <a:ea typeface="Arial"/>
                <a:cs typeface="Arial"/>
              </a:defRPr>
            </a:lvl6pPr>
            <a:lvl7pPr>
              <a:defRPr sz="2850" b="1">
                <a:solidFill>
                  <a:srgbClr val="28714F"/>
                </a:solidFill>
                <a:latin typeface="Arial"/>
                <a:ea typeface="Arial"/>
                <a:cs typeface="Arial"/>
              </a:defRPr>
            </a:lvl7pPr>
            <a:lvl8pPr>
              <a:defRPr sz="2850" b="1">
                <a:solidFill>
                  <a:srgbClr val="28714F"/>
                </a:solidFill>
                <a:latin typeface="Arial"/>
                <a:ea typeface="Arial"/>
                <a:cs typeface="Arial"/>
              </a:defRPr>
            </a:lvl8pPr>
            <a:lvl9pPr>
              <a:defRPr sz="2850" b="1">
                <a:solidFill>
                  <a:srgbClr val="28714F"/>
                </a:solidFill>
                <a:latin typeface="Arial"/>
                <a:ea typeface="Arial"/>
                <a:cs typeface="Arial"/>
              </a:defRPr>
            </a:lvl9pPr>
          </a:lstStyle>
          <a:p xmlns:a="http://schemas.openxmlformats.org/drawingml/2006/main">
            <a:pPr>
              <a:defRPr sz="2850" b="1">
                <a:solidFill>
                  <a:srgbClr val="28714F"/>
                </a:solidFill>
                <a:latin typeface="Arial"/>
                <a:ea typeface="Arial"/>
                <a:cs typeface="Arial"/>
              </a:defRPr>
            </a:pPr>
            <a:r>
              <a:rPr sz="2850" b="1">
                <a:solidFill>
                  <a:srgbClr val="28714F"/>
                </a:solidFill>
                <a:latin typeface="Arial"/>
                <a:ea typeface="Arial"/>
                <a:cs typeface="Arial"/>
              </a:rPr>
              <a:t>Recognize material appearance</a:t>
            </a:r>
          </a:p>
        </p:txBody>
      </p:sp>
      <p:sp>
        <p:nvSpPr>
          <p:cNvPr id="4" name="">
            <a:extLst xmlns:a="http://schemas.openxmlformats.org/drawingml/2006/main">
              <a:ext uri="{FF2B5EF4-FFF2-40B4-BE49-F238E27FC236}">
                <a16:creationId xmlns:a16="http://schemas.microsoft.com/office/drawing/2014/main" id="{21FCE899-2872-4638-9E78-26F893C99B73}"/>
              </a:ext>
            </a:extLst>
          </p:cNvPr>
          <p:cNvSpPr>
            <a:spLocks xmlns:a="http://schemas.openxmlformats.org/drawingml/2006/main" noGrp="1"/>
          </p:cNvSpPr>
          <p:nvPr/>
        </p:nvSpPr>
        <p:spPr>
          <a:xfrm xmlns:a="http://schemas.openxmlformats.org/drawingml/2006/main">
            <a:off x="685800" y="27241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A supervised model learns from labeled examples and predicts a category.</a:t>
            </a:r>
          </a:p>
        </p:txBody>
      </p:sp>
      <p:sp>
        <p:nvSpPr>
          <p:cNvPr id="5" name="">
            <a:extLst xmlns:a="http://schemas.openxmlformats.org/drawingml/2006/main">
              <a:ext uri="{FF2B5EF4-FFF2-40B4-BE49-F238E27FC236}">
                <a16:creationId xmlns:a16="http://schemas.microsoft.com/office/drawing/2014/main" id="{55C20000-5FE1-498B-AF13-28573117FE7A}"/>
              </a:ext>
            </a:extLst>
          </p:cNvPr>
          <p:cNvSpPr>
            <a:spLocks xmlns:a="http://schemas.openxmlformats.org/drawingml/2006/main" noGrp="1"/>
          </p:cNvSpPr>
          <p:nvPr/>
        </p:nvSpPr>
        <p:spPr>
          <a:xfrm xmlns:a="http://schemas.openxmlformats.org/drawingml/2006/main">
            <a:off x="685800" y="4191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8714F"/>
                </a:solidFill>
                <a:latin typeface="Arial"/>
                <a:ea typeface="Arial"/>
                <a:cs typeface="Arial"/>
              </a:defRPr>
            </a:defPPr>
            <a:lvl1pPr>
              <a:defRPr sz="2850" b="1">
                <a:solidFill>
                  <a:srgbClr val="28714F"/>
                </a:solidFill>
                <a:latin typeface="Arial"/>
                <a:ea typeface="Arial"/>
                <a:cs typeface="Arial"/>
              </a:defRPr>
            </a:lvl1pPr>
            <a:lvl2pPr>
              <a:defRPr sz="2850" b="1">
                <a:solidFill>
                  <a:srgbClr val="28714F"/>
                </a:solidFill>
                <a:latin typeface="Arial"/>
                <a:ea typeface="Arial"/>
                <a:cs typeface="Arial"/>
              </a:defRPr>
            </a:lvl2pPr>
            <a:lvl3pPr>
              <a:defRPr sz="2850" b="1">
                <a:solidFill>
                  <a:srgbClr val="28714F"/>
                </a:solidFill>
                <a:latin typeface="Arial"/>
                <a:ea typeface="Arial"/>
                <a:cs typeface="Arial"/>
              </a:defRPr>
            </a:lvl3pPr>
            <a:lvl4pPr>
              <a:defRPr sz="2850" b="1">
                <a:solidFill>
                  <a:srgbClr val="28714F"/>
                </a:solidFill>
                <a:latin typeface="Arial"/>
                <a:ea typeface="Arial"/>
                <a:cs typeface="Arial"/>
              </a:defRPr>
            </a:lvl4pPr>
            <a:lvl5pPr>
              <a:defRPr sz="2850" b="1">
                <a:solidFill>
                  <a:srgbClr val="28714F"/>
                </a:solidFill>
                <a:latin typeface="Arial"/>
                <a:ea typeface="Arial"/>
                <a:cs typeface="Arial"/>
              </a:defRPr>
            </a:lvl5pPr>
            <a:lvl6pPr>
              <a:defRPr sz="2850" b="1">
                <a:solidFill>
                  <a:srgbClr val="28714F"/>
                </a:solidFill>
                <a:latin typeface="Arial"/>
                <a:ea typeface="Arial"/>
                <a:cs typeface="Arial"/>
              </a:defRPr>
            </a:lvl6pPr>
            <a:lvl7pPr>
              <a:defRPr sz="2850" b="1">
                <a:solidFill>
                  <a:srgbClr val="28714F"/>
                </a:solidFill>
                <a:latin typeface="Arial"/>
                <a:ea typeface="Arial"/>
                <a:cs typeface="Arial"/>
              </a:defRPr>
            </a:lvl7pPr>
            <a:lvl8pPr>
              <a:defRPr sz="2850" b="1">
                <a:solidFill>
                  <a:srgbClr val="28714F"/>
                </a:solidFill>
                <a:latin typeface="Arial"/>
                <a:ea typeface="Arial"/>
                <a:cs typeface="Arial"/>
              </a:defRPr>
            </a:lvl8pPr>
            <a:lvl9pPr>
              <a:defRPr sz="2850" b="1">
                <a:solidFill>
                  <a:srgbClr val="28714F"/>
                </a:solidFill>
                <a:latin typeface="Arial"/>
                <a:ea typeface="Arial"/>
                <a:cs typeface="Arial"/>
              </a:defRPr>
            </a:lvl9pPr>
          </a:lstStyle>
          <a:p xmlns:a="http://schemas.openxmlformats.org/drawingml/2006/main">
            <a:pPr>
              <a:defRPr sz="2850" b="1">
                <a:solidFill>
                  <a:srgbClr val="28714F"/>
                </a:solidFill>
                <a:latin typeface="Arial"/>
                <a:ea typeface="Arial"/>
                <a:cs typeface="Arial"/>
              </a:defRPr>
            </a:pPr>
            <a:r>
              <a:rPr sz="2850" b="1">
                <a:solidFill>
                  <a:srgbClr val="28714F"/>
                </a:solidFill>
                <a:latin typeface="Arial"/>
                <a:ea typeface="Arial"/>
                <a:cs typeface="Arial"/>
              </a:rPr>
              <a:t>Use the result with care</a:t>
            </a:r>
          </a:p>
        </p:txBody>
      </p:sp>
      <p:sp>
        <p:nvSpPr>
          <p:cNvPr id="6" name="">
            <a:extLst xmlns:a="http://schemas.openxmlformats.org/drawingml/2006/main">
              <a:ext uri="{FF2B5EF4-FFF2-40B4-BE49-F238E27FC236}">
                <a16:creationId xmlns:a16="http://schemas.microsoft.com/office/drawing/2014/main" id="{C607755D-637B-4CDE-B6D0-284EE2F2E984}"/>
              </a:ext>
            </a:extLst>
          </p:cNvPr>
          <p:cNvSpPr>
            <a:spLocks xmlns:a="http://schemas.openxmlformats.org/drawingml/2006/main" noGrp="1"/>
          </p:cNvSpPr>
          <p:nvPr/>
        </p:nvSpPr>
        <p:spPr>
          <a:xfrm xmlns:a="http://schemas.openxmlformats.org/drawingml/2006/main">
            <a:off x="685800" y="49625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Predictions can be wrong. Campus bin guidance requires verified local rules.</a:t>
            </a:r>
          </a:p>
        </p:txBody>
      </p:sp>
    </p:spTree>
    <p:extLst>
      <p:ext uri="{BB962C8B-B14F-4D97-AF65-F5344CB8AC3E}">
        <p14:creationId xmlns:p14="http://schemas.microsoft.com/office/powerpoint/2010/main" val="1888121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2026-10-20T14:36:47.1020000Z</dcterms:created>
  <dcterms:modified xsi:type="dcterms:W3CDTF">2026-10-20T14:36:47.1020000Z</dcterms:modified>
</coreProperties>
</file>