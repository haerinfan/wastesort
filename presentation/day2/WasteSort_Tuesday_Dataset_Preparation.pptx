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85b04eda734941" /><Relationship Type="http://schemas.openxmlformats.org/officeDocument/2006/relationships/extended-properties" Target="/docProps/app.xml" Id="R10ea83aea8b14f22" /><Relationship Type="http://schemas.openxmlformats.org/officeDocument/2006/relationships/officeDocument" Target="/ppt/presentation.xml" Id="R4292406a0f434b64" /></Relationships>
</file>

<file path=ppt/presentation.xml><?xml version="1.0" encoding="utf-8"?>
<p:presentation xmlns:p="http://schemas.openxmlformats.org/presentationml/2006/main">
  <p:sldMasterIdLst>
    <p:sldMasterId xmlns:r="http://schemas.openxmlformats.org/officeDocument/2006/relationships" id="2147483648" r:id="R7d28b66b9f794122"/>
  </p:sldMasterIdLst>
  <p:notesMasterIdLst>
    <p:notesMasterId xmlns:r="http://schemas.openxmlformats.org/officeDocument/2006/relationships" r:id="Rca251eb3b3d64116"/>
  </p:notesMasterIdLst>
  <p:sldIdLst>
    <p:sldId xmlns:r="http://schemas.openxmlformats.org/officeDocument/2006/relationships" id="256" r:id="Re59a0d5195204619"/>
    <p:sldId xmlns:r="http://schemas.openxmlformats.org/officeDocument/2006/relationships" id="257" r:id="Ra0e62cc7af6348c7"/>
    <p:sldId xmlns:r="http://schemas.openxmlformats.org/officeDocument/2006/relationships" id="258" r:id="R66f2b1ac1dc54b90"/>
    <p:sldId xmlns:r="http://schemas.openxmlformats.org/officeDocument/2006/relationships" id="259" r:id="R96b6eac2c2a24c0d"/>
    <p:sldId xmlns:r="http://schemas.openxmlformats.org/officeDocument/2006/relationships" id="260" r:id="R7f102863e571460b"/>
    <p:sldId xmlns:r="http://schemas.openxmlformats.org/officeDocument/2006/relationships" id="261" r:id="R9c6e6bb6a6cd40d6"/>
    <p:sldId xmlns:r="http://schemas.openxmlformats.org/officeDocument/2006/relationships" id="262" r:id="R20bef8cacea7427a"/>
    <p:sldId xmlns:r="http://schemas.openxmlformats.org/officeDocument/2006/relationships" id="263" r:id="Rbf66fff1bbe64c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0b6eda3d894b33" /><Relationship Type="http://schemas.openxmlformats.org/officeDocument/2006/relationships/slideMaster" Target="/ppt/slideMasters/slideMaster1.xml" Id="R7d28b66b9f794122" /><Relationship Type="http://schemas.openxmlformats.org/officeDocument/2006/relationships/notesMaster" Target="/ppt/notesMasters/notesMaster1.xml" Id="Rca251eb3b3d64116" /><Relationship Type="http://schemas.openxmlformats.org/officeDocument/2006/relationships/presProps" Target="/ppt/presProps.xml" Id="R3358b42ab1a845fb" /><Relationship Type="http://schemas.openxmlformats.org/officeDocument/2006/relationships/tableStyles" Target="/ppt/tableStyles.xml" Id="R8123062cf7b34c7c" /><Relationship Type="http://schemas.openxmlformats.org/officeDocument/2006/relationships/slide" Target="/ppt/slides/slide1.xml" Id="Re59a0d5195204619" /><Relationship Type="http://schemas.openxmlformats.org/officeDocument/2006/relationships/slide" Target="/ppt/slides/slide2.xml" Id="Ra0e62cc7af6348c7" /><Relationship Type="http://schemas.openxmlformats.org/officeDocument/2006/relationships/slide" Target="/ppt/slides/slide3.xml" Id="R66f2b1ac1dc54b90" /><Relationship Type="http://schemas.openxmlformats.org/officeDocument/2006/relationships/slide" Target="/ppt/slides/slide4.xml" Id="R96b6eac2c2a24c0d" /><Relationship Type="http://schemas.openxmlformats.org/officeDocument/2006/relationships/slide" Target="/ppt/slides/slide5.xml" Id="R7f102863e571460b" /><Relationship Type="http://schemas.openxmlformats.org/officeDocument/2006/relationships/slide" Target="/ppt/slides/slide6.xml" Id="R9c6e6bb6a6cd40d6" /><Relationship Type="http://schemas.openxmlformats.org/officeDocument/2006/relationships/slide" Target="/ppt/slides/slide7.xml" Id="R20bef8cacea7427a" /><Relationship Type="http://schemas.openxmlformats.org/officeDocument/2006/relationships/slide" Target="/ppt/slides/slide8.xml" Id="Rbf66fff1bbe64c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177dfe6c594d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b51b75a03c463e" /><Relationship Type="http://schemas.openxmlformats.org/officeDocument/2006/relationships/notesMaster" Target="/ppt/notesMasters/notesMaster1.xml" Id="Rfd57659bfd2e4b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11ea7f7cc445c0" /><Relationship Type="http://schemas.openxmlformats.org/officeDocument/2006/relationships/notesMaster" Target="/ppt/notesMasters/notesMaster1.xml" Id="Rd827e11ccbd043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a6fcf6ad254f26" /><Relationship Type="http://schemas.openxmlformats.org/officeDocument/2006/relationships/notesMaster" Target="/ppt/notesMasters/notesMaster1.xml" Id="R725f5ee94cef4b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c7177406fe401e" /><Relationship Type="http://schemas.openxmlformats.org/officeDocument/2006/relationships/notesMaster" Target="/ppt/notesMasters/notesMaster1.xml" Id="Rb26d6bae1a5b4e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50d7d45dbf4562" /><Relationship Type="http://schemas.openxmlformats.org/officeDocument/2006/relationships/notesMaster" Target="/ppt/notesMasters/notesMaster1.xml" Id="Rf11d31ba664142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b78b92a3384751" /><Relationship Type="http://schemas.openxmlformats.org/officeDocument/2006/relationships/notesMaster" Target="/ppt/notesMasters/notesMaster1.xml" Id="R5d46026484b747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0a3d6278fe4f3f" /><Relationship Type="http://schemas.openxmlformats.org/officeDocument/2006/relationships/notesMaster" Target="/ppt/notesMasters/notesMaster1.xml" Id="R4fb853066fe64a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86ab1b199b4c5e" /><Relationship Type="http://schemas.openxmlformats.org/officeDocument/2006/relationships/notesMaster" Target="/ppt/notesMasters/notesMaster1.xml" Id="R4ad7be81c55f4b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Goal Diggers. For Tuesday, our task is to prepare the dataset before model training. We load image paths and labels in Python and Pandas, inspect image formats and duplicates, and define resizing and label encoding. The outputs are a dataset inventory and a preprocessing notebook that the group can run and explain.</a:t>
            </a:r>
          </a:p>
          <a:p xmlns:a="http://schemas.openxmlformats.org/drawingml/2006/main">
            <a:r>
              <a:t/>
            </a:r>
          </a:p>
          <a:p xmlns:a="http://schemas.openxmlformats.org/drawingml/2006/main">
            <a:r>
              <a:t>Sources: Supplied WIG II Tuesday task; repository reports/dataset_inventory.csv, reports/data_audit.json, reports/preprocessing.json and protocol.json. TrashNet: 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in the inventory represents one source image. We record its file path, material label, numerical label code, format, dimensions and whether it is included. Pandas lets us count and inspect these records without confusing the table with the image itself. The folder supplies the original label. Excluded files stay in the inventory with a reason, so the cleaning decisions remain traceable.</a:t>
            </a:r>
          </a:p>
          <a:p xmlns:a="http://schemas.openxmlformats.org/drawingml/2006/main">
            <a:r>
              <a:t/>
            </a:r>
          </a:p>
          <a:p xmlns:a="http://schemas.openxmlformats.org/drawingml/2006/main">
            <a:r>
              <a:t>Sources: Supplied WIG II Tuesday task; repository reports/dataset_inventory.csv, reports/data_audit.json, reports/preprocessing.json and protocol.json. TrashNet: 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contains 2,527 images in six categories. Our automated checks exclude six files, leaving 2,521 usable images. Paper is the largest class and trash is the smallest. This imbalance matters because a model can achieve a reasonable overall accuracy while missing a small category. These counts describe our data preparation, not model performance.</a:t>
            </a:r>
          </a:p>
          <a:p xmlns:a="http://schemas.openxmlformats.org/drawingml/2006/main">
            <a:r>
              <a:t/>
            </a:r>
          </a:p>
          <a:p xmlns:a="http://schemas.openxmlformats.org/drawingml/2006/main">
            <a:r>
              <a:t>Sources: Supplied WIG II Tuesday task; repository reports/dataset_inventory.csv, reports/data_audit.json, reports/preprocessing.json and protocol.json. TrashNet: 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found three pairs with identical decoded pixels but conflicting material labels. Here, the same pixels appear in both glass and metal folders. We excluded both copies instead of guessing which label was correct. We also found 45 possible near-duplicate pairs using perceptual hashes. These are candidates for human review. Connected candidates stay together in one partition to reduce detected leakage.</a:t>
            </a:r>
          </a:p>
          <a:p xmlns:a="http://schemas.openxmlformats.org/drawingml/2006/main">
            <a:r>
              <a:t/>
            </a:r>
          </a:p>
          <a:p xmlns:a="http://schemas.openxmlformats.org/drawingml/2006/main">
            <a:r>
              <a:t>Sources: Supplied WIG II Tuesday task; repository reports/dataset_inventory.csv, reports/data_audit.json, reports/preprocessing.json and protocol.json. TrashNet: 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usable images are divided into 1,774 training, 371 validation and 376 test images. Training fits the model. Validation helps choose settings and the model. Test images support final evaluation after that choice is frozen. We use seed 42 and preserve candidate groups. The proportions are approximately 70, 15 and 15 percent; the actual counts are saved so the split can be reproduced.</a:t>
            </a:r>
          </a:p>
          <a:p xmlns:a="http://schemas.openxmlformats.org/drawingml/2006/main">
            <a:r>
              <a:t/>
            </a:r>
          </a:p>
          <a:p xmlns:a="http://schemas.openxmlformats.org/drawingml/2006/main">
            <a:r>
              <a:t>Sources: Supplied WIG II Tuesday task; repository reports/dataset_inventory.csv, reports/data_audit.json, reports/preprocessing.json and protocol.json. TrashNet: 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encode the labels consistently: cardboard is zero, glass one, metal two, paper three, plastic four and trash five. These numbers are identifiers only. A label of five does not mean five units or a material ranked above four. This remains a classification problem. The same mapping must be used during training, evaluation and prediction so the app displays the correct class name.</a:t>
            </a:r>
          </a:p>
          <a:p xmlns:a="http://schemas.openxmlformats.org/drawingml/2006/main">
            <a:r>
              <a:t/>
            </a:r>
          </a:p>
          <a:p xmlns:a="http://schemas.openxmlformats.org/drawingml/2006/main">
            <a:r>
              <a:t>Sources: Supplied WIG II Tuesday task; repository reports/dataset_inventory.csv, reports/data_audit.json, reports/preprocessing.json and protocol.json. TrashNet: 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classical models, we resize to 64 by 64 grayscale pixels and calculate 1,764 HOG features. For neural models, we resize to 160 by 160 RGB pixels. The small CNN uses values between zero and one; MobileNetV2 also uses its pretrained normalization. Square resizing changes the original aspect ratio, which is a baseline tradeoff. Random augmentation is applied only to training images.</a:t>
            </a:r>
          </a:p>
          <a:p xmlns:a="http://schemas.openxmlformats.org/drawingml/2006/main">
            <a:r>
              <a:t/>
            </a:r>
          </a:p>
          <a:p xmlns:a="http://schemas.openxmlformats.org/drawingml/2006/main">
            <a:r>
              <a:t>Sources: Supplied WIG II Tuesday task; repository reports/dataset_inventory.csv, reports/data_audit.json, reports/preprocessing.json and protocol.json. TrashNet: 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Tuesday handoff includes the complete inventory, usable-image manifest, exclusions, encoding, preprocessing plan and notebook. The notebook checks the saved split and demonstrates input batches without training a classifier. A review worksheet is included for the group to inspect labels and possible duplicates. Automated preparation is complete, but human review remains a separate responsibility. These prepared inputs support the next model-training activity.</a:t>
            </a:r>
          </a:p>
          <a:p xmlns:a="http://schemas.openxmlformats.org/drawingml/2006/main">
            <a:r>
              <a:t/>
            </a:r>
          </a:p>
          <a:p xmlns:a="http://schemas.openxmlformats.org/drawingml/2006/main">
            <a:r>
              <a:t>Sources: Supplied WIG II Tuesday task; repository reports/dataset_inventory.csv, reports/data_audit.json, reports/preprocessing.json and protocol.json. TrashNet: 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da9aeba51945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e2b1643db74a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f29608d4c546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caf2a8ff0c43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88740fd8fe411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ea0ccae2c447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D44F8D-18B4-46A6-B086-421454BE5B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1CC1C9-4749-4465-85E3-C9B645C62F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64653E-9AAB-4AB2-BC6C-FD4A065A93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EA36FD-8CC5-4654-83E2-06E04A252D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6A1B6E-C80E-4740-B238-BEC06A4D3C7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F5FB42-3646-43CA-8CA5-A5494CC767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C222A2-9FAC-42DB-87DD-BBDFE0C4F2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E06368-5F23-49F0-9408-50DDEC24A30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9F571F-C8B2-4BAA-8520-B6748C4AC0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96967D-E425-4BC6-A885-C1681D9897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1c1276bb294462" /><Relationship Type="http://schemas.openxmlformats.org/officeDocument/2006/relationships/slideLayout" Target="/ppt/slideLayouts/slideLayout1.xml" Id="R5f23433eaf124e38" /><Relationship Type="http://schemas.openxmlformats.org/officeDocument/2006/relationships/slideLayout" Target="/ppt/slideLayouts/slideLayout2.xml" Id="Rfeb4888a716c40cb" /><Relationship Type="http://schemas.openxmlformats.org/officeDocument/2006/relationships/slideLayout" Target="/ppt/slideLayouts/slideLayout3.xml" Id="R8e13d8716da44194" /><Relationship Type="http://schemas.openxmlformats.org/officeDocument/2006/relationships/slideLayout" Target="/ppt/slideLayouts/slideLayout4.xml" Id="R49cd8521c0ec4589" /><Relationship Type="http://schemas.openxmlformats.org/officeDocument/2006/relationships/slideLayout" Target="/ppt/slideLayouts/slideLayout5.xml" Id="Re0bd9c0eb2e04309" /><Relationship Type="http://schemas.openxmlformats.org/officeDocument/2006/relationships/slideLayout" Target="/ppt/slideLayouts/slideLayout6.xml" Id="R7f1586a9484344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23433eaf124e38"/>
    <p:sldLayoutId xmlns:r="http://schemas.openxmlformats.org/officeDocument/2006/relationships" id="2147483650" r:id="Rfeb4888a716c40cb"/>
    <p:sldLayoutId xmlns:r="http://schemas.openxmlformats.org/officeDocument/2006/relationships" id="2147483651" r:id="R8e13d8716da44194"/>
    <p:sldLayoutId xmlns:r="http://schemas.openxmlformats.org/officeDocument/2006/relationships" id="2147483652" r:id="R49cd8521c0ec4589"/>
    <p:sldLayoutId xmlns:r="http://schemas.openxmlformats.org/officeDocument/2006/relationships" id="2147483653" r:id="Re0bd9c0eb2e04309"/>
    <p:sldLayoutId xmlns:r="http://schemas.openxmlformats.org/officeDocument/2006/relationships" id="2147483654" r:id="R7f1586a9484344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4f5d72493e4896" /><Relationship Type="http://schemas.openxmlformats.org/officeDocument/2006/relationships/image" Target="/ppt/media/image.jpeg" Id="R25fad7423cbf4324" /><Relationship Type="http://schemas.openxmlformats.org/officeDocument/2006/relationships/notesSlide" Target="/ppt/notesSlides/notesSlide1.xml" Id="R5745c81d2cf145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b60fe7b8584bce" /><Relationship Type="http://schemas.openxmlformats.org/officeDocument/2006/relationships/notesSlide" Target="/ppt/notesSlides/notesSlide2.xml" Id="R6f854cc25a5f4b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e5d723af574ab6" /><Relationship Type="http://schemas.openxmlformats.org/officeDocument/2006/relationships/notesSlide" Target="/ppt/notesSlides/notesSlide3.xml" Id="R6381301c59df4d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9402eca9254292" /><Relationship Type="http://schemas.openxmlformats.org/officeDocument/2006/relationships/image" Target="/ppt/media/image2.jpeg" Id="R9905eb04147441e1" /><Relationship Type="http://schemas.openxmlformats.org/officeDocument/2006/relationships/image" Target="/ppt/media/image3.jpeg" Id="Rc49af31cd1e84864" /><Relationship Type="http://schemas.openxmlformats.org/officeDocument/2006/relationships/notesSlide" Target="/ppt/notesSlides/notesSlide4.xml" Id="Rdd9d15e9f4ff43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1b1b687db944b6" /><Relationship Type="http://schemas.openxmlformats.org/officeDocument/2006/relationships/notesSlide" Target="/ppt/notesSlides/notesSlide5.xml" Id="Rc512b716cf3c46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7297bbb026d42ad" /><Relationship Type="http://schemas.openxmlformats.org/officeDocument/2006/relationships/notesSlide" Target="/ppt/notesSlides/notesSlide6.xml" Id="R6d747ff3952b4f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a54a402c1e487f" /><Relationship Type="http://schemas.openxmlformats.org/officeDocument/2006/relationships/notesSlide" Target="/ppt/notesSlides/notesSlide7.xml" Id="Rc42357259caf4a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7fe61cee33b43c8" /><Relationship Type="http://schemas.openxmlformats.org/officeDocument/2006/relationships/notesSlide" Target="/ppt/notesSlides/notesSlide8.xml" Id="R988c7bc6d3fc43fc" /></Relationships>
</file>

<file path=ppt/slides/slide1.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AA67C1-8B15-4A6F-A8E7-16949FE3FA59}"/>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WasteSort</a:t>
            </a:r>
          </a:p>
        </p:txBody>
      </p:sp>
      <p:sp>
        <p:nvSpPr>
          <p:cNvPr id="2" name="">
            <a:extLst xmlns:a="http://schemas.openxmlformats.org/drawingml/2006/main">
              <a:ext uri="{FF2B5EF4-FFF2-40B4-BE49-F238E27FC236}">
                <a16:creationId xmlns:a16="http://schemas.microsoft.com/office/drawing/2014/main" id="{43DE6D80-D682-4E4C-BFDA-037CF17960D5}"/>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E397CFE-3B05-4034-B951-C4045DE9E149}"/>
              </a:ext>
            </a:extLst>
          </p:cNvPr>
          <p:cNvSpPr>
            <a:spLocks xmlns:a="http://schemas.openxmlformats.org/drawingml/2006/main" noGrp="1"/>
          </p:cNvSpPr>
          <p:nvPr/>
        </p:nvSpPr>
        <p:spPr>
          <a:xfrm xmlns:a="http://schemas.openxmlformats.org/drawingml/2006/main">
            <a:off x="685800" y="1905000"/>
            <a:ext cx="609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750" b="1">
                <a:solidFill>
                  <a:srgbClr val="183C2D"/>
                </a:solidFill>
                <a:latin typeface="Arial"/>
                <a:ea typeface="Arial"/>
                <a:cs typeface="Arial"/>
              </a:defRPr>
            </a:defPPr>
            <a:lvl1pPr>
              <a:defRPr sz="3750" b="1">
                <a:solidFill>
                  <a:srgbClr val="183C2D"/>
                </a:solidFill>
                <a:latin typeface="Arial"/>
                <a:ea typeface="Arial"/>
                <a:cs typeface="Arial"/>
              </a:defRPr>
            </a:lvl1pPr>
            <a:lvl2pPr>
              <a:defRPr sz="3750" b="1">
                <a:solidFill>
                  <a:srgbClr val="183C2D"/>
                </a:solidFill>
                <a:latin typeface="Arial"/>
                <a:ea typeface="Arial"/>
                <a:cs typeface="Arial"/>
              </a:defRPr>
            </a:lvl2pPr>
            <a:lvl3pPr>
              <a:defRPr sz="3750" b="1">
                <a:solidFill>
                  <a:srgbClr val="183C2D"/>
                </a:solidFill>
                <a:latin typeface="Arial"/>
                <a:ea typeface="Arial"/>
                <a:cs typeface="Arial"/>
              </a:defRPr>
            </a:lvl3pPr>
            <a:lvl4pPr>
              <a:defRPr sz="3750" b="1">
                <a:solidFill>
                  <a:srgbClr val="183C2D"/>
                </a:solidFill>
                <a:latin typeface="Arial"/>
                <a:ea typeface="Arial"/>
                <a:cs typeface="Arial"/>
              </a:defRPr>
            </a:lvl4pPr>
            <a:lvl5pPr>
              <a:defRPr sz="3750" b="1">
                <a:solidFill>
                  <a:srgbClr val="183C2D"/>
                </a:solidFill>
                <a:latin typeface="Arial"/>
                <a:ea typeface="Arial"/>
                <a:cs typeface="Arial"/>
              </a:defRPr>
            </a:lvl5pPr>
            <a:lvl6pPr>
              <a:defRPr sz="3750" b="1">
                <a:solidFill>
                  <a:srgbClr val="183C2D"/>
                </a:solidFill>
                <a:latin typeface="Arial"/>
                <a:ea typeface="Arial"/>
                <a:cs typeface="Arial"/>
              </a:defRPr>
            </a:lvl6pPr>
            <a:lvl7pPr>
              <a:defRPr sz="3750" b="1">
                <a:solidFill>
                  <a:srgbClr val="183C2D"/>
                </a:solidFill>
                <a:latin typeface="Arial"/>
                <a:ea typeface="Arial"/>
                <a:cs typeface="Arial"/>
              </a:defRPr>
            </a:lvl7pPr>
            <a:lvl8pPr>
              <a:defRPr sz="3750" b="1">
                <a:solidFill>
                  <a:srgbClr val="183C2D"/>
                </a:solidFill>
                <a:latin typeface="Arial"/>
                <a:ea typeface="Arial"/>
                <a:cs typeface="Arial"/>
              </a:defRPr>
            </a:lvl8pPr>
            <a:lvl9pPr>
              <a:defRPr sz="3750" b="1">
                <a:solidFill>
                  <a:srgbClr val="183C2D"/>
                </a:solidFill>
                <a:latin typeface="Arial"/>
                <a:ea typeface="Arial"/>
                <a:cs typeface="Arial"/>
              </a:defRPr>
            </a:lvl9pPr>
          </a:lstStyle>
          <a:p xmlns:a="http://schemas.openxmlformats.org/drawingml/2006/main">
            <a:pPr>
              <a:defRPr sz="3750" b="1">
                <a:solidFill>
                  <a:srgbClr val="183C2D"/>
                </a:solidFill>
                <a:latin typeface="Arial"/>
                <a:ea typeface="Arial"/>
                <a:cs typeface="Arial"/>
              </a:defRPr>
            </a:pPr>
            <a:r>
              <a:rPr sz="3750" b="1">
                <a:solidFill>
                  <a:srgbClr val="183C2D"/>
                </a:solidFill>
                <a:latin typeface="Arial"/>
                <a:ea typeface="Arial"/>
                <a:cs typeface="Arial"/>
              </a:rPr>
              <a:t>Preparing the dataset</a:t>
            </a:r>
          </a:p>
        </p:txBody>
      </p:sp>
      <p:sp>
        <p:nvSpPr>
          <p:cNvPr id="4" name="">
            <a:extLst xmlns:a="http://schemas.openxmlformats.org/drawingml/2006/main">
              <a:ext uri="{FF2B5EF4-FFF2-40B4-BE49-F238E27FC236}">
                <a16:creationId xmlns:a16="http://schemas.microsoft.com/office/drawing/2014/main" id="{78E9B10F-143E-40C6-BBC0-A29A3ADA4C2A}"/>
              </a:ext>
            </a:extLst>
          </p:cNvPr>
          <p:cNvSpPr>
            <a:spLocks xmlns:a="http://schemas.openxmlformats.org/drawingml/2006/main" noGrp="1"/>
          </p:cNvSpPr>
          <p:nvPr/>
        </p:nvSpPr>
        <p:spPr>
          <a:xfrm xmlns:a="http://schemas.openxmlformats.org/drawingml/2006/main">
            <a:off x="685800" y="33337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8714F"/>
                </a:solidFill>
                <a:latin typeface="Arial"/>
                <a:ea typeface="Arial"/>
                <a:cs typeface="Arial"/>
              </a:defRPr>
            </a:defPPr>
            <a:lvl1pPr>
              <a:defRPr sz="2175" b="0">
                <a:solidFill>
                  <a:srgbClr val="28714F"/>
                </a:solidFill>
                <a:latin typeface="Arial"/>
                <a:ea typeface="Arial"/>
                <a:cs typeface="Arial"/>
              </a:defRPr>
            </a:lvl1pPr>
            <a:lvl2pPr>
              <a:defRPr sz="2175" b="0">
                <a:solidFill>
                  <a:srgbClr val="28714F"/>
                </a:solidFill>
                <a:latin typeface="Arial"/>
                <a:ea typeface="Arial"/>
                <a:cs typeface="Arial"/>
              </a:defRPr>
            </a:lvl2pPr>
            <a:lvl3pPr>
              <a:defRPr sz="2175" b="0">
                <a:solidFill>
                  <a:srgbClr val="28714F"/>
                </a:solidFill>
                <a:latin typeface="Arial"/>
                <a:ea typeface="Arial"/>
                <a:cs typeface="Arial"/>
              </a:defRPr>
            </a:lvl3pPr>
            <a:lvl4pPr>
              <a:defRPr sz="2175" b="0">
                <a:solidFill>
                  <a:srgbClr val="28714F"/>
                </a:solidFill>
                <a:latin typeface="Arial"/>
                <a:ea typeface="Arial"/>
                <a:cs typeface="Arial"/>
              </a:defRPr>
            </a:lvl4pPr>
            <a:lvl5pPr>
              <a:defRPr sz="2175" b="0">
                <a:solidFill>
                  <a:srgbClr val="28714F"/>
                </a:solidFill>
                <a:latin typeface="Arial"/>
                <a:ea typeface="Arial"/>
                <a:cs typeface="Arial"/>
              </a:defRPr>
            </a:lvl5pPr>
            <a:lvl6pPr>
              <a:defRPr sz="2175" b="0">
                <a:solidFill>
                  <a:srgbClr val="28714F"/>
                </a:solidFill>
                <a:latin typeface="Arial"/>
                <a:ea typeface="Arial"/>
                <a:cs typeface="Arial"/>
              </a:defRPr>
            </a:lvl6pPr>
            <a:lvl7pPr>
              <a:defRPr sz="2175" b="0">
                <a:solidFill>
                  <a:srgbClr val="28714F"/>
                </a:solidFill>
                <a:latin typeface="Arial"/>
                <a:ea typeface="Arial"/>
                <a:cs typeface="Arial"/>
              </a:defRPr>
            </a:lvl7pPr>
            <a:lvl8pPr>
              <a:defRPr sz="2175" b="0">
                <a:solidFill>
                  <a:srgbClr val="28714F"/>
                </a:solidFill>
                <a:latin typeface="Arial"/>
                <a:ea typeface="Arial"/>
                <a:cs typeface="Arial"/>
              </a:defRPr>
            </a:lvl8pPr>
            <a:lvl9pPr>
              <a:defRPr sz="2175" b="0">
                <a:solidFill>
                  <a:srgbClr val="28714F"/>
                </a:solidFill>
                <a:latin typeface="Arial"/>
                <a:ea typeface="Arial"/>
                <a:cs typeface="Arial"/>
              </a:defRPr>
            </a:lvl9pPr>
          </a:lstStyle>
          <a:p xmlns:a="http://schemas.openxmlformats.org/drawingml/2006/main">
            <a:pPr>
              <a:defRPr sz="2175" b="0">
                <a:solidFill>
                  <a:srgbClr val="28714F"/>
                </a:solidFill>
                <a:latin typeface="Arial"/>
                <a:ea typeface="Arial"/>
                <a:cs typeface="Arial"/>
              </a:defRPr>
            </a:pPr>
            <a:r>
              <a:rPr sz="2175" b="0">
                <a:solidFill>
                  <a:srgbClr val="28714F"/>
                </a:solidFill>
                <a:latin typeface="Arial"/>
                <a:ea typeface="Arial"/>
                <a:cs typeface="Arial"/>
              </a:rPr>
              <a:t>Day 2 · Tuesday</a:t>
            </a:r>
          </a:p>
        </p:txBody>
      </p:sp>
      <p:sp>
        <p:nvSpPr>
          <p:cNvPr id="5" name="">
            <a:extLst xmlns:a="http://schemas.openxmlformats.org/drawingml/2006/main">
              <a:ext uri="{FF2B5EF4-FFF2-40B4-BE49-F238E27FC236}">
                <a16:creationId xmlns:a16="http://schemas.microsoft.com/office/drawing/2014/main" id="{964C1D94-75CD-475B-880A-9B870C09788F}"/>
              </a:ext>
            </a:extLst>
          </p:cNvPr>
          <p:cNvSpPr>
            <a:spLocks xmlns:a="http://schemas.openxmlformats.org/drawingml/2006/main" noGrp="1"/>
          </p:cNvSpPr>
          <p:nvPr/>
        </p:nvSpPr>
        <p:spPr>
          <a:xfrm xmlns:a="http://schemas.openxmlformats.org/drawingml/2006/main">
            <a:off x="685800" y="4333875"/>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2D"/>
                </a:solidFill>
                <a:latin typeface="Arial"/>
                <a:ea typeface="Arial"/>
                <a:cs typeface="Arial"/>
              </a:defRPr>
            </a:defPPr>
            <a:lvl1pPr>
              <a:defRPr sz="2025" b="0">
                <a:solidFill>
                  <a:srgbClr val="183C2D"/>
                </a:solidFill>
                <a:latin typeface="Arial"/>
                <a:ea typeface="Arial"/>
                <a:cs typeface="Arial"/>
              </a:defRPr>
            </a:lvl1pPr>
            <a:lvl2pPr>
              <a:defRPr sz="2025" b="0">
                <a:solidFill>
                  <a:srgbClr val="183C2D"/>
                </a:solidFill>
                <a:latin typeface="Arial"/>
                <a:ea typeface="Arial"/>
                <a:cs typeface="Arial"/>
              </a:defRPr>
            </a:lvl2pPr>
            <a:lvl3pPr>
              <a:defRPr sz="2025" b="0">
                <a:solidFill>
                  <a:srgbClr val="183C2D"/>
                </a:solidFill>
                <a:latin typeface="Arial"/>
                <a:ea typeface="Arial"/>
                <a:cs typeface="Arial"/>
              </a:defRPr>
            </a:lvl3pPr>
            <a:lvl4pPr>
              <a:defRPr sz="2025" b="0">
                <a:solidFill>
                  <a:srgbClr val="183C2D"/>
                </a:solidFill>
                <a:latin typeface="Arial"/>
                <a:ea typeface="Arial"/>
                <a:cs typeface="Arial"/>
              </a:defRPr>
            </a:lvl4pPr>
            <a:lvl5pPr>
              <a:defRPr sz="2025" b="0">
                <a:solidFill>
                  <a:srgbClr val="183C2D"/>
                </a:solidFill>
                <a:latin typeface="Arial"/>
                <a:ea typeface="Arial"/>
                <a:cs typeface="Arial"/>
              </a:defRPr>
            </a:lvl5pPr>
            <a:lvl6pPr>
              <a:defRPr sz="2025" b="0">
                <a:solidFill>
                  <a:srgbClr val="183C2D"/>
                </a:solidFill>
                <a:latin typeface="Arial"/>
                <a:ea typeface="Arial"/>
                <a:cs typeface="Arial"/>
              </a:defRPr>
            </a:lvl6pPr>
            <a:lvl7pPr>
              <a:defRPr sz="2025" b="0">
                <a:solidFill>
                  <a:srgbClr val="183C2D"/>
                </a:solidFill>
                <a:latin typeface="Arial"/>
                <a:ea typeface="Arial"/>
                <a:cs typeface="Arial"/>
              </a:defRPr>
            </a:lvl7pPr>
            <a:lvl8pPr>
              <a:defRPr sz="2025" b="0">
                <a:solidFill>
                  <a:srgbClr val="183C2D"/>
                </a:solidFill>
                <a:latin typeface="Arial"/>
                <a:ea typeface="Arial"/>
                <a:cs typeface="Arial"/>
              </a:defRPr>
            </a:lvl8pPr>
            <a:lvl9pPr>
              <a:defRPr sz="2025" b="0">
                <a:solidFill>
                  <a:srgbClr val="183C2D"/>
                </a:solidFill>
                <a:latin typeface="Arial"/>
                <a:ea typeface="Arial"/>
                <a:cs typeface="Arial"/>
              </a:defRPr>
            </a:lvl9pPr>
          </a:lstStyle>
          <a:p xmlns:a="http://schemas.openxmlformats.org/drawingml/2006/main">
            <a:pPr>
              <a:defRPr sz="2025" b="0">
                <a:solidFill>
                  <a:srgbClr val="183C2D"/>
                </a:solidFill>
                <a:latin typeface="Arial"/>
                <a:ea typeface="Arial"/>
                <a:cs typeface="Arial"/>
              </a:defRPr>
            </a:pPr>
            <a:r>
              <a:rPr sz="2025" b="0">
                <a:solidFill>
                  <a:srgbClr val="183C2D"/>
                </a:solidFill>
                <a:latin typeface="Arial"/>
                <a:ea typeface="Arial"/>
                <a:cs typeface="Arial"/>
              </a:rPr>
              <a:t>Goal Diggers</a:t>
            </a:r>
          </a:p>
          <a:p xmlns:a="http://schemas.openxmlformats.org/drawingml/2006/main">
            <a:pPr>
              <a:defRPr sz="2025" b="0">
                <a:solidFill>
                  <a:srgbClr val="183C2D"/>
                </a:solidFill>
                <a:latin typeface="Arial"/>
                <a:ea typeface="Arial"/>
                <a:cs typeface="Arial"/>
              </a:defRPr>
            </a:pPr>
            <a:r>
              <a:rPr sz="2025" b="0">
                <a:solidFill>
                  <a:srgbClr val="183C2D"/>
                </a:solidFill>
                <a:latin typeface="Arial"/>
                <a:ea typeface="Arial"/>
                <a:cs typeface="Arial"/>
              </a:rPr>
              <a:t>BCS34</a:t>
            </a:r>
          </a:p>
        </p:txBody>
      </p:sp>
      <p:pic>
        <p:nvPicPr>
          <p:cNvPr id="6" name="">
            <a:extLst xmlns:a="http://schemas.openxmlformats.org/drawingml/2006/main">
              <a:ext uri="{FF2B5EF4-FFF2-40B4-BE49-F238E27FC236}">
                <a16:creationId xmlns:a16="http://schemas.microsoft.com/office/drawing/2014/main" id="{278741A4-E8B8-4F4C-886F-46F801AF2A7C}"/>
              </a:ext>
            </a:extLst>
          </p:cNvPr>
          <p:cNvPicPr>
            <a:picLocks xmlns:a="http://schemas.openxmlformats.org/drawingml/2006/main" noChangeAspect="1"/>
          </p:cNvPicPr>
          <p:nvPr/>
        </p:nvPicPr>
        <p:blipFill>
          <a:blip xmlns:r="http://schemas.openxmlformats.org/officeDocument/2006/relationships" xmlns:a="http://schemas.openxmlformats.org/drawingml/2006/main" r:embed="R25fad7423cbf4324"/>
          <a:stretch xmlns:a="http://schemas.openxmlformats.org/drawingml/2006/main"/>
        </p:blipFill>
        <p:spPr>
          <a:xfrm xmlns:a="http://schemas.openxmlformats.org/drawingml/2006/main">
            <a:off x="7239000" y="1845469"/>
            <a:ext cx="4095750" cy="3071813"/>
          </a:xfrm>
          <a:prstGeom xmlns:a="http://schemas.openxmlformats.org/drawingml/2006/main" prst="rect">
            <a:avLst/>
          </a:prstGeom>
        </p:spPr>
      </p:pic>
    </p:spTree>
    <p:extLst>
      <p:ext uri="{BB962C8B-B14F-4D97-AF65-F5344CB8AC3E}">
        <p14:creationId xmlns:p14="http://schemas.microsoft.com/office/powerpoint/2010/main" val="2097253414"/>
      </p:ext>
    </p:extLst>
  </p:cSld>
</p:sld>
</file>

<file path=ppt/slides/slide2.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3A65D1-A00B-4DCE-9E15-B50DA3CCF79C}"/>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What the inventory records</a:t>
            </a:r>
          </a:p>
        </p:txBody>
      </p:sp>
      <p:sp>
        <p:nvSpPr>
          <p:cNvPr id="2" name="">
            <a:extLst xmlns:a="http://schemas.openxmlformats.org/drawingml/2006/main">
              <a:ext uri="{FF2B5EF4-FFF2-40B4-BE49-F238E27FC236}">
                <a16:creationId xmlns:a16="http://schemas.microsoft.com/office/drawing/2014/main" id="{F9FC54A7-1868-404A-BDF5-B19361A12CFB}"/>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5F686C7-8FFC-4698-B952-4CBAA590A407}"/>
              </a:ext>
            </a:extLst>
          </p:cNvPr>
          <p:cNvSpPr>
            <a:spLocks xmlns:a="http://schemas.openxmlformats.org/drawingml/2006/main" noGrp="1"/>
          </p:cNvSpPr>
          <p:nvPr/>
        </p:nvSpPr>
        <p:spPr>
          <a:xfrm xmlns:a="http://schemas.openxmlformats.org/drawingml/2006/main">
            <a:off x="685800" y="16192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8714F"/>
                </a:solidFill>
                <a:latin typeface="Arial"/>
                <a:ea typeface="Arial"/>
                <a:cs typeface="Arial"/>
              </a:defRPr>
            </a:defPPr>
            <a:lvl1pPr>
              <a:defRPr sz="2325" b="1">
                <a:solidFill>
                  <a:srgbClr val="28714F"/>
                </a:solidFill>
                <a:latin typeface="Arial"/>
                <a:ea typeface="Arial"/>
                <a:cs typeface="Arial"/>
              </a:defRPr>
            </a:lvl1pPr>
            <a:lvl2pPr>
              <a:defRPr sz="2325" b="1">
                <a:solidFill>
                  <a:srgbClr val="28714F"/>
                </a:solidFill>
                <a:latin typeface="Arial"/>
                <a:ea typeface="Arial"/>
                <a:cs typeface="Arial"/>
              </a:defRPr>
            </a:lvl2pPr>
            <a:lvl3pPr>
              <a:defRPr sz="2325" b="1">
                <a:solidFill>
                  <a:srgbClr val="28714F"/>
                </a:solidFill>
                <a:latin typeface="Arial"/>
                <a:ea typeface="Arial"/>
                <a:cs typeface="Arial"/>
              </a:defRPr>
            </a:lvl3pPr>
            <a:lvl4pPr>
              <a:defRPr sz="2325" b="1">
                <a:solidFill>
                  <a:srgbClr val="28714F"/>
                </a:solidFill>
                <a:latin typeface="Arial"/>
                <a:ea typeface="Arial"/>
                <a:cs typeface="Arial"/>
              </a:defRPr>
            </a:lvl4pPr>
            <a:lvl5pPr>
              <a:defRPr sz="2325" b="1">
                <a:solidFill>
                  <a:srgbClr val="28714F"/>
                </a:solidFill>
                <a:latin typeface="Arial"/>
                <a:ea typeface="Arial"/>
                <a:cs typeface="Arial"/>
              </a:defRPr>
            </a:lvl5pPr>
            <a:lvl6pPr>
              <a:defRPr sz="2325" b="1">
                <a:solidFill>
                  <a:srgbClr val="28714F"/>
                </a:solidFill>
                <a:latin typeface="Arial"/>
                <a:ea typeface="Arial"/>
                <a:cs typeface="Arial"/>
              </a:defRPr>
            </a:lvl6pPr>
            <a:lvl7pPr>
              <a:defRPr sz="2325" b="1">
                <a:solidFill>
                  <a:srgbClr val="28714F"/>
                </a:solidFill>
                <a:latin typeface="Arial"/>
                <a:ea typeface="Arial"/>
                <a:cs typeface="Arial"/>
              </a:defRPr>
            </a:lvl7pPr>
            <a:lvl8pPr>
              <a:defRPr sz="2325" b="1">
                <a:solidFill>
                  <a:srgbClr val="28714F"/>
                </a:solidFill>
                <a:latin typeface="Arial"/>
                <a:ea typeface="Arial"/>
                <a:cs typeface="Arial"/>
              </a:defRPr>
            </a:lvl8pPr>
            <a:lvl9pPr>
              <a:defRPr sz="2325" b="1">
                <a:solidFill>
                  <a:srgbClr val="28714F"/>
                </a:solidFill>
                <a:latin typeface="Arial"/>
                <a:ea typeface="Arial"/>
                <a:cs typeface="Arial"/>
              </a:defRPr>
            </a:lvl9pPr>
          </a:lstStyle>
          <a:p xmlns:a="http://schemas.openxmlformats.org/drawingml/2006/main">
            <a:pPr>
              <a:defRPr sz="2325" b="1">
                <a:solidFill>
                  <a:srgbClr val="28714F"/>
                </a:solidFill>
                <a:latin typeface="Arial"/>
                <a:ea typeface="Arial"/>
                <a:cs typeface="Arial"/>
              </a:defRPr>
            </a:pPr>
            <a:r>
              <a:rPr sz="2325" b="1">
                <a:solidFill>
                  <a:srgbClr val="28714F"/>
                </a:solidFill>
                <a:latin typeface="Arial"/>
                <a:ea typeface="Arial"/>
                <a:cs typeface="Arial"/>
              </a:rPr>
              <a:t>One row represents one source image.</a:t>
            </a:r>
          </a:p>
        </p:txBody>
      </p:sp>
      <p:graphicFrame>
        <p:nvGraphicFramePr>
          <p:cNvPr id="4" name="">
            <a:extLst xmlns:a="http://schemas.openxmlformats.org/drawingml/2006/main">
              <a:ext uri="{FF2B5EF4-FFF2-40B4-BE49-F238E27FC236}">
                <a16:creationId xmlns:a16="http://schemas.microsoft.com/office/drawing/2014/main" id="{20582436-AC16-47E5-B341-B893CDB9C171}"/>
              </a:ext>
            </a:extLst>
          </p:cNvPr>
          <p:cNvGraphicFramePr/>
          <p:nvPr/>
        </p:nvGraphicFramePr>
        <p:xfrm>
          <a:off xmlns:a="http://schemas.openxmlformats.org/drawingml/2006/main" x="685800" y="2333625"/>
          <a:ext xmlns:a="http://schemas.openxmlformats.org/drawingml/2006/main" cx="10820400" cy="2857500"/>
        </p:xfrm>
        <a:graphic xmlns:a="http://schemas.openxmlformats.org/drawingml/2006/main">
          <a:graphicData uri="http://schemas.openxmlformats.org/drawingml/2006/table">
            <a:tbl>
              <a:tblPr/>
              <a:tblGrid>
                <a:gridCol w="3429000"/>
                <a:gridCol w="7391400"/>
              </a:tblGrid>
              <a:tr h="571500">
                <a:tc>
                  <a:txBody>
                    <a:bodyPr/>
                    <a:lstStyle/>
                    <a:p>
                      <a:r>
                        <a:rPr sz="1950" b="1">
                          <a:solidFill>
                            <a:srgbClr val="FFFFFF"/>
                          </a:solidFill>
                          <a:latin typeface="Arial"/>
                          <a:ea typeface="Arial"/>
                          <a:cs typeface="Arial"/>
                        </a:rPr>
                        <a:t>Field</a:t>
                      </a:r>
                    </a:p>
                  </a:txBody>
                  <a:tcPr marL="91440" marR="91440" marT="45720" marB="45720">
                    <a:lnL w="9525">
                      <a:solidFill>
                        <a:srgbClr val="D4DDD3"/>
                      </a:solidFill>
                      <a:prstDash val="solid"/>
                    </a:lnL>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c>
                  <a:txBody>
                    <a:bodyPr/>
                    <a:lstStyle/>
                    <a:p>
                      <a:r>
                        <a:rPr sz="1950" b="1">
                          <a:solidFill>
                            <a:srgbClr val="FFFFFF"/>
                          </a:solidFill>
                          <a:latin typeface="Arial"/>
                          <a:ea typeface="Arial"/>
                          <a:cs typeface="Arial"/>
                        </a:rPr>
                        <a:t>Example</a:t>
                      </a:r>
                    </a:p>
                  </a:txBody>
                  <a:tcPr marL="91440" marR="91440" marT="45720" marB="45720">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r>
              <a:tr h="571500">
                <a:tc>
                  <a:txBody>
                    <a:bodyPr/>
                    <a:lstStyle/>
                    <a:p>
                      <a:r>
                        <a:rPr sz="1950" b="0">
                          <a:solidFill>
                            <a:srgbClr val="183C2D"/>
                          </a:solidFill>
                          <a:latin typeface="Arial"/>
                          <a:ea typeface="Arial"/>
                          <a:cs typeface="Arial"/>
                        </a:rPr>
                        <a:t>Path</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1950" b="0">
                          <a:solidFill>
                            <a:srgbClr val="183C2D"/>
                          </a:solidFill>
                          <a:latin typeface="Arial"/>
                          <a:ea typeface="Arial"/>
                          <a:cs typeface="Arial"/>
                        </a:rPr>
                        <a:t>data/raw/plastic/plastic5.jpg</a:t>
                      </a:r>
                    </a:p>
                  </a:txBody>
                  <a:tcPr marL="91440" marR="91440" marT="45720" marB="45720">
                    <a:lnR w="9525">
                      <a:solidFill>
                        <a:srgbClr val="D4DDD3"/>
                      </a:solidFill>
                      <a:prstDash val="solid"/>
                    </a:lnR>
                    <a:lnB w="9525">
                      <a:solidFill>
                        <a:srgbClr val="D4DDD3"/>
                      </a:solidFill>
                      <a:prstDash val="solid"/>
                    </a:lnB>
                    <a:solidFill>
                      <a:srgbClr val="FFFFFF"/>
                    </a:solidFill>
                  </a:tcPr>
                </a:tc>
              </a:tr>
              <a:tr h="571500">
                <a:tc>
                  <a:txBody>
                    <a:bodyPr/>
                    <a:lstStyle/>
                    <a:p>
                      <a:r>
                        <a:rPr sz="1950" b="0">
                          <a:solidFill>
                            <a:srgbClr val="183C2D"/>
                          </a:solidFill>
                          <a:latin typeface="Arial"/>
                          <a:ea typeface="Arial"/>
                          <a:cs typeface="Arial"/>
                        </a:rPr>
                        <a:t>Material label / code</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EBF0E7"/>
                    </a:solidFill>
                  </a:tcPr>
                </a:tc>
                <a:tc>
                  <a:txBody>
                    <a:bodyPr/>
                    <a:lstStyle/>
                    <a:p>
                      <a:r>
                        <a:rPr sz="1950" b="0">
                          <a:solidFill>
                            <a:srgbClr val="183C2D"/>
                          </a:solidFill>
                          <a:latin typeface="Arial"/>
                          <a:ea typeface="Arial"/>
                          <a:cs typeface="Arial"/>
                        </a:rPr>
                        <a:t>plastic / 4</a:t>
                      </a:r>
                    </a:p>
                  </a:txBody>
                  <a:tcPr marL="91440" marR="91440" marT="45720" marB="45720">
                    <a:lnR w="9525">
                      <a:solidFill>
                        <a:srgbClr val="D4DDD3"/>
                      </a:solidFill>
                      <a:prstDash val="solid"/>
                    </a:lnR>
                    <a:lnB w="9525">
                      <a:solidFill>
                        <a:srgbClr val="D4DDD3"/>
                      </a:solidFill>
                      <a:prstDash val="solid"/>
                    </a:lnB>
                    <a:solidFill>
                      <a:srgbClr val="EBF0E7"/>
                    </a:solidFill>
                  </a:tcPr>
                </a:tc>
              </a:tr>
              <a:tr h="571500">
                <a:tc>
                  <a:txBody>
                    <a:bodyPr/>
                    <a:lstStyle/>
                    <a:p>
                      <a:r>
                        <a:rPr sz="1950" b="0">
                          <a:solidFill>
                            <a:srgbClr val="183C2D"/>
                          </a:solidFill>
                          <a:latin typeface="Arial"/>
                          <a:ea typeface="Arial"/>
                          <a:cs typeface="Arial"/>
                        </a:rPr>
                        <a:t>Format / color</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1950" b="0">
                          <a:solidFill>
                            <a:srgbClr val="183C2D"/>
                          </a:solidFill>
                          <a:latin typeface="Arial"/>
                          <a:ea typeface="Arial"/>
                          <a:cs typeface="Arial"/>
                        </a:rPr>
                        <a:t>JPEG / RGB</a:t>
                      </a:r>
                    </a:p>
                  </a:txBody>
                  <a:tcPr marL="91440" marR="91440" marT="45720" marB="45720">
                    <a:lnR w="9525">
                      <a:solidFill>
                        <a:srgbClr val="D4DDD3"/>
                      </a:solidFill>
                      <a:prstDash val="solid"/>
                    </a:lnR>
                    <a:lnB w="9525">
                      <a:solidFill>
                        <a:srgbClr val="D4DDD3"/>
                      </a:solidFill>
                      <a:prstDash val="solid"/>
                    </a:lnB>
                    <a:solidFill>
                      <a:srgbClr val="FFFFFF"/>
                    </a:solidFill>
                  </a:tcPr>
                </a:tc>
              </a:tr>
              <a:tr h="571500">
                <a:tc>
                  <a:txBody>
                    <a:bodyPr/>
                    <a:lstStyle/>
                    <a:p>
                      <a:r>
                        <a:rPr sz="1950" b="0">
                          <a:solidFill>
                            <a:srgbClr val="183C2D"/>
                          </a:solidFill>
                          <a:latin typeface="Arial"/>
                          <a:ea typeface="Arial"/>
                          <a:cs typeface="Arial"/>
                        </a:rPr>
                        <a:t>Width × height</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EBF0E7"/>
                    </a:solidFill>
                  </a:tcPr>
                </a:tc>
                <a:tc>
                  <a:txBody>
                    <a:bodyPr/>
                    <a:lstStyle/>
                    <a:p>
                      <a:r>
                        <a:rPr sz="1950" b="0">
                          <a:solidFill>
                            <a:srgbClr val="183C2D"/>
                          </a:solidFill>
                          <a:latin typeface="Arial"/>
                          <a:ea typeface="Arial"/>
                          <a:cs typeface="Arial"/>
                        </a:rPr>
                        <a:t>512 × 384 pixels</a:t>
                      </a:r>
                    </a:p>
                  </a:txBody>
                  <a:tcPr marL="91440" marR="91440" marT="45720" marB="45720">
                    <a:lnR w="9525">
                      <a:solidFill>
                        <a:srgbClr val="D4DDD3"/>
                      </a:solidFill>
                      <a:prstDash val="solid"/>
                    </a:lnR>
                    <a:lnB w="9525">
                      <a:solidFill>
                        <a:srgbClr val="D4DDD3"/>
                      </a:solidFill>
                      <a:prstDash val="solid"/>
                    </a:lnB>
                    <a:solidFill>
                      <a:srgbClr val="EBF0E7"/>
                    </a:solidFill>
                  </a:tcPr>
                </a:tc>
              </a:tr>
            </a:tbl>
          </a:graphicData>
        </a:graphic>
      </p:graphicFrame>
      <p:sp>
        <p:nvSpPr>
          <p:cNvPr id="5" name="">
            <a:extLst xmlns:a="http://schemas.openxmlformats.org/drawingml/2006/main">
              <a:ext uri="{FF2B5EF4-FFF2-40B4-BE49-F238E27FC236}">
                <a16:creationId xmlns:a16="http://schemas.microsoft.com/office/drawing/2014/main" id="{36A41D6C-989F-421F-B622-711BA755A965}"/>
              </a:ext>
            </a:extLst>
          </p:cNvPr>
          <p:cNvSpPr>
            <a:spLocks xmlns:a="http://schemas.openxmlformats.org/drawingml/2006/main" noGrp="1"/>
          </p:cNvSpPr>
          <p:nvPr/>
        </p:nvSpPr>
        <p:spPr>
          <a:xfrm xmlns:a="http://schemas.openxmlformats.org/drawingml/2006/main">
            <a:off x="685800" y="5619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83C2D"/>
                </a:solidFill>
                <a:latin typeface="Arial"/>
                <a:ea typeface="Arial"/>
                <a:cs typeface="Arial"/>
              </a:defRPr>
            </a:defPPr>
            <a:lvl1pPr>
              <a:defRPr sz="2100" b="0">
                <a:solidFill>
                  <a:srgbClr val="183C2D"/>
                </a:solidFill>
                <a:latin typeface="Arial"/>
                <a:ea typeface="Arial"/>
                <a:cs typeface="Arial"/>
              </a:defRPr>
            </a:lvl1pPr>
            <a:lvl2pPr>
              <a:defRPr sz="2100" b="0">
                <a:solidFill>
                  <a:srgbClr val="183C2D"/>
                </a:solidFill>
                <a:latin typeface="Arial"/>
                <a:ea typeface="Arial"/>
                <a:cs typeface="Arial"/>
              </a:defRPr>
            </a:lvl2pPr>
            <a:lvl3pPr>
              <a:defRPr sz="2100" b="0">
                <a:solidFill>
                  <a:srgbClr val="183C2D"/>
                </a:solidFill>
                <a:latin typeface="Arial"/>
                <a:ea typeface="Arial"/>
                <a:cs typeface="Arial"/>
              </a:defRPr>
            </a:lvl3pPr>
            <a:lvl4pPr>
              <a:defRPr sz="2100" b="0">
                <a:solidFill>
                  <a:srgbClr val="183C2D"/>
                </a:solidFill>
                <a:latin typeface="Arial"/>
                <a:ea typeface="Arial"/>
                <a:cs typeface="Arial"/>
              </a:defRPr>
            </a:lvl4pPr>
            <a:lvl5pPr>
              <a:defRPr sz="2100" b="0">
                <a:solidFill>
                  <a:srgbClr val="183C2D"/>
                </a:solidFill>
                <a:latin typeface="Arial"/>
                <a:ea typeface="Arial"/>
                <a:cs typeface="Arial"/>
              </a:defRPr>
            </a:lvl5pPr>
            <a:lvl6pPr>
              <a:defRPr sz="2100" b="0">
                <a:solidFill>
                  <a:srgbClr val="183C2D"/>
                </a:solidFill>
                <a:latin typeface="Arial"/>
                <a:ea typeface="Arial"/>
                <a:cs typeface="Arial"/>
              </a:defRPr>
            </a:lvl6pPr>
            <a:lvl7pPr>
              <a:defRPr sz="2100" b="0">
                <a:solidFill>
                  <a:srgbClr val="183C2D"/>
                </a:solidFill>
                <a:latin typeface="Arial"/>
                <a:ea typeface="Arial"/>
                <a:cs typeface="Arial"/>
              </a:defRPr>
            </a:lvl7pPr>
            <a:lvl8pPr>
              <a:defRPr sz="2100" b="0">
                <a:solidFill>
                  <a:srgbClr val="183C2D"/>
                </a:solidFill>
                <a:latin typeface="Arial"/>
                <a:ea typeface="Arial"/>
                <a:cs typeface="Arial"/>
              </a:defRPr>
            </a:lvl8pPr>
            <a:lvl9pPr>
              <a:defRPr sz="2100" b="0">
                <a:solidFill>
                  <a:srgbClr val="183C2D"/>
                </a:solidFill>
                <a:latin typeface="Arial"/>
                <a:ea typeface="Arial"/>
                <a:cs typeface="Arial"/>
              </a:defRPr>
            </a:lvl9pPr>
          </a:lstStyle>
          <a:p xmlns:a="http://schemas.openxmlformats.org/drawingml/2006/main">
            <a:pPr>
              <a:defRPr sz="2100" b="0">
                <a:solidFill>
                  <a:srgbClr val="183C2D"/>
                </a:solidFill>
                <a:latin typeface="Arial"/>
                <a:ea typeface="Arial"/>
                <a:cs typeface="Arial"/>
              </a:defRPr>
            </a:pPr>
            <a:r>
              <a:rPr sz="2100" b="0">
                <a:solidFill>
                  <a:srgbClr val="183C2D"/>
                </a:solidFill>
                <a:latin typeface="Arial"/>
                <a:ea typeface="Arial"/>
                <a:cs typeface="Arial"/>
              </a:rPr>
              <a:t>Included/excluded status and split are recorded separately.</a:t>
            </a:r>
          </a:p>
        </p:txBody>
      </p:sp>
    </p:spTree>
    <p:extLst>
      <p:ext uri="{BB962C8B-B14F-4D97-AF65-F5344CB8AC3E}">
        <p14:creationId xmlns:p14="http://schemas.microsoft.com/office/powerpoint/2010/main" val="845735586"/>
      </p:ext>
    </p:extLst>
  </p:cSld>
</p:sld>
</file>

<file path=ppt/slides/slide3.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D1DFD8-1F14-4497-81D2-8C376B0F7E3E}"/>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Class counts before and after cleaning</a:t>
            </a:r>
          </a:p>
        </p:txBody>
      </p:sp>
      <p:sp>
        <p:nvSpPr>
          <p:cNvPr id="2" name="">
            <a:extLst xmlns:a="http://schemas.openxmlformats.org/drawingml/2006/main">
              <a:ext uri="{FF2B5EF4-FFF2-40B4-BE49-F238E27FC236}">
                <a16:creationId xmlns:a16="http://schemas.microsoft.com/office/drawing/2014/main" id="{30D5AA43-4980-4623-BB97-D32F02DFFDEB}"/>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A1437F11-831B-4536-A0C5-8B0EDE967FD2}"/>
              </a:ext>
            </a:extLst>
          </p:cNvPr>
          <p:cNvGraphicFramePr/>
          <p:nvPr/>
        </p:nvGraphicFramePr>
        <p:xfrm>
          <a:off xmlns:a="http://schemas.openxmlformats.org/drawingml/2006/main" x="685800" y="1752600"/>
          <a:ext xmlns:a="http://schemas.openxmlformats.org/drawingml/2006/main" cx="10820400" cy="3962400"/>
        </p:xfrm>
        <a:graphic xmlns:a="http://schemas.openxmlformats.org/drawingml/2006/main">
          <a:graphicData uri="http://schemas.openxmlformats.org/drawingml/2006/table">
            <a:tbl>
              <a:tblPr/>
              <a:tblGrid>
                <a:gridCol w="3676650"/>
                <a:gridCol w="2381250"/>
                <a:gridCol w="2381250"/>
                <a:gridCol w="2381250"/>
              </a:tblGrid>
              <a:tr h="495300">
                <a:tc>
                  <a:txBody>
                    <a:bodyPr/>
                    <a:lstStyle/>
                    <a:p>
                      <a:r>
                        <a:rPr sz="1875" b="1">
                          <a:solidFill>
                            <a:srgbClr val="FFFFFF"/>
                          </a:solidFill>
                          <a:latin typeface="Arial"/>
                          <a:ea typeface="Arial"/>
                          <a:cs typeface="Arial"/>
                        </a:rPr>
                        <a:t>Material</a:t>
                      </a:r>
                    </a:p>
                  </a:txBody>
                  <a:tcPr marL="91440" marR="91440" marT="45720" marB="45720">
                    <a:lnL w="9525">
                      <a:solidFill>
                        <a:srgbClr val="D4DDD3"/>
                      </a:solidFill>
                      <a:prstDash val="solid"/>
                    </a:lnL>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c>
                  <a:txBody>
                    <a:bodyPr/>
                    <a:lstStyle/>
                    <a:p>
                      <a:r>
                        <a:rPr sz="1875" b="1">
                          <a:solidFill>
                            <a:srgbClr val="FFFFFF"/>
                          </a:solidFill>
                          <a:latin typeface="Arial"/>
                          <a:ea typeface="Arial"/>
                          <a:cs typeface="Arial"/>
                        </a:rPr>
                        <a:t>Original</a:t>
                      </a:r>
                    </a:p>
                  </a:txBody>
                  <a:tcPr marL="91440" marR="91440" marT="45720" marB="45720">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c>
                  <a:txBody>
                    <a:bodyPr/>
                    <a:lstStyle/>
                    <a:p>
                      <a:r>
                        <a:rPr sz="1875" b="1">
                          <a:solidFill>
                            <a:srgbClr val="FFFFFF"/>
                          </a:solidFill>
                          <a:latin typeface="Arial"/>
                          <a:ea typeface="Arial"/>
                          <a:cs typeface="Arial"/>
                        </a:rPr>
                        <a:t>Usable</a:t>
                      </a:r>
                    </a:p>
                  </a:txBody>
                  <a:tcPr marL="91440" marR="91440" marT="45720" marB="45720">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c>
                  <a:txBody>
                    <a:bodyPr/>
                    <a:lstStyle/>
                    <a:p>
                      <a:r>
                        <a:rPr sz="1875" b="1">
                          <a:solidFill>
                            <a:srgbClr val="FFFFFF"/>
                          </a:solidFill>
                          <a:latin typeface="Arial"/>
                          <a:ea typeface="Arial"/>
                          <a:cs typeface="Arial"/>
                        </a:rPr>
                        <a:t>Excluded</a:t>
                      </a:r>
                    </a:p>
                  </a:txBody>
                  <a:tcPr marL="91440" marR="91440" marT="45720" marB="45720">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r>
              <a:tr h="495300">
                <a:tc>
                  <a:txBody>
                    <a:bodyPr/>
                    <a:lstStyle/>
                    <a:p>
                      <a:r>
                        <a:rPr sz="1875" b="0">
                          <a:solidFill>
                            <a:srgbClr val="183C2D"/>
                          </a:solidFill>
                          <a:latin typeface="Arial"/>
                          <a:ea typeface="Arial"/>
                          <a:cs typeface="Arial"/>
                        </a:rPr>
                        <a:t>Cardboard</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403</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403</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0</a:t>
                      </a:r>
                    </a:p>
                  </a:txBody>
                  <a:tcPr marL="91440" marR="91440" marT="45720" marB="45720">
                    <a:lnR w="9525">
                      <a:solidFill>
                        <a:srgbClr val="D4DDD3"/>
                      </a:solidFill>
                      <a:prstDash val="solid"/>
                    </a:lnR>
                    <a:lnB w="9525">
                      <a:solidFill>
                        <a:srgbClr val="D4DDD3"/>
                      </a:solidFill>
                      <a:prstDash val="solid"/>
                    </a:lnB>
                    <a:solidFill>
                      <a:srgbClr val="FFFFFF"/>
                    </a:solidFill>
                  </a:tcPr>
                </a:tc>
              </a:tr>
              <a:tr h="495300">
                <a:tc>
                  <a:txBody>
                    <a:bodyPr/>
                    <a:lstStyle/>
                    <a:p>
                      <a:r>
                        <a:rPr sz="1875" b="0">
                          <a:solidFill>
                            <a:srgbClr val="183C2D"/>
                          </a:solidFill>
                          <a:latin typeface="Arial"/>
                          <a:ea typeface="Arial"/>
                          <a:cs typeface="Arial"/>
                        </a:rPr>
                        <a:t>Glass</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501</a:t>
                      </a:r>
                    </a:p>
                  </a:txBody>
                  <a:tcPr marL="91440" marR="91440" marT="45720" marB="45720">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498</a:t>
                      </a:r>
                    </a:p>
                  </a:txBody>
                  <a:tcPr marL="91440" marR="91440" marT="45720" marB="45720">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3</a:t>
                      </a:r>
                    </a:p>
                  </a:txBody>
                  <a:tcPr marL="91440" marR="91440" marT="45720" marB="45720">
                    <a:lnR w="9525">
                      <a:solidFill>
                        <a:srgbClr val="D4DDD3"/>
                      </a:solidFill>
                      <a:prstDash val="solid"/>
                    </a:lnR>
                    <a:lnB w="9525">
                      <a:solidFill>
                        <a:srgbClr val="D4DDD3"/>
                      </a:solidFill>
                      <a:prstDash val="solid"/>
                    </a:lnB>
                    <a:solidFill>
                      <a:srgbClr val="EBF0E7"/>
                    </a:solidFill>
                  </a:tcPr>
                </a:tc>
              </a:tr>
              <a:tr h="495300">
                <a:tc>
                  <a:txBody>
                    <a:bodyPr/>
                    <a:lstStyle/>
                    <a:p>
                      <a:r>
                        <a:rPr sz="1875" b="0">
                          <a:solidFill>
                            <a:srgbClr val="183C2D"/>
                          </a:solidFill>
                          <a:latin typeface="Arial"/>
                          <a:ea typeface="Arial"/>
                          <a:cs typeface="Arial"/>
                        </a:rPr>
                        <a:t>Metal</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410</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409</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1</a:t>
                      </a:r>
                    </a:p>
                  </a:txBody>
                  <a:tcPr marL="91440" marR="91440" marT="45720" marB="45720">
                    <a:lnR w="9525">
                      <a:solidFill>
                        <a:srgbClr val="D4DDD3"/>
                      </a:solidFill>
                      <a:prstDash val="solid"/>
                    </a:lnR>
                    <a:lnB w="9525">
                      <a:solidFill>
                        <a:srgbClr val="D4DDD3"/>
                      </a:solidFill>
                      <a:prstDash val="solid"/>
                    </a:lnB>
                    <a:solidFill>
                      <a:srgbClr val="FFFFFF"/>
                    </a:solidFill>
                  </a:tcPr>
                </a:tc>
              </a:tr>
              <a:tr h="495300">
                <a:tc>
                  <a:txBody>
                    <a:bodyPr/>
                    <a:lstStyle/>
                    <a:p>
                      <a:r>
                        <a:rPr sz="1875" b="0">
                          <a:solidFill>
                            <a:srgbClr val="183C2D"/>
                          </a:solidFill>
                          <a:latin typeface="Arial"/>
                          <a:ea typeface="Arial"/>
                          <a:cs typeface="Arial"/>
                        </a:rPr>
                        <a:t>Paper</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594</a:t>
                      </a:r>
                    </a:p>
                  </a:txBody>
                  <a:tcPr marL="91440" marR="91440" marT="45720" marB="45720">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594</a:t>
                      </a:r>
                    </a:p>
                  </a:txBody>
                  <a:tcPr marL="91440" marR="91440" marT="45720" marB="45720">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0</a:t>
                      </a:r>
                    </a:p>
                  </a:txBody>
                  <a:tcPr marL="91440" marR="91440" marT="45720" marB="45720">
                    <a:lnR w="9525">
                      <a:solidFill>
                        <a:srgbClr val="D4DDD3"/>
                      </a:solidFill>
                      <a:prstDash val="solid"/>
                    </a:lnR>
                    <a:lnB w="9525">
                      <a:solidFill>
                        <a:srgbClr val="D4DDD3"/>
                      </a:solidFill>
                      <a:prstDash val="solid"/>
                    </a:lnB>
                    <a:solidFill>
                      <a:srgbClr val="EBF0E7"/>
                    </a:solidFill>
                  </a:tcPr>
                </a:tc>
              </a:tr>
              <a:tr h="495300">
                <a:tc>
                  <a:txBody>
                    <a:bodyPr/>
                    <a:lstStyle/>
                    <a:p>
                      <a:r>
                        <a:rPr sz="1875" b="0">
                          <a:solidFill>
                            <a:srgbClr val="183C2D"/>
                          </a:solidFill>
                          <a:latin typeface="Arial"/>
                          <a:ea typeface="Arial"/>
                          <a:cs typeface="Arial"/>
                        </a:rPr>
                        <a:t>Plastic</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482</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480</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2</a:t>
                      </a:r>
                    </a:p>
                  </a:txBody>
                  <a:tcPr marL="91440" marR="91440" marT="45720" marB="45720">
                    <a:lnR w="9525">
                      <a:solidFill>
                        <a:srgbClr val="D4DDD3"/>
                      </a:solidFill>
                      <a:prstDash val="solid"/>
                    </a:lnR>
                    <a:lnB w="9525">
                      <a:solidFill>
                        <a:srgbClr val="D4DDD3"/>
                      </a:solidFill>
                      <a:prstDash val="solid"/>
                    </a:lnB>
                    <a:solidFill>
                      <a:srgbClr val="FFFFFF"/>
                    </a:solidFill>
                  </a:tcPr>
                </a:tc>
              </a:tr>
              <a:tr h="495300">
                <a:tc>
                  <a:txBody>
                    <a:bodyPr/>
                    <a:lstStyle/>
                    <a:p>
                      <a:r>
                        <a:rPr sz="1875" b="0">
                          <a:solidFill>
                            <a:srgbClr val="183C2D"/>
                          </a:solidFill>
                          <a:latin typeface="Arial"/>
                          <a:ea typeface="Arial"/>
                          <a:cs typeface="Arial"/>
                        </a:rPr>
                        <a:t>Trash</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137</a:t>
                      </a:r>
                    </a:p>
                  </a:txBody>
                  <a:tcPr marL="91440" marR="91440" marT="45720" marB="45720">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137</a:t>
                      </a:r>
                    </a:p>
                  </a:txBody>
                  <a:tcPr marL="91440" marR="91440" marT="45720" marB="45720">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0</a:t>
                      </a:r>
                    </a:p>
                  </a:txBody>
                  <a:tcPr marL="91440" marR="91440" marT="45720" marB="45720">
                    <a:lnR w="9525">
                      <a:solidFill>
                        <a:srgbClr val="D4DDD3"/>
                      </a:solidFill>
                      <a:prstDash val="solid"/>
                    </a:lnR>
                    <a:lnB w="9525">
                      <a:solidFill>
                        <a:srgbClr val="D4DDD3"/>
                      </a:solidFill>
                      <a:prstDash val="solid"/>
                    </a:lnB>
                    <a:solidFill>
                      <a:srgbClr val="EBF0E7"/>
                    </a:solidFill>
                  </a:tcPr>
                </a:tc>
              </a:tr>
              <a:tr h="495300">
                <a:tc>
                  <a:txBody>
                    <a:bodyPr/>
                    <a:lstStyle/>
                    <a:p>
                      <a:r>
                        <a:rPr sz="1875" b="0">
                          <a:solidFill>
                            <a:srgbClr val="183C2D"/>
                          </a:solidFill>
                          <a:latin typeface="Arial"/>
                          <a:ea typeface="Arial"/>
                          <a:cs typeface="Arial"/>
                        </a:rPr>
                        <a:t>Total</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2,527</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2,521</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6</a:t>
                      </a:r>
                    </a:p>
                  </a:txBody>
                  <a:tcPr marL="91440" marR="91440" marT="45720" marB="45720">
                    <a:lnR w="9525">
                      <a:solidFill>
                        <a:srgbClr val="D4DDD3"/>
                      </a:solidFill>
                      <a:prstDash val="solid"/>
                    </a:lnR>
                    <a:lnB w="9525">
                      <a:solidFill>
                        <a:srgbClr val="D4DD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6C5B019-4F53-478F-8B1D-46EE6B770BD3}"/>
              </a:ext>
            </a:extLst>
          </p:cNvPr>
          <p:cNvSpPr>
            <a:spLocks xmlns:a="http://schemas.openxmlformats.org/drawingml/2006/main" noGrp="1"/>
          </p:cNvSpPr>
          <p:nvPr/>
        </p:nvSpPr>
        <p:spPr>
          <a:xfrm xmlns:a="http://schemas.openxmlformats.org/drawingml/2006/main">
            <a:off x="685800" y="59150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8714F"/>
                </a:solidFill>
                <a:latin typeface="Arial"/>
                <a:ea typeface="Arial"/>
                <a:cs typeface="Arial"/>
              </a:defRPr>
            </a:defPPr>
            <a:lvl1pPr>
              <a:defRPr sz="2025" b="0">
                <a:solidFill>
                  <a:srgbClr val="28714F"/>
                </a:solidFill>
                <a:latin typeface="Arial"/>
                <a:ea typeface="Arial"/>
                <a:cs typeface="Arial"/>
              </a:defRPr>
            </a:lvl1pPr>
            <a:lvl2pPr>
              <a:defRPr sz="2025" b="0">
                <a:solidFill>
                  <a:srgbClr val="28714F"/>
                </a:solidFill>
                <a:latin typeface="Arial"/>
                <a:ea typeface="Arial"/>
                <a:cs typeface="Arial"/>
              </a:defRPr>
            </a:lvl2pPr>
            <a:lvl3pPr>
              <a:defRPr sz="2025" b="0">
                <a:solidFill>
                  <a:srgbClr val="28714F"/>
                </a:solidFill>
                <a:latin typeface="Arial"/>
                <a:ea typeface="Arial"/>
                <a:cs typeface="Arial"/>
              </a:defRPr>
            </a:lvl3pPr>
            <a:lvl4pPr>
              <a:defRPr sz="2025" b="0">
                <a:solidFill>
                  <a:srgbClr val="28714F"/>
                </a:solidFill>
                <a:latin typeface="Arial"/>
                <a:ea typeface="Arial"/>
                <a:cs typeface="Arial"/>
              </a:defRPr>
            </a:lvl4pPr>
            <a:lvl5pPr>
              <a:defRPr sz="2025" b="0">
                <a:solidFill>
                  <a:srgbClr val="28714F"/>
                </a:solidFill>
                <a:latin typeface="Arial"/>
                <a:ea typeface="Arial"/>
                <a:cs typeface="Arial"/>
              </a:defRPr>
            </a:lvl5pPr>
            <a:lvl6pPr>
              <a:defRPr sz="2025" b="0">
                <a:solidFill>
                  <a:srgbClr val="28714F"/>
                </a:solidFill>
                <a:latin typeface="Arial"/>
                <a:ea typeface="Arial"/>
                <a:cs typeface="Arial"/>
              </a:defRPr>
            </a:lvl6pPr>
            <a:lvl7pPr>
              <a:defRPr sz="2025" b="0">
                <a:solidFill>
                  <a:srgbClr val="28714F"/>
                </a:solidFill>
                <a:latin typeface="Arial"/>
                <a:ea typeface="Arial"/>
                <a:cs typeface="Arial"/>
              </a:defRPr>
            </a:lvl7pPr>
            <a:lvl8pPr>
              <a:defRPr sz="2025" b="0">
                <a:solidFill>
                  <a:srgbClr val="28714F"/>
                </a:solidFill>
                <a:latin typeface="Arial"/>
                <a:ea typeface="Arial"/>
                <a:cs typeface="Arial"/>
              </a:defRPr>
            </a:lvl8pPr>
            <a:lvl9pPr>
              <a:defRPr sz="2025" b="0">
                <a:solidFill>
                  <a:srgbClr val="28714F"/>
                </a:solidFill>
                <a:latin typeface="Arial"/>
                <a:ea typeface="Arial"/>
                <a:cs typeface="Arial"/>
              </a:defRPr>
            </a:lvl9pPr>
          </a:lstStyle>
          <a:p xmlns:a="http://schemas.openxmlformats.org/drawingml/2006/main">
            <a:pPr>
              <a:defRPr sz="2025" b="0">
                <a:solidFill>
                  <a:srgbClr val="28714F"/>
                </a:solidFill>
                <a:latin typeface="Arial"/>
                <a:ea typeface="Arial"/>
                <a:cs typeface="Arial"/>
              </a:defRPr>
            </a:pPr>
            <a:r>
              <a:rPr sz="2025" b="0">
                <a:solidFill>
                  <a:srgbClr val="28714F"/>
                </a:solidFill>
                <a:latin typeface="Arial"/>
                <a:ea typeface="Arial"/>
                <a:cs typeface="Arial"/>
              </a:rPr>
              <a:t>Paper is the largest class. Trash is the smallest.</a:t>
            </a:r>
          </a:p>
        </p:txBody>
      </p:sp>
    </p:spTree>
    <p:extLst>
      <p:ext uri="{BB962C8B-B14F-4D97-AF65-F5344CB8AC3E}">
        <p14:creationId xmlns:p14="http://schemas.microsoft.com/office/powerpoint/2010/main" val="123317648"/>
      </p:ext>
    </p:extLst>
  </p:cSld>
</p:sld>
</file>

<file path=ppt/slides/slide4.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B2D917-8544-400D-9963-BDDC026E6B40}"/>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Duplicate checks prevent misleading evaluation</a:t>
            </a:r>
          </a:p>
        </p:txBody>
      </p:sp>
      <p:sp>
        <p:nvSpPr>
          <p:cNvPr id="2" name="">
            <a:extLst xmlns:a="http://schemas.openxmlformats.org/drawingml/2006/main">
              <a:ext uri="{FF2B5EF4-FFF2-40B4-BE49-F238E27FC236}">
                <a16:creationId xmlns:a16="http://schemas.microsoft.com/office/drawing/2014/main" id="{031F1178-F5EB-4FF7-B616-4AE1454C3391}"/>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93EDF062-90D8-45A1-837B-3BB7FB8DB8D0}"/>
              </a:ext>
            </a:extLst>
          </p:cNvPr>
          <p:cNvPicPr>
            <a:picLocks xmlns:a="http://schemas.openxmlformats.org/drawingml/2006/main" noChangeAspect="1"/>
          </p:cNvPicPr>
          <p:nvPr/>
        </p:nvPicPr>
        <p:blipFill>
          <a:blip xmlns:r="http://schemas.openxmlformats.org/officeDocument/2006/relationships" xmlns:a="http://schemas.openxmlformats.org/drawingml/2006/main" r:embed="R9905eb04147441e1"/>
          <a:stretch xmlns:a="http://schemas.openxmlformats.org/drawingml/2006/main"/>
        </p:blipFill>
        <p:spPr>
          <a:xfrm xmlns:a="http://schemas.openxmlformats.org/drawingml/2006/main">
            <a:off x="1265238" y="1857375"/>
            <a:ext cx="3365500" cy="252412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B2D1BB7A-BB10-44D8-AB7F-70F29FC03684}"/>
              </a:ext>
            </a:extLst>
          </p:cNvPr>
          <p:cNvPicPr>
            <a:picLocks xmlns:a="http://schemas.openxmlformats.org/drawingml/2006/main" noChangeAspect="1"/>
          </p:cNvPicPr>
          <p:nvPr/>
        </p:nvPicPr>
        <p:blipFill>
          <a:blip xmlns:r="http://schemas.openxmlformats.org/officeDocument/2006/relationships" xmlns:a="http://schemas.openxmlformats.org/drawingml/2006/main" r:embed="Rc49af31cd1e84864"/>
          <a:stretch xmlns:a="http://schemas.openxmlformats.org/drawingml/2006/main"/>
        </p:blipFill>
        <p:spPr>
          <a:xfrm xmlns:a="http://schemas.openxmlformats.org/drawingml/2006/main">
            <a:off x="6961188" y="1857375"/>
            <a:ext cx="3365500" cy="2524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28CAB3B-3D25-483C-9521-ABC2D13802D2}"/>
              </a:ext>
            </a:extLst>
          </p:cNvPr>
          <p:cNvSpPr>
            <a:spLocks xmlns:a="http://schemas.openxmlformats.org/drawingml/2006/main" noGrp="1"/>
          </p:cNvSpPr>
          <p:nvPr/>
        </p:nvSpPr>
        <p:spPr>
          <a:xfrm xmlns:a="http://schemas.openxmlformats.org/drawingml/2006/main">
            <a:off x="685800" y="4476750"/>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3C2D"/>
                </a:solidFill>
                <a:latin typeface="Arial"/>
                <a:ea typeface="Arial"/>
                <a:cs typeface="Arial"/>
              </a:defRPr>
            </a:defPPr>
            <a:lvl1pPr>
              <a:defRPr sz="1950" b="1">
                <a:solidFill>
                  <a:srgbClr val="183C2D"/>
                </a:solidFill>
                <a:latin typeface="Arial"/>
                <a:ea typeface="Arial"/>
                <a:cs typeface="Arial"/>
              </a:defRPr>
            </a:lvl1pPr>
            <a:lvl2pPr>
              <a:defRPr sz="1950" b="1">
                <a:solidFill>
                  <a:srgbClr val="183C2D"/>
                </a:solidFill>
                <a:latin typeface="Arial"/>
                <a:ea typeface="Arial"/>
                <a:cs typeface="Arial"/>
              </a:defRPr>
            </a:lvl2pPr>
            <a:lvl3pPr>
              <a:defRPr sz="1950" b="1">
                <a:solidFill>
                  <a:srgbClr val="183C2D"/>
                </a:solidFill>
                <a:latin typeface="Arial"/>
                <a:ea typeface="Arial"/>
                <a:cs typeface="Arial"/>
              </a:defRPr>
            </a:lvl3pPr>
            <a:lvl4pPr>
              <a:defRPr sz="1950" b="1">
                <a:solidFill>
                  <a:srgbClr val="183C2D"/>
                </a:solidFill>
                <a:latin typeface="Arial"/>
                <a:ea typeface="Arial"/>
                <a:cs typeface="Arial"/>
              </a:defRPr>
            </a:lvl4pPr>
            <a:lvl5pPr>
              <a:defRPr sz="1950" b="1">
                <a:solidFill>
                  <a:srgbClr val="183C2D"/>
                </a:solidFill>
                <a:latin typeface="Arial"/>
                <a:ea typeface="Arial"/>
                <a:cs typeface="Arial"/>
              </a:defRPr>
            </a:lvl5pPr>
            <a:lvl6pPr>
              <a:defRPr sz="1950" b="1">
                <a:solidFill>
                  <a:srgbClr val="183C2D"/>
                </a:solidFill>
                <a:latin typeface="Arial"/>
                <a:ea typeface="Arial"/>
                <a:cs typeface="Arial"/>
              </a:defRPr>
            </a:lvl6pPr>
            <a:lvl7pPr>
              <a:defRPr sz="1950" b="1">
                <a:solidFill>
                  <a:srgbClr val="183C2D"/>
                </a:solidFill>
                <a:latin typeface="Arial"/>
                <a:ea typeface="Arial"/>
                <a:cs typeface="Arial"/>
              </a:defRPr>
            </a:lvl7pPr>
            <a:lvl8pPr>
              <a:defRPr sz="1950" b="1">
                <a:solidFill>
                  <a:srgbClr val="183C2D"/>
                </a:solidFill>
                <a:latin typeface="Arial"/>
                <a:ea typeface="Arial"/>
                <a:cs typeface="Arial"/>
              </a:defRPr>
            </a:lvl8pPr>
            <a:lvl9pPr>
              <a:defRPr sz="1950" b="1">
                <a:solidFill>
                  <a:srgbClr val="183C2D"/>
                </a:solidFill>
                <a:latin typeface="Arial"/>
                <a:ea typeface="Arial"/>
                <a:cs typeface="Arial"/>
              </a:defRPr>
            </a:lvl9pPr>
          </a:lstStyle>
          <a:p xmlns:a="http://schemas.openxmlformats.org/drawingml/2006/main">
            <a:pPr>
              <a:defRPr sz="1950" b="1">
                <a:solidFill>
                  <a:srgbClr val="183C2D"/>
                </a:solidFill>
                <a:latin typeface="Arial"/>
                <a:ea typeface="Arial"/>
                <a:cs typeface="Arial"/>
              </a:defRPr>
            </a:pPr>
            <a:r>
              <a:rPr sz="1950" b="1">
                <a:solidFill>
                  <a:srgbClr val="183C2D"/>
                </a:solidFill>
                <a:latin typeface="Arial"/>
                <a:ea typeface="Arial"/>
                <a:cs typeface="Arial"/>
              </a:rPr>
              <a:t>glass/glass115.jpg</a:t>
            </a:r>
          </a:p>
        </p:txBody>
      </p:sp>
      <p:sp>
        <p:nvSpPr>
          <p:cNvPr id="6" name="">
            <a:extLst xmlns:a="http://schemas.openxmlformats.org/drawingml/2006/main">
              <a:ext uri="{FF2B5EF4-FFF2-40B4-BE49-F238E27FC236}">
                <a16:creationId xmlns:a16="http://schemas.microsoft.com/office/drawing/2014/main" id="{2CBB7FCA-5250-4FF1-9C58-B38EDF229EE7}"/>
              </a:ext>
            </a:extLst>
          </p:cNvPr>
          <p:cNvSpPr>
            <a:spLocks xmlns:a="http://schemas.openxmlformats.org/drawingml/2006/main" noGrp="1"/>
          </p:cNvSpPr>
          <p:nvPr/>
        </p:nvSpPr>
        <p:spPr>
          <a:xfrm xmlns:a="http://schemas.openxmlformats.org/drawingml/2006/main">
            <a:off x="6381750" y="4476750"/>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3C2D"/>
                </a:solidFill>
                <a:latin typeface="Arial"/>
                <a:ea typeface="Arial"/>
                <a:cs typeface="Arial"/>
              </a:defRPr>
            </a:defPPr>
            <a:lvl1pPr>
              <a:defRPr sz="1950" b="1">
                <a:solidFill>
                  <a:srgbClr val="183C2D"/>
                </a:solidFill>
                <a:latin typeface="Arial"/>
                <a:ea typeface="Arial"/>
                <a:cs typeface="Arial"/>
              </a:defRPr>
            </a:lvl1pPr>
            <a:lvl2pPr>
              <a:defRPr sz="1950" b="1">
                <a:solidFill>
                  <a:srgbClr val="183C2D"/>
                </a:solidFill>
                <a:latin typeface="Arial"/>
                <a:ea typeface="Arial"/>
                <a:cs typeface="Arial"/>
              </a:defRPr>
            </a:lvl2pPr>
            <a:lvl3pPr>
              <a:defRPr sz="1950" b="1">
                <a:solidFill>
                  <a:srgbClr val="183C2D"/>
                </a:solidFill>
                <a:latin typeface="Arial"/>
                <a:ea typeface="Arial"/>
                <a:cs typeface="Arial"/>
              </a:defRPr>
            </a:lvl3pPr>
            <a:lvl4pPr>
              <a:defRPr sz="1950" b="1">
                <a:solidFill>
                  <a:srgbClr val="183C2D"/>
                </a:solidFill>
                <a:latin typeface="Arial"/>
                <a:ea typeface="Arial"/>
                <a:cs typeface="Arial"/>
              </a:defRPr>
            </a:lvl4pPr>
            <a:lvl5pPr>
              <a:defRPr sz="1950" b="1">
                <a:solidFill>
                  <a:srgbClr val="183C2D"/>
                </a:solidFill>
                <a:latin typeface="Arial"/>
                <a:ea typeface="Arial"/>
                <a:cs typeface="Arial"/>
              </a:defRPr>
            </a:lvl5pPr>
            <a:lvl6pPr>
              <a:defRPr sz="1950" b="1">
                <a:solidFill>
                  <a:srgbClr val="183C2D"/>
                </a:solidFill>
                <a:latin typeface="Arial"/>
                <a:ea typeface="Arial"/>
                <a:cs typeface="Arial"/>
              </a:defRPr>
            </a:lvl6pPr>
            <a:lvl7pPr>
              <a:defRPr sz="1950" b="1">
                <a:solidFill>
                  <a:srgbClr val="183C2D"/>
                </a:solidFill>
                <a:latin typeface="Arial"/>
                <a:ea typeface="Arial"/>
                <a:cs typeface="Arial"/>
              </a:defRPr>
            </a:lvl7pPr>
            <a:lvl8pPr>
              <a:defRPr sz="1950" b="1">
                <a:solidFill>
                  <a:srgbClr val="183C2D"/>
                </a:solidFill>
                <a:latin typeface="Arial"/>
                <a:ea typeface="Arial"/>
                <a:cs typeface="Arial"/>
              </a:defRPr>
            </a:lvl8pPr>
            <a:lvl9pPr>
              <a:defRPr sz="1950" b="1">
                <a:solidFill>
                  <a:srgbClr val="183C2D"/>
                </a:solidFill>
                <a:latin typeface="Arial"/>
                <a:ea typeface="Arial"/>
                <a:cs typeface="Arial"/>
              </a:defRPr>
            </a:lvl9pPr>
          </a:lstStyle>
          <a:p xmlns:a="http://schemas.openxmlformats.org/drawingml/2006/main">
            <a:pPr>
              <a:defRPr sz="1950" b="1">
                <a:solidFill>
                  <a:srgbClr val="183C2D"/>
                </a:solidFill>
                <a:latin typeface="Arial"/>
                <a:ea typeface="Arial"/>
                <a:cs typeface="Arial"/>
              </a:defRPr>
            </a:pPr>
            <a:r>
              <a:rPr sz="1950" b="1">
                <a:solidFill>
                  <a:srgbClr val="183C2D"/>
                </a:solidFill>
                <a:latin typeface="Arial"/>
                <a:ea typeface="Arial"/>
                <a:cs typeface="Arial"/>
              </a:rPr>
              <a:t>metal/metal91.jpg</a:t>
            </a:r>
          </a:p>
        </p:txBody>
      </p:sp>
      <p:sp>
        <p:nvSpPr>
          <p:cNvPr id="7" name="">
            <a:extLst xmlns:a="http://schemas.openxmlformats.org/drawingml/2006/main">
              <a:ext uri="{FF2B5EF4-FFF2-40B4-BE49-F238E27FC236}">
                <a16:creationId xmlns:a16="http://schemas.microsoft.com/office/drawing/2014/main" id="{B3228FD5-D708-453D-BC66-FE5D70DE840B}"/>
              </a:ext>
            </a:extLst>
          </p:cNvPr>
          <p:cNvSpPr>
            <a:spLocks xmlns:a="http://schemas.openxmlformats.org/drawingml/2006/main" noGrp="1"/>
          </p:cNvSpPr>
          <p:nvPr/>
        </p:nvSpPr>
        <p:spPr>
          <a:xfrm xmlns:a="http://schemas.openxmlformats.org/drawingml/2006/main">
            <a:off x="685800" y="51244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8714F"/>
                </a:solidFill>
                <a:latin typeface="Arial"/>
                <a:ea typeface="Arial"/>
                <a:cs typeface="Arial"/>
              </a:defRPr>
            </a:defPPr>
            <a:lvl1pPr>
              <a:defRPr sz="2325" b="1">
                <a:solidFill>
                  <a:srgbClr val="28714F"/>
                </a:solidFill>
                <a:latin typeface="Arial"/>
                <a:ea typeface="Arial"/>
                <a:cs typeface="Arial"/>
              </a:defRPr>
            </a:lvl1pPr>
            <a:lvl2pPr>
              <a:defRPr sz="2325" b="1">
                <a:solidFill>
                  <a:srgbClr val="28714F"/>
                </a:solidFill>
                <a:latin typeface="Arial"/>
                <a:ea typeface="Arial"/>
                <a:cs typeface="Arial"/>
              </a:defRPr>
            </a:lvl2pPr>
            <a:lvl3pPr>
              <a:defRPr sz="2325" b="1">
                <a:solidFill>
                  <a:srgbClr val="28714F"/>
                </a:solidFill>
                <a:latin typeface="Arial"/>
                <a:ea typeface="Arial"/>
                <a:cs typeface="Arial"/>
              </a:defRPr>
            </a:lvl3pPr>
            <a:lvl4pPr>
              <a:defRPr sz="2325" b="1">
                <a:solidFill>
                  <a:srgbClr val="28714F"/>
                </a:solidFill>
                <a:latin typeface="Arial"/>
                <a:ea typeface="Arial"/>
                <a:cs typeface="Arial"/>
              </a:defRPr>
            </a:lvl4pPr>
            <a:lvl5pPr>
              <a:defRPr sz="2325" b="1">
                <a:solidFill>
                  <a:srgbClr val="28714F"/>
                </a:solidFill>
                <a:latin typeface="Arial"/>
                <a:ea typeface="Arial"/>
                <a:cs typeface="Arial"/>
              </a:defRPr>
            </a:lvl5pPr>
            <a:lvl6pPr>
              <a:defRPr sz="2325" b="1">
                <a:solidFill>
                  <a:srgbClr val="28714F"/>
                </a:solidFill>
                <a:latin typeface="Arial"/>
                <a:ea typeface="Arial"/>
                <a:cs typeface="Arial"/>
              </a:defRPr>
            </a:lvl6pPr>
            <a:lvl7pPr>
              <a:defRPr sz="2325" b="1">
                <a:solidFill>
                  <a:srgbClr val="28714F"/>
                </a:solidFill>
                <a:latin typeface="Arial"/>
                <a:ea typeface="Arial"/>
                <a:cs typeface="Arial"/>
              </a:defRPr>
            </a:lvl7pPr>
            <a:lvl8pPr>
              <a:defRPr sz="2325" b="1">
                <a:solidFill>
                  <a:srgbClr val="28714F"/>
                </a:solidFill>
                <a:latin typeface="Arial"/>
                <a:ea typeface="Arial"/>
                <a:cs typeface="Arial"/>
              </a:defRPr>
            </a:lvl8pPr>
            <a:lvl9pPr>
              <a:defRPr sz="2325" b="1">
                <a:solidFill>
                  <a:srgbClr val="28714F"/>
                </a:solidFill>
                <a:latin typeface="Arial"/>
                <a:ea typeface="Arial"/>
                <a:cs typeface="Arial"/>
              </a:defRPr>
            </a:lvl9pPr>
          </a:lstStyle>
          <a:p xmlns:a="http://schemas.openxmlformats.org/drawingml/2006/main">
            <a:pPr>
              <a:defRPr sz="2325" b="1">
                <a:solidFill>
                  <a:srgbClr val="28714F"/>
                </a:solidFill>
                <a:latin typeface="Arial"/>
                <a:ea typeface="Arial"/>
                <a:cs typeface="Arial"/>
              </a:defRPr>
            </a:pPr>
            <a:r>
              <a:rPr sz="2325" b="1">
                <a:solidFill>
                  <a:srgbClr val="28714F"/>
                </a:solidFill>
                <a:latin typeface="Arial"/>
                <a:ea typeface="Arial"/>
                <a:cs typeface="Arial"/>
              </a:rPr>
              <a:t>Identical pixels, conflicting labels: both excluded.</a:t>
            </a:r>
          </a:p>
        </p:txBody>
      </p:sp>
      <p:sp>
        <p:nvSpPr>
          <p:cNvPr id="8" name="">
            <a:extLst xmlns:a="http://schemas.openxmlformats.org/drawingml/2006/main">
              <a:ext uri="{FF2B5EF4-FFF2-40B4-BE49-F238E27FC236}">
                <a16:creationId xmlns:a16="http://schemas.microsoft.com/office/drawing/2014/main" id="{E1FA00CF-4582-4FE1-A66C-07DB89559D12}"/>
              </a:ext>
            </a:extLst>
          </p:cNvPr>
          <p:cNvSpPr>
            <a:spLocks xmlns:a="http://schemas.openxmlformats.org/drawingml/2006/main" noGrp="1"/>
          </p:cNvSpPr>
          <p:nvPr/>
        </p:nvSpPr>
        <p:spPr>
          <a:xfrm xmlns:a="http://schemas.openxmlformats.org/drawingml/2006/main">
            <a:off x="685800" y="57150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83C2D"/>
                </a:solidFill>
                <a:latin typeface="Arial"/>
                <a:ea typeface="Arial"/>
                <a:cs typeface="Arial"/>
              </a:defRPr>
            </a:defPPr>
            <a:lvl1pPr>
              <a:defRPr sz="1950" b="0">
                <a:solidFill>
                  <a:srgbClr val="183C2D"/>
                </a:solidFill>
                <a:latin typeface="Arial"/>
                <a:ea typeface="Arial"/>
                <a:cs typeface="Arial"/>
              </a:defRPr>
            </a:lvl1pPr>
            <a:lvl2pPr>
              <a:defRPr sz="1950" b="0">
                <a:solidFill>
                  <a:srgbClr val="183C2D"/>
                </a:solidFill>
                <a:latin typeface="Arial"/>
                <a:ea typeface="Arial"/>
                <a:cs typeface="Arial"/>
              </a:defRPr>
            </a:lvl2pPr>
            <a:lvl3pPr>
              <a:defRPr sz="1950" b="0">
                <a:solidFill>
                  <a:srgbClr val="183C2D"/>
                </a:solidFill>
                <a:latin typeface="Arial"/>
                <a:ea typeface="Arial"/>
                <a:cs typeface="Arial"/>
              </a:defRPr>
            </a:lvl3pPr>
            <a:lvl4pPr>
              <a:defRPr sz="1950" b="0">
                <a:solidFill>
                  <a:srgbClr val="183C2D"/>
                </a:solidFill>
                <a:latin typeface="Arial"/>
                <a:ea typeface="Arial"/>
                <a:cs typeface="Arial"/>
              </a:defRPr>
            </a:lvl4pPr>
            <a:lvl5pPr>
              <a:defRPr sz="1950" b="0">
                <a:solidFill>
                  <a:srgbClr val="183C2D"/>
                </a:solidFill>
                <a:latin typeface="Arial"/>
                <a:ea typeface="Arial"/>
                <a:cs typeface="Arial"/>
              </a:defRPr>
            </a:lvl5pPr>
            <a:lvl6pPr>
              <a:defRPr sz="1950" b="0">
                <a:solidFill>
                  <a:srgbClr val="183C2D"/>
                </a:solidFill>
                <a:latin typeface="Arial"/>
                <a:ea typeface="Arial"/>
                <a:cs typeface="Arial"/>
              </a:defRPr>
            </a:lvl6pPr>
            <a:lvl7pPr>
              <a:defRPr sz="1950" b="0">
                <a:solidFill>
                  <a:srgbClr val="183C2D"/>
                </a:solidFill>
                <a:latin typeface="Arial"/>
                <a:ea typeface="Arial"/>
                <a:cs typeface="Arial"/>
              </a:defRPr>
            </a:lvl7pPr>
            <a:lvl8pPr>
              <a:defRPr sz="1950" b="0">
                <a:solidFill>
                  <a:srgbClr val="183C2D"/>
                </a:solidFill>
                <a:latin typeface="Arial"/>
                <a:ea typeface="Arial"/>
                <a:cs typeface="Arial"/>
              </a:defRPr>
            </a:lvl8pPr>
            <a:lvl9pPr>
              <a:defRPr sz="1950" b="0">
                <a:solidFill>
                  <a:srgbClr val="183C2D"/>
                </a:solidFill>
                <a:latin typeface="Arial"/>
                <a:ea typeface="Arial"/>
                <a:cs typeface="Arial"/>
              </a:defRPr>
            </a:lvl9pPr>
          </a:lstStyle>
          <a:p xmlns:a="http://schemas.openxmlformats.org/drawingml/2006/main">
            <a:pPr>
              <a:defRPr sz="1950" b="0">
                <a:solidFill>
                  <a:srgbClr val="183C2D"/>
                </a:solidFill>
                <a:latin typeface="Arial"/>
                <a:ea typeface="Arial"/>
                <a:cs typeface="Arial"/>
              </a:defRPr>
            </a:pPr>
            <a:r>
              <a:rPr sz="1950" b="0">
                <a:solidFill>
                  <a:srgbClr val="183C2D"/>
                </a:solidFill>
                <a:latin typeface="Arial"/>
                <a:ea typeface="Arial"/>
                <a:cs typeface="Arial"/>
              </a:rPr>
              <a:t>Six excluded files. 45 near-duplicate candidate pairs for review.</a:t>
            </a:r>
          </a:p>
        </p:txBody>
      </p:sp>
    </p:spTree>
    <p:extLst>
      <p:ext uri="{BB962C8B-B14F-4D97-AF65-F5344CB8AC3E}">
        <p14:creationId xmlns:p14="http://schemas.microsoft.com/office/powerpoint/2010/main" val="370028102"/>
      </p:ext>
    </p:extLst>
  </p:cSld>
</p:sld>
</file>

<file path=ppt/slides/slide5.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CC4A08-F9A5-437C-9E02-09E770DF84C9}"/>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Separate training, validation and test images</a:t>
            </a:r>
          </a:p>
        </p:txBody>
      </p:sp>
      <p:sp>
        <p:nvSpPr>
          <p:cNvPr id="2" name="">
            <a:extLst xmlns:a="http://schemas.openxmlformats.org/drawingml/2006/main">
              <a:ext uri="{FF2B5EF4-FFF2-40B4-BE49-F238E27FC236}">
                <a16:creationId xmlns:a16="http://schemas.microsoft.com/office/drawing/2014/main" id="{2C606E95-E218-41D1-BA23-84DE6960B2CC}"/>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132668E3-E20C-40AF-9578-E7A5993797C0}"/>
              </a:ext>
            </a:extLst>
          </p:cNvPr>
          <p:cNvGraphicFramePr/>
          <p:nvPr/>
        </p:nvGraphicFramePr>
        <p:xfrm>
          <a:off xmlns:a="http://schemas.openxmlformats.org/drawingml/2006/main" x="685800" y="1952625"/>
          <a:ext xmlns:a="http://schemas.openxmlformats.org/drawingml/2006/main" cx="10820400" cy="3048000"/>
        </p:xfrm>
        <a:graphic xmlns:a="http://schemas.openxmlformats.org/drawingml/2006/main">
          <a:graphicData uri="http://schemas.openxmlformats.org/drawingml/2006/table">
            <a:tbl>
              <a:tblPr/>
              <a:tblGrid>
                <a:gridCol w="2667000"/>
                <a:gridCol w="1905000"/>
                <a:gridCol w="6248400"/>
              </a:tblGrid>
              <a:tr h="762000">
                <a:tc>
                  <a:txBody>
                    <a:bodyPr/>
                    <a:lstStyle/>
                    <a:p>
                      <a:r>
                        <a:rPr sz="2025" b="1">
                          <a:solidFill>
                            <a:srgbClr val="FFFFFF"/>
                          </a:solidFill>
                          <a:latin typeface="Arial"/>
                          <a:ea typeface="Arial"/>
                          <a:cs typeface="Arial"/>
                        </a:rPr>
                        <a:t>Partition</a:t>
                      </a:r>
                    </a:p>
                  </a:txBody>
                  <a:tcPr marL="91440" marR="91440" marT="45720" marB="45720">
                    <a:lnL w="9525">
                      <a:solidFill>
                        <a:srgbClr val="D4DDD3"/>
                      </a:solidFill>
                      <a:prstDash val="solid"/>
                    </a:lnL>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c>
                  <a:txBody>
                    <a:bodyPr/>
                    <a:lstStyle/>
                    <a:p>
                      <a:r>
                        <a:rPr sz="2025" b="1">
                          <a:solidFill>
                            <a:srgbClr val="FFFFFF"/>
                          </a:solidFill>
                          <a:latin typeface="Arial"/>
                          <a:ea typeface="Arial"/>
                          <a:cs typeface="Arial"/>
                        </a:rPr>
                        <a:t>Images</a:t>
                      </a:r>
                    </a:p>
                  </a:txBody>
                  <a:tcPr marL="91440" marR="91440" marT="45720" marB="45720">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c>
                  <a:txBody>
                    <a:bodyPr/>
                    <a:lstStyle/>
                    <a:p>
                      <a:r>
                        <a:rPr sz="2025" b="1">
                          <a:solidFill>
                            <a:srgbClr val="FFFFFF"/>
                          </a:solidFill>
                          <a:latin typeface="Arial"/>
                          <a:ea typeface="Arial"/>
                          <a:cs typeface="Arial"/>
                        </a:rPr>
                        <a:t>Purpose</a:t>
                      </a:r>
                    </a:p>
                  </a:txBody>
                  <a:tcPr marL="91440" marR="91440" marT="45720" marB="45720">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r>
              <a:tr h="762000">
                <a:tc>
                  <a:txBody>
                    <a:bodyPr/>
                    <a:lstStyle/>
                    <a:p>
                      <a:r>
                        <a:rPr sz="2025" b="0">
                          <a:solidFill>
                            <a:srgbClr val="183C2D"/>
                          </a:solidFill>
                          <a:latin typeface="Arial"/>
                          <a:ea typeface="Arial"/>
                          <a:cs typeface="Arial"/>
                        </a:rPr>
                        <a:t>Training</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2025" b="0">
                          <a:solidFill>
                            <a:srgbClr val="183C2D"/>
                          </a:solidFill>
                          <a:latin typeface="Arial"/>
                          <a:ea typeface="Arial"/>
                          <a:cs typeface="Arial"/>
                        </a:rPr>
                        <a:t>1,774</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2025" b="0">
                          <a:solidFill>
                            <a:srgbClr val="183C2D"/>
                          </a:solidFill>
                          <a:latin typeface="Arial"/>
                          <a:ea typeface="Arial"/>
                          <a:cs typeface="Arial"/>
                        </a:rPr>
                        <a:t>Fit the model</a:t>
                      </a:r>
                    </a:p>
                  </a:txBody>
                  <a:tcPr marL="91440" marR="91440" marT="45720" marB="45720">
                    <a:lnR w="9525">
                      <a:solidFill>
                        <a:srgbClr val="D4DDD3"/>
                      </a:solidFill>
                      <a:prstDash val="solid"/>
                    </a:lnR>
                    <a:lnB w="9525">
                      <a:solidFill>
                        <a:srgbClr val="D4DDD3"/>
                      </a:solidFill>
                      <a:prstDash val="solid"/>
                    </a:lnB>
                    <a:solidFill>
                      <a:srgbClr val="FFFFFF"/>
                    </a:solidFill>
                  </a:tcPr>
                </a:tc>
              </a:tr>
              <a:tr h="762000">
                <a:tc>
                  <a:txBody>
                    <a:bodyPr/>
                    <a:lstStyle/>
                    <a:p>
                      <a:r>
                        <a:rPr sz="2025" b="0">
                          <a:solidFill>
                            <a:srgbClr val="183C2D"/>
                          </a:solidFill>
                          <a:latin typeface="Arial"/>
                          <a:ea typeface="Arial"/>
                          <a:cs typeface="Arial"/>
                        </a:rPr>
                        <a:t>Validation</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EBF0E7"/>
                    </a:solidFill>
                  </a:tcPr>
                </a:tc>
                <a:tc>
                  <a:txBody>
                    <a:bodyPr/>
                    <a:lstStyle/>
                    <a:p>
                      <a:r>
                        <a:rPr sz="2025" b="0">
                          <a:solidFill>
                            <a:srgbClr val="183C2D"/>
                          </a:solidFill>
                          <a:latin typeface="Arial"/>
                          <a:ea typeface="Arial"/>
                          <a:cs typeface="Arial"/>
                        </a:rPr>
                        <a:t>371</a:t>
                      </a:r>
                    </a:p>
                  </a:txBody>
                  <a:tcPr marL="91440" marR="91440" marT="45720" marB="45720">
                    <a:lnR w="9525">
                      <a:solidFill>
                        <a:srgbClr val="D4DDD3"/>
                      </a:solidFill>
                      <a:prstDash val="solid"/>
                    </a:lnR>
                    <a:lnB w="9525">
                      <a:solidFill>
                        <a:srgbClr val="D4DDD3"/>
                      </a:solidFill>
                      <a:prstDash val="solid"/>
                    </a:lnB>
                    <a:solidFill>
                      <a:srgbClr val="EBF0E7"/>
                    </a:solidFill>
                  </a:tcPr>
                </a:tc>
                <a:tc>
                  <a:txBody>
                    <a:bodyPr/>
                    <a:lstStyle/>
                    <a:p>
                      <a:r>
                        <a:rPr sz="2025" b="0">
                          <a:solidFill>
                            <a:srgbClr val="183C2D"/>
                          </a:solidFill>
                          <a:latin typeface="Arial"/>
                          <a:ea typeface="Arial"/>
                          <a:cs typeface="Arial"/>
                        </a:rPr>
                        <a:t>Select settings and model</a:t>
                      </a:r>
                    </a:p>
                  </a:txBody>
                  <a:tcPr marL="91440" marR="91440" marT="45720" marB="45720">
                    <a:lnR w="9525">
                      <a:solidFill>
                        <a:srgbClr val="D4DDD3"/>
                      </a:solidFill>
                      <a:prstDash val="solid"/>
                    </a:lnR>
                    <a:lnB w="9525">
                      <a:solidFill>
                        <a:srgbClr val="D4DDD3"/>
                      </a:solidFill>
                      <a:prstDash val="solid"/>
                    </a:lnB>
                    <a:solidFill>
                      <a:srgbClr val="EBF0E7"/>
                    </a:solidFill>
                  </a:tcPr>
                </a:tc>
              </a:tr>
              <a:tr h="762000">
                <a:tc>
                  <a:txBody>
                    <a:bodyPr/>
                    <a:lstStyle/>
                    <a:p>
                      <a:r>
                        <a:rPr sz="2025" b="0">
                          <a:solidFill>
                            <a:srgbClr val="183C2D"/>
                          </a:solidFill>
                          <a:latin typeface="Arial"/>
                          <a:ea typeface="Arial"/>
                          <a:cs typeface="Arial"/>
                        </a:rPr>
                        <a:t>Test</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2025" b="0">
                          <a:solidFill>
                            <a:srgbClr val="183C2D"/>
                          </a:solidFill>
                          <a:latin typeface="Arial"/>
                          <a:ea typeface="Arial"/>
                          <a:cs typeface="Arial"/>
                        </a:rPr>
                        <a:t>376</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2025" b="0">
                          <a:solidFill>
                            <a:srgbClr val="183C2D"/>
                          </a:solidFill>
                          <a:latin typeface="Arial"/>
                          <a:ea typeface="Arial"/>
                          <a:cs typeface="Arial"/>
                        </a:rPr>
                        <a:t>Evaluate the frozen choice</a:t>
                      </a:r>
                    </a:p>
                  </a:txBody>
                  <a:tcPr marL="91440" marR="91440" marT="45720" marB="45720">
                    <a:lnR w="9525">
                      <a:solidFill>
                        <a:srgbClr val="D4DDD3"/>
                      </a:solidFill>
                      <a:prstDash val="solid"/>
                    </a:lnR>
                    <a:lnB w="9525">
                      <a:solidFill>
                        <a:srgbClr val="D4DD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7402BCF-A6B0-4861-883E-F012EB1EA24F}"/>
              </a:ext>
            </a:extLst>
          </p:cNvPr>
          <p:cNvSpPr>
            <a:spLocks xmlns:a="http://schemas.openxmlformats.org/drawingml/2006/main" noGrp="1"/>
          </p:cNvSpPr>
          <p:nvPr/>
        </p:nvSpPr>
        <p:spPr>
          <a:xfrm xmlns:a="http://schemas.openxmlformats.org/drawingml/2006/main">
            <a:off x="685800" y="54102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8714F"/>
                </a:solidFill>
                <a:latin typeface="Arial"/>
                <a:ea typeface="Arial"/>
                <a:cs typeface="Arial"/>
              </a:defRPr>
            </a:defPPr>
            <a:lvl1pPr>
              <a:defRPr sz="2250" b="1">
                <a:solidFill>
                  <a:srgbClr val="28714F"/>
                </a:solidFill>
                <a:latin typeface="Arial"/>
                <a:ea typeface="Arial"/>
                <a:cs typeface="Arial"/>
              </a:defRPr>
            </a:lvl1pPr>
            <a:lvl2pPr>
              <a:defRPr sz="2250" b="1">
                <a:solidFill>
                  <a:srgbClr val="28714F"/>
                </a:solidFill>
                <a:latin typeface="Arial"/>
                <a:ea typeface="Arial"/>
                <a:cs typeface="Arial"/>
              </a:defRPr>
            </a:lvl2pPr>
            <a:lvl3pPr>
              <a:defRPr sz="2250" b="1">
                <a:solidFill>
                  <a:srgbClr val="28714F"/>
                </a:solidFill>
                <a:latin typeface="Arial"/>
                <a:ea typeface="Arial"/>
                <a:cs typeface="Arial"/>
              </a:defRPr>
            </a:lvl3pPr>
            <a:lvl4pPr>
              <a:defRPr sz="2250" b="1">
                <a:solidFill>
                  <a:srgbClr val="28714F"/>
                </a:solidFill>
                <a:latin typeface="Arial"/>
                <a:ea typeface="Arial"/>
                <a:cs typeface="Arial"/>
              </a:defRPr>
            </a:lvl4pPr>
            <a:lvl5pPr>
              <a:defRPr sz="2250" b="1">
                <a:solidFill>
                  <a:srgbClr val="28714F"/>
                </a:solidFill>
                <a:latin typeface="Arial"/>
                <a:ea typeface="Arial"/>
                <a:cs typeface="Arial"/>
              </a:defRPr>
            </a:lvl5pPr>
            <a:lvl6pPr>
              <a:defRPr sz="2250" b="1">
                <a:solidFill>
                  <a:srgbClr val="28714F"/>
                </a:solidFill>
                <a:latin typeface="Arial"/>
                <a:ea typeface="Arial"/>
                <a:cs typeface="Arial"/>
              </a:defRPr>
            </a:lvl6pPr>
            <a:lvl7pPr>
              <a:defRPr sz="2250" b="1">
                <a:solidFill>
                  <a:srgbClr val="28714F"/>
                </a:solidFill>
                <a:latin typeface="Arial"/>
                <a:ea typeface="Arial"/>
                <a:cs typeface="Arial"/>
              </a:defRPr>
            </a:lvl7pPr>
            <a:lvl8pPr>
              <a:defRPr sz="2250" b="1">
                <a:solidFill>
                  <a:srgbClr val="28714F"/>
                </a:solidFill>
                <a:latin typeface="Arial"/>
                <a:ea typeface="Arial"/>
                <a:cs typeface="Arial"/>
              </a:defRPr>
            </a:lvl8pPr>
            <a:lvl9pPr>
              <a:defRPr sz="2250" b="1">
                <a:solidFill>
                  <a:srgbClr val="28714F"/>
                </a:solidFill>
                <a:latin typeface="Arial"/>
                <a:ea typeface="Arial"/>
                <a:cs typeface="Arial"/>
              </a:defRPr>
            </a:lvl9pPr>
          </a:lstStyle>
          <a:p xmlns:a="http://schemas.openxmlformats.org/drawingml/2006/main">
            <a:pPr>
              <a:defRPr sz="2250" b="1">
                <a:solidFill>
                  <a:srgbClr val="28714F"/>
                </a:solidFill>
                <a:latin typeface="Arial"/>
                <a:ea typeface="Arial"/>
                <a:cs typeface="Arial"/>
              </a:defRPr>
            </a:pPr>
            <a:r>
              <a:rPr sz="2250" b="1">
                <a:solidFill>
                  <a:srgbClr val="28714F"/>
                </a:solidFill>
                <a:latin typeface="Arial"/>
                <a:ea typeface="Arial"/>
                <a:cs typeface="Arial"/>
              </a:rPr>
              <a:t>Seed 42. Candidate groups stay in one partition.</a:t>
            </a:r>
          </a:p>
        </p:txBody>
      </p:sp>
      <p:sp>
        <p:nvSpPr>
          <p:cNvPr id="5" name="">
            <a:extLst xmlns:a="http://schemas.openxmlformats.org/drawingml/2006/main">
              <a:ext uri="{FF2B5EF4-FFF2-40B4-BE49-F238E27FC236}">
                <a16:creationId xmlns:a16="http://schemas.microsoft.com/office/drawing/2014/main" id="{AF3F5C93-FDA8-42C7-ACF3-ED094D95CC48}"/>
              </a:ext>
            </a:extLst>
          </p:cNvPr>
          <p:cNvSpPr>
            <a:spLocks xmlns:a="http://schemas.openxmlformats.org/drawingml/2006/main" noGrp="1"/>
          </p:cNvSpPr>
          <p:nvPr/>
        </p:nvSpPr>
        <p:spPr>
          <a:xfrm xmlns:a="http://schemas.openxmlformats.org/drawingml/2006/main">
            <a:off x="685800" y="59531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C2D"/>
                </a:solidFill>
                <a:latin typeface="Arial"/>
                <a:ea typeface="Arial"/>
                <a:cs typeface="Arial"/>
              </a:defRPr>
            </a:defPPr>
            <a:lvl1pPr>
              <a:defRPr sz="1875" b="0">
                <a:solidFill>
                  <a:srgbClr val="183C2D"/>
                </a:solidFill>
                <a:latin typeface="Arial"/>
                <a:ea typeface="Arial"/>
                <a:cs typeface="Arial"/>
              </a:defRPr>
            </a:lvl1pPr>
            <a:lvl2pPr>
              <a:defRPr sz="1875" b="0">
                <a:solidFill>
                  <a:srgbClr val="183C2D"/>
                </a:solidFill>
                <a:latin typeface="Arial"/>
                <a:ea typeface="Arial"/>
                <a:cs typeface="Arial"/>
              </a:defRPr>
            </a:lvl2pPr>
            <a:lvl3pPr>
              <a:defRPr sz="1875" b="0">
                <a:solidFill>
                  <a:srgbClr val="183C2D"/>
                </a:solidFill>
                <a:latin typeface="Arial"/>
                <a:ea typeface="Arial"/>
                <a:cs typeface="Arial"/>
              </a:defRPr>
            </a:lvl3pPr>
            <a:lvl4pPr>
              <a:defRPr sz="1875" b="0">
                <a:solidFill>
                  <a:srgbClr val="183C2D"/>
                </a:solidFill>
                <a:latin typeface="Arial"/>
                <a:ea typeface="Arial"/>
                <a:cs typeface="Arial"/>
              </a:defRPr>
            </a:lvl4pPr>
            <a:lvl5pPr>
              <a:defRPr sz="1875" b="0">
                <a:solidFill>
                  <a:srgbClr val="183C2D"/>
                </a:solidFill>
                <a:latin typeface="Arial"/>
                <a:ea typeface="Arial"/>
                <a:cs typeface="Arial"/>
              </a:defRPr>
            </a:lvl5pPr>
            <a:lvl6pPr>
              <a:defRPr sz="1875" b="0">
                <a:solidFill>
                  <a:srgbClr val="183C2D"/>
                </a:solidFill>
                <a:latin typeface="Arial"/>
                <a:ea typeface="Arial"/>
                <a:cs typeface="Arial"/>
              </a:defRPr>
            </a:lvl6pPr>
            <a:lvl7pPr>
              <a:defRPr sz="1875" b="0">
                <a:solidFill>
                  <a:srgbClr val="183C2D"/>
                </a:solidFill>
                <a:latin typeface="Arial"/>
                <a:ea typeface="Arial"/>
                <a:cs typeface="Arial"/>
              </a:defRPr>
            </a:lvl7pPr>
            <a:lvl8pPr>
              <a:defRPr sz="1875" b="0">
                <a:solidFill>
                  <a:srgbClr val="183C2D"/>
                </a:solidFill>
                <a:latin typeface="Arial"/>
                <a:ea typeface="Arial"/>
                <a:cs typeface="Arial"/>
              </a:defRPr>
            </a:lvl8pPr>
            <a:lvl9pPr>
              <a:defRPr sz="1875" b="0">
                <a:solidFill>
                  <a:srgbClr val="183C2D"/>
                </a:solidFill>
                <a:latin typeface="Arial"/>
                <a:ea typeface="Arial"/>
                <a:cs typeface="Arial"/>
              </a:defRPr>
            </a:lvl9pPr>
          </a:lstStyle>
          <a:p xmlns:a="http://schemas.openxmlformats.org/drawingml/2006/main">
            <a:pPr>
              <a:defRPr sz="1875" b="0">
                <a:solidFill>
                  <a:srgbClr val="183C2D"/>
                </a:solidFill>
                <a:latin typeface="Arial"/>
                <a:ea typeface="Arial"/>
                <a:cs typeface="Arial"/>
              </a:defRPr>
            </a:pPr>
            <a:r>
              <a:rPr sz="1875" b="0">
                <a:solidFill>
                  <a:srgbClr val="183C2D"/>
                </a:solidFill>
                <a:latin typeface="Arial"/>
                <a:ea typeface="Arial"/>
                <a:cs typeface="Arial"/>
              </a:rPr>
              <a:t>2,521 usable images; approximately 70 / 15 / 15.</a:t>
            </a:r>
          </a:p>
        </p:txBody>
      </p:sp>
    </p:spTree>
    <p:extLst>
      <p:ext uri="{BB962C8B-B14F-4D97-AF65-F5344CB8AC3E}">
        <p14:creationId xmlns:p14="http://schemas.microsoft.com/office/powerpoint/2010/main" val="1648611301"/>
      </p:ext>
    </p:extLst>
  </p:cSld>
</p:sld>
</file>

<file path=ppt/slides/slide6.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671403-EC5A-4260-98D9-ED88F662ADB8}"/>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Labels become category identifiers</a:t>
            </a:r>
          </a:p>
        </p:txBody>
      </p:sp>
      <p:sp>
        <p:nvSpPr>
          <p:cNvPr id="2" name="">
            <a:extLst xmlns:a="http://schemas.openxmlformats.org/drawingml/2006/main">
              <a:ext uri="{FF2B5EF4-FFF2-40B4-BE49-F238E27FC236}">
                <a16:creationId xmlns:a16="http://schemas.microsoft.com/office/drawing/2014/main" id="{53DEDCB7-3744-4CF8-889D-0F0A88B3EE94}"/>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586F4EA6-EA3C-4F0B-B20D-0EB10BAC59E8}"/>
              </a:ext>
            </a:extLst>
          </p:cNvPr>
          <p:cNvGraphicFramePr/>
          <p:nvPr/>
        </p:nvGraphicFramePr>
        <p:xfrm>
          <a:off xmlns:a="http://schemas.openxmlformats.org/drawingml/2006/main" x="685800" y="1857375"/>
          <a:ext xmlns:a="http://schemas.openxmlformats.org/drawingml/2006/main" cx="4857750" cy="4000500"/>
        </p:xfrm>
        <a:graphic xmlns:a="http://schemas.openxmlformats.org/drawingml/2006/main">
          <a:graphicData uri="http://schemas.openxmlformats.org/drawingml/2006/table">
            <a:tbl>
              <a:tblPr/>
              <a:tblGrid>
                <a:gridCol w="3143250"/>
                <a:gridCol w="1714500"/>
              </a:tblGrid>
              <a:tr h="571500">
                <a:tc>
                  <a:txBody>
                    <a:bodyPr/>
                    <a:lstStyle/>
                    <a:p>
                      <a:r>
                        <a:rPr sz="2025" b="1">
                          <a:solidFill>
                            <a:srgbClr val="FFFFFF"/>
                          </a:solidFill>
                          <a:latin typeface="Arial"/>
                          <a:ea typeface="Arial"/>
                          <a:cs typeface="Arial"/>
                        </a:rPr>
                        <a:t>Material</a:t>
                      </a:r>
                    </a:p>
                  </a:txBody>
                  <a:tcPr marL="91440" marR="91440" marT="45720" marB="45720">
                    <a:lnL w="9525">
                      <a:solidFill>
                        <a:srgbClr val="D4DDD3"/>
                      </a:solidFill>
                      <a:prstDash val="solid"/>
                    </a:lnL>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c>
                  <a:txBody>
                    <a:bodyPr/>
                    <a:lstStyle/>
                    <a:p>
                      <a:r>
                        <a:rPr sz="2025" b="1">
                          <a:solidFill>
                            <a:srgbClr val="FFFFFF"/>
                          </a:solidFill>
                          <a:latin typeface="Arial"/>
                          <a:ea typeface="Arial"/>
                          <a:cs typeface="Arial"/>
                        </a:rPr>
                        <a:t>Code</a:t>
                      </a:r>
                    </a:p>
                  </a:txBody>
                  <a:tcPr marL="91440" marR="91440" marT="45720" marB="45720">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r>
              <a:tr h="571500">
                <a:tc>
                  <a:txBody>
                    <a:bodyPr/>
                    <a:lstStyle/>
                    <a:p>
                      <a:r>
                        <a:rPr sz="2025" b="0">
                          <a:solidFill>
                            <a:srgbClr val="183C2D"/>
                          </a:solidFill>
                          <a:latin typeface="Arial"/>
                          <a:ea typeface="Arial"/>
                          <a:cs typeface="Arial"/>
                        </a:rPr>
                        <a:t>cardboard</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2025" b="0">
                          <a:solidFill>
                            <a:srgbClr val="183C2D"/>
                          </a:solidFill>
                          <a:latin typeface="Arial"/>
                          <a:ea typeface="Arial"/>
                          <a:cs typeface="Arial"/>
                        </a:rPr>
                        <a:t>0</a:t>
                      </a:r>
                    </a:p>
                  </a:txBody>
                  <a:tcPr marL="91440" marR="91440" marT="45720" marB="45720">
                    <a:lnR w="9525">
                      <a:solidFill>
                        <a:srgbClr val="D4DDD3"/>
                      </a:solidFill>
                      <a:prstDash val="solid"/>
                    </a:lnR>
                    <a:lnB w="9525">
                      <a:solidFill>
                        <a:srgbClr val="D4DDD3"/>
                      </a:solidFill>
                      <a:prstDash val="solid"/>
                    </a:lnB>
                    <a:solidFill>
                      <a:srgbClr val="FFFFFF"/>
                    </a:solidFill>
                  </a:tcPr>
                </a:tc>
              </a:tr>
              <a:tr h="571500">
                <a:tc>
                  <a:txBody>
                    <a:bodyPr/>
                    <a:lstStyle/>
                    <a:p>
                      <a:r>
                        <a:rPr sz="2025" b="0">
                          <a:solidFill>
                            <a:srgbClr val="183C2D"/>
                          </a:solidFill>
                          <a:latin typeface="Arial"/>
                          <a:ea typeface="Arial"/>
                          <a:cs typeface="Arial"/>
                        </a:rPr>
                        <a:t>glass</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EBF0E7"/>
                    </a:solidFill>
                  </a:tcPr>
                </a:tc>
                <a:tc>
                  <a:txBody>
                    <a:bodyPr/>
                    <a:lstStyle/>
                    <a:p>
                      <a:r>
                        <a:rPr sz="2025" b="0">
                          <a:solidFill>
                            <a:srgbClr val="183C2D"/>
                          </a:solidFill>
                          <a:latin typeface="Arial"/>
                          <a:ea typeface="Arial"/>
                          <a:cs typeface="Arial"/>
                        </a:rPr>
                        <a:t>1</a:t>
                      </a:r>
                    </a:p>
                  </a:txBody>
                  <a:tcPr marL="91440" marR="91440" marT="45720" marB="45720">
                    <a:lnR w="9525">
                      <a:solidFill>
                        <a:srgbClr val="D4DDD3"/>
                      </a:solidFill>
                      <a:prstDash val="solid"/>
                    </a:lnR>
                    <a:lnB w="9525">
                      <a:solidFill>
                        <a:srgbClr val="D4DDD3"/>
                      </a:solidFill>
                      <a:prstDash val="solid"/>
                    </a:lnB>
                    <a:solidFill>
                      <a:srgbClr val="EBF0E7"/>
                    </a:solidFill>
                  </a:tcPr>
                </a:tc>
              </a:tr>
              <a:tr h="571500">
                <a:tc>
                  <a:txBody>
                    <a:bodyPr/>
                    <a:lstStyle/>
                    <a:p>
                      <a:r>
                        <a:rPr sz="2025" b="0">
                          <a:solidFill>
                            <a:srgbClr val="183C2D"/>
                          </a:solidFill>
                          <a:latin typeface="Arial"/>
                          <a:ea typeface="Arial"/>
                          <a:cs typeface="Arial"/>
                        </a:rPr>
                        <a:t>metal</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2025" b="0">
                          <a:solidFill>
                            <a:srgbClr val="183C2D"/>
                          </a:solidFill>
                          <a:latin typeface="Arial"/>
                          <a:ea typeface="Arial"/>
                          <a:cs typeface="Arial"/>
                        </a:rPr>
                        <a:t>2</a:t>
                      </a:r>
                    </a:p>
                  </a:txBody>
                  <a:tcPr marL="91440" marR="91440" marT="45720" marB="45720">
                    <a:lnR w="9525">
                      <a:solidFill>
                        <a:srgbClr val="D4DDD3"/>
                      </a:solidFill>
                      <a:prstDash val="solid"/>
                    </a:lnR>
                    <a:lnB w="9525">
                      <a:solidFill>
                        <a:srgbClr val="D4DDD3"/>
                      </a:solidFill>
                      <a:prstDash val="solid"/>
                    </a:lnB>
                    <a:solidFill>
                      <a:srgbClr val="FFFFFF"/>
                    </a:solidFill>
                  </a:tcPr>
                </a:tc>
              </a:tr>
              <a:tr h="571500">
                <a:tc>
                  <a:txBody>
                    <a:bodyPr/>
                    <a:lstStyle/>
                    <a:p>
                      <a:r>
                        <a:rPr sz="2025" b="0">
                          <a:solidFill>
                            <a:srgbClr val="183C2D"/>
                          </a:solidFill>
                          <a:latin typeface="Arial"/>
                          <a:ea typeface="Arial"/>
                          <a:cs typeface="Arial"/>
                        </a:rPr>
                        <a:t>paper</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EBF0E7"/>
                    </a:solidFill>
                  </a:tcPr>
                </a:tc>
                <a:tc>
                  <a:txBody>
                    <a:bodyPr/>
                    <a:lstStyle/>
                    <a:p>
                      <a:r>
                        <a:rPr sz="2025" b="0">
                          <a:solidFill>
                            <a:srgbClr val="183C2D"/>
                          </a:solidFill>
                          <a:latin typeface="Arial"/>
                          <a:ea typeface="Arial"/>
                          <a:cs typeface="Arial"/>
                        </a:rPr>
                        <a:t>3</a:t>
                      </a:r>
                    </a:p>
                  </a:txBody>
                  <a:tcPr marL="91440" marR="91440" marT="45720" marB="45720">
                    <a:lnR w="9525">
                      <a:solidFill>
                        <a:srgbClr val="D4DDD3"/>
                      </a:solidFill>
                      <a:prstDash val="solid"/>
                    </a:lnR>
                    <a:lnB w="9525">
                      <a:solidFill>
                        <a:srgbClr val="D4DDD3"/>
                      </a:solidFill>
                      <a:prstDash val="solid"/>
                    </a:lnB>
                    <a:solidFill>
                      <a:srgbClr val="EBF0E7"/>
                    </a:solidFill>
                  </a:tcPr>
                </a:tc>
              </a:tr>
              <a:tr h="571500">
                <a:tc>
                  <a:txBody>
                    <a:bodyPr/>
                    <a:lstStyle/>
                    <a:p>
                      <a:r>
                        <a:rPr sz="2025" b="0">
                          <a:solidFill>
                            <a:srgbClr val="183C2D"/>
                          </a:solidFill>
                          <a:latin typeface="Arial"/>
                          <a:ea typeface="Arial"/>
                          <a:cs typeface="Arial"/>
                        </a:rPr>
                        <a:t>plastic</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2025" b="0">
                          <a:solidFill>
                            <a:srgbClr val="183C2D"/>
                          </a:solidFill>
                          <a:latin typeface="Arial"/>
                          <a:ea typeface="Arial"/>
                          <a:cs typeface="Arial"/>
                        </a:rPr>
                        <a:t>4</a:t>
                      </a:r>
                    </a:p>
                  </a:txBody>
                  <a:tcPr marL="91440" marR="91440" marT="45720" marB="45720">
                    <a:lnR w="9525">
                      <a:solidFill>
                        <a:srgbClr val="D4DDD3"/>
                      </a:solidFill>
                      <a:prstDash val="solid"/>
                    </a:lnR>
                    <a:lnB w="9525">
                      <a:solidFill>
                        <a:srgbClr val="D4DDD3"/>
                      </a:solidFill>
                      <a:prstDash val="solid"/>
                    </a:lnB>
                    <a:solidFill>
                      <a:srgbClr val="FFFFFF"/>
                    </a:solidFill>
                  </a:tcPr>
                </a:tc>
              </a:tr>
              <a:tr h="571500">
                <a:tc>
                  <a:txBody>
                    <a:bodyPr/>
                    <a:lstStyle/>
                    <a:p>
                      <a:r>
                        <a:rPr sz="2025" b="0">
                          <a:solidFill>
                            <a:srgbClr val="183C2D"/>
                          </a:solidFill>
                          <a:latin typeface="Arial"/>
                          <a:ea typeface="Arial"/>
                          <a:cs typeface="Arial"/>
                        </a:rPr>
                        <a:t>trash</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EBF0E7"/>
                    </a:solidFill>
                  </a:tcPr>
                </a:tc>
                <a:tc>
                  <a:txBody>
                    <a:bodyPr/>
                    <a:lstStyle/>
                    <a:p>
                      <a:r>
                        <a:rPr sz="2025" b="0">
                          <a:solidFill>
                            <a:srgbClr val="183C2D"/>
                          </a:solidFill>
                          <a:latin typeface="Arial"/>
                          <a:ea typeface="Arial"/>
                          <a:cs typeface="Arial"/>
                        </a:rPr>
                        <a:t>5</a:t>
                      </a:r>
                    </a:p>
                  </a:txBody>
                  <a:tcPr marL="91440" marR="91440" marT="45720" marB="45720">
                    <a:lnR w="9525">
                      <a:solidFill>
                        <a:srgbClr val="D4DDD3"/>
                      </a:solidFill>
                      <a:prstDash val="solid"/>
                    </a:lnR>
                    <a:lnB w="9525">
                      <a:solidFill>
                        <a:srgbClr val="D4DDD3"/>
                      </a:solidFill>
                      <a:prstDash val="solid"/>
                    </a:lnB>
                    <a:solidFill>
                      <a:srgbClr val="EBF0E7"/>
                    </a:solidFill>
                  </a:tcPr>
                </a:tc>
              </a:tr>
            </a:tbl>
          </a:graphicData>
        </a:graphic>
      </p:graphicFrame>
      <p:sp>
        <p:nvSpPr>
          <p:cNvPr id="4" name="">
            <a:extLst xmlns:a="http://schemas.openxmlformats.org/drawingml/2006/main">
              <a:ext uri="{FF2B5EF4-FFF2-40B4-BE49-F238E27FC236}">
                <a16:creationId xmlns:a16="http://schemas.microsoft.com/office/drawing/2014/main" id="{614D7E4E-F698-4634-A9EE-8DC781B0BB7F}"/>
              </a:ext>
            </a:extLst>
          </p:cNvPr>
          <p:cNvSpPr>
            <a:spLocks xmlns:a="http://schemas.openxmlformats.org/drawingml/2006/main" noGrp="1"/>
          </p:cNvSpPr>
          <p:nvPr/>
        </p:nvSpPr>
        <p:spPr>
          <a:xfrm xmlns:a="http://schemas.openxmlformats.org/drawingml/2006/main">
            <a:off x="6334125" y="2238375"/>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8714F"/>
                </a:solidFill>
                <a:latin typeface="Arial"/>
                <a:ea typeface="Arial"/>
                <a:cs typeface="Arial"/>
              </a:defRPr>
            </a:defPPr>
            <a:lvl1pPr>
              <a:defRPr sz="2850" b="1">
                <a:solidFill>
                  <a:srgbClr val="28714F"/>
                </a:solidFill>
                <a:latin typeface="Arial"/>
                <a:ea typeface="Arial"/>
                <a:cs typeface="Arial"/>
              </a:defRPr>
            </a:lvl1pPr>
            <a:lvl2pPr>
              <a:defRPr sz="2850" b="1">
                <a:solidFill>
                  <a:srgbClr val="28714F"/>
                </a:solidFill>
                <a:latin typeface="Arial"/>
                <a:ea typeface="Arial"/>
                <a:cs typeface="Arial"/>
              </a:defRPr>
            </a:lvl2pPr>
            <a:lvl3pPr>
              <a:defRPr sz="2850" b="1">
                <a:solidFill>
                  <a:srgbClr val="28714F"/>
                </a:solidFill>
                <a:latin typeface="Arial"/>
                <a:ea typeface="Arial"/>
                <a:cs typeface="Arial"/>
              </a:defRPr>
            </a:lvl3pPr>
            <a:lvl4pPr>
              <a:defRPr sz="2850" b="1">
                <a:solidFill>
                  <a:srgbClr val="28714F"/>
                </a:solidFill>
                <a:latin typeface="Arial"/>
                <a:ea typeface="Arial"/>
                <a:cs typeface="Arial"/>
              </a:defRPr>
            </a:lvl4pPr>
            <a:lvl5pPr>
              <a:defRPr sz="2850" b="1">
                <a:solidFill>
                  <a:srgbClr val="28714F"/>
                </a:solidFill>
                <a:latin typeface="Arial"/>
                <a:ea typeface="Arial"/>
                <a:cs typeface="Arial"/>
              </a:defRPr>
            </a:lvl5pPr>
            <a:lvl6pPr>
              <a:defRPr sz="2850" b="1">
                <a:solidFill>
                  <a:srgbClr val="28714F"/>
                </a:solidFill>
                <a:latin typeface="Arial"/>
                <a:ea typeface="Arial"/>
                <a:cs typeface="Arial"/>
              </a:defRPr>
            </a:lvl6pPr>
            <a:lvl7pPr>
              <a:defRPr sz="2850" b="1">
                <a:solidFill>
                  <a:srgbClr val="28714F"/>
                </a:solidFill>
                <a:latin typeface="Arial"/>
                <a:ea typeface="Arial"/>
                <a:cs typeface="Arial"/>
              </a:defRPr>
            </a:lvl7pPr>
            <a:lvl8pPr>
              <a:defRPr sz="2850" b="1">
                <a:solidFill>
                  <a:srgbClr val="28714F"/>
                </a:solidFill>
                <a:latin typeface="Arial"/>
                <a:ea typeface="Arial"/>
                <a:cs typeface="Arial"/>
              </a:defRPr>
            </a:lvl8pPr>
            <a:lvl9pPr>
              <a:defRPr sz="2850" b="1">
                <a:solidFill>
                  <a:srgbClr val="28714F"/>
                </a:solidFill>
                <a:latin typeface="Arial"/>
                <a:ea typeface="Arial"/>
                <a:cs typeface="Arial"/>
              </a:defRPr>
            </a:lvl9pPr>
          </a:lstStyle>
          <a:p xmlns:a="http://schemas.openxmlformats.org/drawingml/2006/main">
            <a:pPr>
              <a:defRPr sz="2850" b="1">
                <a:solidFill>
                  <a:srgbClr val="28714F"/>
                </a:solidFill>
                <a:latin typeface="Arial"/>
                <a:ea typeface="Arial"/>
                <a:cs typeface="Arial"/>
              </a:defRPr>
            </a:pPr>
            <a:r>
              <a:rPr sz="2850" b="1">
                <a:solidFill>
                  <a:srgbClr val="28714F"/>
                </a:solidFill>
                <a:latin typeface="Arial"/>
                <a:ea typeface="Arial"/>
                <a:cs typeface="Arial"/>
              </a:rPr>
              <a:t>The numbers identify classes.</a:t>
            </a:r>
          </a:p>
        </p:txBody>
      </p:sp>
      <p:sp>
        <p:nvSpPr>
          <p:cNvPr id="5" name="">
            <a:extLst xmlns:a="http://schemas.openxmlformats.org/drawingml/2006/main">
              <a:ext uri="{FF2B5EF4-FFF2-40B4-BE49-F238E27FC236}">
                <a16:creationId xmlns:a16="http://schemas.microsoft.com/office/drawing/2014/main" id="{C106E75A-AA84-482A-A8D8-F27B57928D46}"/>
              </a:ext>
            </a:extLst>
          </p:cNvPr>
          <p:cNvSpPr>
            <a:spLocks xmlns:a="http://schemas.openxmlformats.org/drawingml/2006/main" noGrp="1"/>
          </p:cNvSpPr>
          <p:nvPr/>
        </p:nvSpPr>
        <p:spPr>
          <a:xfrm xmlns:a="http://schemas.openxmlformats.org/drawingml/2006/main">
            <a:off x="6334125" y="3524250"/>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2D"/>
                </a:solidFill>
                <a:latin typeface="Arial"/>
                <a:ea typeface="Arial"/>
                <a:cs typeface="Arial"/>
              </a:defRPr>
            </a:defPPr>
            <a:lvl1pPr>
              <a:defRPr sz="2325" b="0">
                <a:solidFill>
                  <a:srgbClr val="183C2D"/>
                </a:solidFill>
                <a:latin typeface="Arial"/>
                <a:ea typeface="Arial"/>
                <a:cs typeface="Arial"/>
              </a:defRPr>
            </a:lvl1pPr>
            <a:lvl2pPr>
              <a:defRPr sz="2325" b="0">
                <a:solidFill>
                  <a:srgbClr val="183C2D"/>
                </a:solidFill>
                <a:latin typeface="Arial"/>
                <a:ea typeface="Arial"/>
                <a:cs typeface="Arial"/>
              </a:defRPr>
            </a:lvl2pPr>
            <a:lvl3pPr>
              <a:defRPr sz="2325" b="0">
                <a:solidFill>
                  <a:srgbClr val="183C2D"/>
                </a:solidFill>
                <a:latin typeface="Arial"/>
                <a:ea typeface="Arial"/>
                <a:cs typeface="Arial"/>
              </a:defRPr>
            </a:lvl3pPr>
            <a:lvl4pPr>
              <a:defRPr sz="2325" b="0">
                <a:solidFill>
                  <a:srgbClr val="183C2D"/>
                </a:solidFill>
                <a:latin typeface="Arial"/>
                <a:ea typeface="Arial"/>
                <a:cs typeface="Arial"/>
              </a:defRPr>
            </a:lvl4pPr>
            <a:lvl5pPr>
              <a:defRPr sz="2325" b="0">
                <a:solidFill>
                  <a:srgbClr val="183C2D"/>
                </a:solidFill>
                <a:latin typeface="Arial"/>
                <a:ea typeface="Arial"/>
                <a:cs typeface="Arial"/>
              </a:defRPr>
            </a:lvl5pPr>
            <a:lvl6pPr>
              <a:defRPr sz="2325" b="0">
                <a:solidFill>
                  <a:srgbClr val="183C2D"/>
                </a:solidFill>
                <a:latin typeface="Arial"/>
                <a:ea typeface="Arial"/>
                <a:cs typeface="Arial"/>
              </a:defRPr>
            </a:lvl6pPr>
            <a:lvl7pPr>
              <a:defRPr sz="2325" b="0">
                <a:solidFill>
                  <a:srgbClr val="183C2D"/>
                </a:solidFill>
                <a:latin typeface="Arial"/>
                <a:ea typeface="Arial"/>
                <a:cs typeface="Arial"/>
              </a:defRPr>
            </a:lvl7pPr>
            <a:lvl8pPr>
              <a:defRPr sz="2325" b="0">
                <a:solidFill>
                  <a:srgbClr val="183C2D"/>
                </a:solidFill>
                <a:latin typeface="Arial"/>
                <a:ea typeface="Arial"/>
                <a:cs typeface="Arial"/>
              </a:defRPr>
            </a:lvl8pPr>
            <a:lvl9pPr>
              <a:defRPr sz="2325" b="0">
                <a:solidFill>
                  <a:srgbClr val="183C2D"/>
                </a:solidFill>
                <a:latin typeface="Arial"/>
                <a:ea typeface="Arial"/>
                <a:cs typeface="Arial"/>
              </a:defRPr>
            </a:lvl9pPr>
          </a:lstStyle>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They do not measure quantity or rank materials.</a:t>
            </a:r>
          </a:p>
        </p:txBody>
      </p:sp>
      <p:sp>
        <p:nvSpPr>
          <p:cNvPr id="6" name="">
            <a:extLst xmlns:a="http://schemas.openxmlformats.org/drawingml/2006/main">
              <a:ext uri="{FF2B5EF4-FFF2-40B4-BE49-F238E27FC236}">
                <a16:creationId xmlns:a16="http://schemas.microsoft.com/office/drawing/2014/main" id="{BAC68090-695B-43A2-97FE-BF2413F55520}"/>
              </a:ext>
            </a:extLst>
          </p:cNvPr>
          <p:cNvSpPr>
            <a:spLocks xmlns:a="http://schemas.openxmlformats.org/drawingml/2006/main" noGrp="1"/>
          </p:cNvSpPr>
          <p:nvPr/>
        </p:nvSpPr>
        <p:spPr>
          <a:xfrm xmlns:a="http://schemas.openxmlformats.org/drawingml/2006/main">
            <a:off x="6334125" y="4953000"/>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2D"/>
                </a:solidFill>
                <a:latin typeface="Arial"/>
                <a:ea typeface="Arial"/>
                <a:cs typeface="Arial"/>
              </a:defRPr>
            </a:defPPr>
            <a:lvl1pPr>
              <a:defRPr sz="2175" b="0">
                <a:solidFill>
                  <a:srgbClr val="183C2D"/>
                </a:solidFill>
                <a:latin typeface="Arial"/>
                <a:ea typeface="Arial"/>
                <a:cs typeface="Arial"/>
              </a:defRPr>
            </a:lvl1pPr>
            <a:lvl2pPr>
              <a:defRPr sz="2175" b="0">
                <a:solidFill>
                  <a:srgbClr val="183C2D"/>
                </a:solidFill>
                <a:latin typeface="Arial"/>
                <a:ea typeface="Arial"/>
                <a:cs typeface="Arial"/>
              </a:defRPr>
            </a:lvl2pPr>
            <a:lvl3pPr>
              <a:defRPr sz="2175" b="0">
                <a:solidFill>
                  <a:srgbClr val="183C2D"/>
                </a:solidFill>
                <a:latin typeface="Arial"/>
                <a:ea typeface="Arial"/>
                <a:cs typeface="Arial"/>
              </a:defRPr>
            </a:lvl3pPr>
            <a:lvl4pPr>
              <a:defRPr sz="2175" b="0">
                <a:solidFill>
                  <a:srgbClr val="183C2D"/>
                </a:solidFill>
                <a:latin typeface="Arial"/>
                <a:ea typeface="Arial"/>
                <a:cs typeface="Arial"/>
              </a:defRPr>
            </a:lvl4pPr>
            <a:lvl5pPr>
              <a:defRPr sz="2175" b="0">
                <a:solidFill>
                  <a:srgbClr val="183C2D"/>
                </a:solidFill>
                <a:latin typeface="Arial"/>
                <a:ea typeface="Arial"/>
                <a:cs typeface="Arial"/>
              </a:defRPr>
            </a:lvl5pPr>
            <a:lvl6pPr>
              <a:defRPr sz="2175" b="0">
                <a:solidFill>
                  <a:srgbClr val="183C2D"/>
                </a:solidFill>
                <a:latin typeface="Arial"/>
                <a:ea typeface="Arial"/>
                <a:cs typeface="Arial"/>
              </a:defRPr>
            </a:lvl6pPr>
            <a:lvl7pPr>
              <a:defRPr sz="2175" b="0">
                <a:solidFill>
                  <a:srgbClr val="183C2D"/>
                </a:solidFill>
                <a:latin typeface="Arial"/>
                <a:ea typeface="Arial"/>
                <a:cs typeface="Arial"/>
              </a:defRPr>
            </a:lvl7pPr>
            <a:lvl8pPr>
              <a:defRPr sz="2175" b="0">
                <a:solidFill>
                  <a:srgbClr val="183C2D"/>
                </a:solidFill>
                <a:latin typeface="Arial"/>
                <a:ea typeface="Arial"/>
                <a:cs typeface="Arial"/>
              </a:defRPr>
            </a:lvl8pPr>
            <a:lvl9pPr>
              <a:defRPr sz="2175" b="0">
                <a:solidFill>
                  <a:srgbClr val="183C2D"/>
                </a:solidFill>
                <a:latin typeface="Arial"/>
                <a:ea typeface="Arial"/>
                <a:cs typeface="Arial"/>
              </a:defRPr>
            </a:lvl9pPr>
          </a:lstStyle>
          <a:p xmlns:a="http://schemas.openxmlformats.org/drawingml/2006/main">
            <a:pPr>
              <a:defRPr sz="2175" b="0">
                <a:solidFill>
                  <a:srgbClr val="183C2D"/>
                </a:solidFill>
                <a:latin typeface="Arial"/>
                <a:ea typeface="Arial"/>
                <a:cs typeface="Arial"/>
              </a:defRPr>
            </a:pPr>
            <a:r>
              <a:rPr sz="2175" b="0">
                <a:solidFill>
                  <a:srgbClr val="183C2D"/>
                </a:solidFill>
                <a:latin typeface="Arial"/>
                <a:ea typeface="Arial"/>
                <a:cs typeface="Arial"/>
              </a:rPr>
              <a:t>Use the same mapping throughout the project.</a:t>
            </a:r>
          </a:p>
        </p:txBody>
      </p:sp>
    </p:spTree>
    <p:extLst>
      <p:ext uri="{BB962C8B-B14F-4D97-AF65-F5344CB8AC3E}">
        <p14:creationId xmlns:p14="http://schemas.microsoft.com/office/powerpoint/2010/main" val="960855705"/>
      </p:ext>
    </p:extLst>
  </p:cSld>
</p:sld>
</file>

<file path=ppt/slides/slide7.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6DB05E-2BF3-43C8-9EBF-825828E37FE3}"/>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Preprocessing depends on the model</a:t>
            </a:r>
          </a:p>
        </p:txBody>
      </p:sp>
      <p:sp>
        <p:nvSpPr>
          <p:cNvPr id="2" name="">
            <a:extLst xmlns:a="http://schemas.openxmlformats.org/drawingml/2006/main">
              <a:ext uri="{FF2B5EF4-FFF2-40B4-BE49-F238E27FC236}">
                <a16:creationId xmlns:a16="http://schemas.microsoft.com/office/drawing/2014/main" id="{10FF0624-6401-4C56-8F8B-98C7870C83F3}"/>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4680144E-5B76-4574-92A8-0F55E96895B2}"/>
              </a:ext>
            </a:extLst>
          </p:cNvPr>
          <p:cNvGraphicFramePr/>
          <p:nvPr/>
        </p:nvGraphicFramePr>
        <p:xfrm>
          <a:off xmlns:a="http://schemas.openxmlformats.org/drawingml/2006/main" x="685800" y="1952625"/>
          <a:ext xmlns:a="http://schemas.openxmlformats.org/drawingml/2006/main" cx="10820400" cy="2952750"/>
        </p:xfrm>
        <a:graphic xmlns:a="http://schemas.openxmlformats.org/drawingml/2006/main">
          <a:graphicData uri="http://schemas.openxmlformats.org/drawingml/2006/table">
            <a:tbl>
              <a:tblPr/>
              <a:tblGrid>
                <a:gridCol w="3429000"/>
                <a:gridCol w="3238500"/>
                <a:gridCol w="4152900"/>
              </a:tblGrid>
              <a:tr h="738188">
                <a:tc>
                  <a:txBody>
                    <a:bodyPr/>
                    <a:lstStyle/>
                    <a:p>
                      <a:r>
                        <a:rPr sz="1875" b="1">
                          <a:solidFill>
                            <a:srgbClr val="FFFFFF"/>
                          </a:solidFill>
                          <a:latin typeface="Arial"/>
                          <a:ea typeface="Arial"/>
                          <a:cs typeface="Arial"/>
                        </a:rPr>
                        <a:t>Model family</a:t>
                      </a:r>
                    </a:p>
                  </a:txBody>
                  <a:tcPr marL="91440" marR="91440" marT="45720" marB="45720">
                    <a:lnL w="9525">
                      <a:solidFill>
                        <a:srgbClr val="D4DDD3"/>
                      </a:solidFill>
                      <a:prstDash val="solid"/>
                    </a:lnL>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c>
                  <a:txBody>
                    <a:bodyPr/>
                    <a:lstStyle/>
                    <a:p>
                      <a:r>
                        <a:rPr sz="1875" b="1">
                          <a:solidFill>
                            <a:srgbClr val="FFFFFF"/>
                          </a:solidFill>
                          <a:latin typeface="Arial"/>
                          <a:ea typeface="Arial"/>
                          <a:cs typeface="Arial"/>
                        </a:rPr>
                        <a:t>Image input</a:t>
                      </a:r>
                    </a:p>
                  </a:txBody>
                  <a:tcPr marL="91440" marR="91440" marT="45720" marB="45720">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c>
                  <a:txBody>
                    <a:bodyPr/>
                    <a:lstStyle/>
                    <a:p>
                      <a:r>
                        <a:rPr sz="1875" b="1">
                          <a:solidFill>
                            <a:srgbClr val="FFFFFF"/>
                          </a:solidFill>
                          <a:latin typeface="Arial"/>
                          <a:ea typeface="Arial"/>
                          <a:cs typeface="Arial"/>
                        </a:rPr>
                        <a:t>Transformation</a:t>
                      </a:r>
                    </a:p>
                  </a:txBody>
                  <a:tcPr marL="91440" marR="91440" marT="45720" marB="45720">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r>
              <a:tr h="738188">
                <a:tc>
                  <a:txBody>
                    <a:bodyPr/>
                    <a:lstStyle/>
                    <a:p>
                      <a:r>
                        <a:rPr sz="1875" b="0">
                          <a:solidFill>
                            <a:srgbClr val="183C2D"/>
                          </a:solidFill>
                          <a:latin typeface="Arial"/>
                          <a:ea typeface="Arial"/>
                          <a:cs typeface="Arial"/>
                        </a:rPr>
                        <a:t>SVM / Random Forest</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64 × 64 grayscale</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1,764 HOG features</a:t>
                      </a:r>
                    </a:p>
                  </a:txBody>
                  <a:tcPr marL="91440" marR="91440" marT="45720" marB="45720">
                    <a:lnR w="9525">
                      <a:solidFill>
                        <a:srgbClr val="D4DDD3"/>
                      </a:solidFill>
                      <a:prstDash val="solid"/>
                    </a:lnR>
                    <a:lnB w="9525">
                      <a:solidFill>
                        <a:srgbClr val="D4DDD3"/>
                      </a:solidFill>
                      <a:prstDash val="solid"/>
                    </a:lnB>
                    <a:solidFill>
                      <a:srgbClr val="FFFFFF"/>
                    </a:solidFill>
                  </a:tcPr>
                </a:tc>
              </a:tr>
              <a:tr h="738188">
                <a:tc>
                  <a:txBody>
                    <a:bodyPr/>
                    <a:lstStyle/>
                    <a:p>
                      <a:r>
                        <a:rPr sz="1875" b="0">
                          <a:solidFill>
                            <a:srgbClr val="183C2D"/>
                          </a:solidFill>
                          <a:latin typeface="Arial"/>
                          <a:ea typeface="Arial"/>
                          <a:cs typeface="Arial"/>
                        </a:rPr>
                        <a:t>Small CNN</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160 × 160 RGB</a:t>
                      </a:r>
                    </a:p>
                  </a:txBody>
                  <a:tcPr marL="91440" marR="91440" marT="45720" marB="45720">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Pixels scaled to [0, 1]</a:t>
                      </a:r>
                    </a:p>
                  </a:txBody>
                  <a:tcPr marL="91440" marR="91440" marT="45720" marB="45720">
                    <a:lnR w="9525">
                      <a:solidFill>
                        <a:srgbClr val="D4DDD3"/>
                      </a:solidFill>
                      <a:prstDash val="solid"/>
                    </a:lnR>
                    <a:lnB w="9525">
                      <a:solidFill>
                        <a:srgbClr val="D4DDD3"/>
                      </a:solidFill>
                      <a:prstDash val="solid"/>
                    </a:lnB>
                    <a:solidFill>
                      <a:srgbClr val="EBF0E7"/>
                    </a:solidFill>
                  </a:tcPr>
                </a:tc>
              </a:tr>
              <a:tr h="738188">
                <a:tc>
                  <a:txBody>
                    <a:bodyPr/>
                    <a:lstStyle/>
                    <a:p>
                      <a:r>
                        <a:rPr sz="1875" b="0">
                          <a:solidFill>
                            <a:srgbClr val="183C2D"/>
                          </a:solidFill>
                          <a:latin typeface="Arial"/>
                          <a:ea typeface="Arial"/>
                          <a:cs typeface="Arial"/>
                        </a:rPr>
                        <a:t>MobileNetV2</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160 × 160 RGB</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Pretrained normalization</a:t>
                      </a:r>
                    </a:p>
                  </a:txBody>
                  <a:tcPr marL="91440" marR="91440" marT="45720" marB="45720">
                    <a:lnR w="9525">
                      <a:solidFill>
                        <a:srgbClr val="D4DDD3"/>
                      </a:solidFill>
                      <a:prstDash val="solid"/>
                    </a:lnR>
                    <a:lnB w="9525">
                      <a:solidFill>
                        <a:srgbClr val="D4DD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88E58E9-7B1D-465D-BB49-CF16734D3D48}"/>
              </a:ext>
            </a:extLst>
          </p:cNvPr>
          <p:cNvSpPr>
            <a:spLocks xmlns:a="http://schemas.openxmlformats.org/drawingml/2006/main" noGrp="1"/>
          </p:cNvSpPr>
          <p:nvPr/>
        </p:nvSpPr>
        <p:spPr>
          <a:xfrm xmlns:a="http://schemas.openxmlformats.org/drawingml/2006/main">
            <a:off x="685800" y="5314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8714F"/>
                </a:solidFill>
                <a:latin typeface="Arial"/>
                <a:ea typeface="Arial"/>
                <a:cs typeface="Arial"/>
              </a:defRPr>
            </a:defPPr>
            <a:lvl1pPr>
              <a:defRPr sz="2175" b="1">
                <a:solidFill>
                  <a:srgbClr val="28714F"/>
                </a:solidFill>
                <a:latin typeface="Arial"/>
                <a:ea typeface="Arial"/>
                <a:cs typeface="Arial"/>
              </a:defRPr>
            </a:lvl1pPr>
            <a:lvl2pPr>
              <a:defRPr sz="2175" b="1">
                <a:solidFill>
                  <a:srgbClr val="28714F"/>
                </a:solidFill>
                <a:latin typeface="Arial"/>
                <a:ea typeface="Arial"/>
                <a:cs typeface="Arial"/>
              </a:defRPr>
            </a:lvl2pPr>
            <a:lvl3pPr>
              <a:defRPr sz="2175" b="1">
                <a:solidFill>
                  <a:srgbClr val="28714F"/>
                </a:solidFill>
                <a:latin typeface="Arial"/>
                <a:ea typeface="Arial"/>
                <a:cs typeface="Arial"/>
              </a:defRPr>
            </a:lvl3pPr>
            <a:lvl4pPr>
              <a:defRPr sz="2175" b="1">
                <a:solidFill>
                  <a:srgbClr val="28714F"/>
                </a:solidFill>
                <a:latin typeface="Arial"/>
                <a:ea typeface="Arial"/>
                <a:cs typeface="Arial"/>
              </a:defRPr>
            </a:lvl4pPr>
            <a:lvl5pPr>
              <a:defRPr sz="2175" b="1">
                <a:solidFill>
                  <a:srgbClr val="28714F"/>
                </a:solidFill>
                <a:latin typeface="Arial"/>
                <a:ea typeface="Arial"/>
                <a:cs typeface="Arial"/>
              </a:defRPr>
            </a:lvl5pPr>
            <a:lvl6pPr>
              <a:defRPr sz="2175" b="1">
                <a:solidFill>
                  <a:srgbClr val="28714F"/>
                </a:solidFill>
                <a:latin typeface="Arial"/>
                <a:ea typeface="Arial"/>
                <a:cs typeface="Arial"/>
              </a:defRPr>
            </a:lvl6pPr>
            <a:lvl7pPr>
              <a:defRPr sz="2175" b="1">
                <a:solidFill>
                  <a:srgbClr val="28714F"/>
                </a:solidFill>
                <a:latin typeface="Arial"/>
                <a:ea typeface="Arial"/>
                <a:cs typeface="Arial"/>
              </a:defRPr>
            </a:lvl7pPr>
            <a:lvl8pPr>
              <a:defRPr sz="2175" b="1">
                <a:solidFill>
                  <a:srgbClr val="28714F"/>
                </a:solidFill>
                <a:latin typeface="Arial"/>
                <a:ea typeface="Arial"/>
                <a:cs typeface="Arial"/>
              </a:defRPr>
            </a:lvl8pPr>
            <a:lvl9pPr>
              <a:defRPr sz="2175" b="1">
                <a:solidFill>
                  <a:srgbClr val="28714F"/>
                </a:solidFill>
                <a:latin typeface="Arial"/>
                <a:ea typeface="Arial"/>
                <a:cs typeface="Arial"/>
              </a:defRPr>
            </a:lvl9pPr>
          </a:lstStyle>
          <a:p xmlns:a="http://schemas.openxmlformats.org/drawingml/2006/main">
            <a:pPr>
              <a:defRPr sz="2175" b="1">
                <a:solidFill>
                  <a:srgbClr val="28714F"/>
                </a:solidFill>
                <a:latin typeface="Arial"/>
                <a:ea typeface="Arial"/>
                <a:cs typeface="Arial"/>
              </a:defRPr>
            </a:pPr>
            <a:r>
              <a:rPr sz="2175" b="1">
                <a:solidFill>
                  <a:srgbClr val="28714F"/>
                </a:solidFill>
                <a:latin typeface="Arial"/>
                <a:ea typeface="Arial"/>
                <a:cs typeface="Arial"/>
              </a:rPr>
              <a:t>Random augmentation applies only to training images.</a:t>
            </a:r>
          </a:p>
        </p:txBody>
      </p:sp>
      <p:sp>
        <p:nvSpPr>
          <p:cNvPr id="5" name="">
            <a:extLst xmlns:a="http://schemas.openxmlformats.org/drawingml/2006/main">
              <a:ext uri="{FF2B5EF4-FFF2-40B4-BE49-F238E27FC236}">
                <a16:creationId xmlns:a16="http://schemas.microsoft.com/office/drawing/2014/main" id="{04E7DC67-AA52-4696-92F4-7D75E1C39698}"/>
              </a:ext>
            </a:extLst>
          </p:cNvPr>
          <p:cNvSpPr>
            <a:spLocks xmlns:a="http://schemas.openxmlformats.org/drawingml/2006/main" noGrp="1"/>
          </p:cNvSpPr>
          <p:nvPr/>
        </p:nvSpPr>
        <p:spPr>
          <a:xfrm xmlns:a="http://schemas.openxmlformats.org/drawingml/2006/main">
            <a:off x="685800" y="59340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3C2D"/>
                </a:solidFill>
                <a:latin typeface="Arial"/>
                <a:ea typeface="Arial"/>
                <a:cs typeface="Arial"/>
              </a:defRPr>
            </a:defPPr>
            <a:lvl1pPr>
              <a:defRPr sz="1800" b="0">
                <a:solidFill>
                  <a:srgbClr val="183C2D"/>
                </a:solidFill>
                <a:latin typeface="Arial"/>
                <a:ea typeface="Arial"/>
                <a:cs typeface="Arial"/>
              </a:defRPr>
            </a:lvl1pPr>
            <a:lvl2pPr>
              <a:defRPr sz="1800" b="0">
                <a:solidFill>
                  <a:srgbClr val="183C2D"/>
                </a:solidFill>
                <a:latin typeface="Arial"/>
                <a:ea typeface="Arial"/>
                <a:cs typeface="Arial"/>
              </a:defRPr>
            </a:lvl2pPr>
            <a:lvl3pPr>
              <a:defRPr sz="1800" b="0">
                <a:solidFill>
                  <a:srgbClr val="183C2D"/>
                </a:solidFill>
                <a:latin typeface="Arial"/>
                <a:ea typeface="Arial"/>
                <a:cs typeface="Arial"/>
              </a:defRPr>
            </a:lvl3pPr>
            <a:lvl4pPr>
              <a:defRPr sz="1800" b="0">
                <a:solidFill>
                  <a:srgbClr val="183C2D"/>
                </a:solidFill>
                <a:latin typeface="Arial"/>
                <a:ea typeface="Arial"/>
                <a:cs typeface="Arial"/>
              </a:defRPr>
            </a:lvl4pPr>
            <a:lvl5pPr>
              <a:defRPr sz="1800" b="0">
                <a:solidFill>
                  <a:srgbClr val="183C2D"/>
                </a:solidFill>
                <a:latin typeface="Arial"/>
                <a:ea typeface="Arial"/>
                <a:cs typeface="Arial"/>
              </a:defRPr>
            </a:lvl5pPr>
            <a:lvl6pPr>
              <a:defRPr sz="1800" b="0">
                <a:solidFill>
                  <a:srgbClr val="183C2D"/>
                </a:solidFill>
                <a:latin typeface="Arial"/>
                <a:ea typeface="Arial"/>
                <a:cs typeface="Arial"/>
              </a:defRPr>
            </a:lvl6pPr>
            <a:lvl7pPr>
              <a:defRPr sz="1800" b="0">
                <a:solidFill>
                  <a:srgbClr val="183C2D"/>
                </a:solidFill>
                <a:latin typeface="Arial"/>
                <a:ea typeface="Arial"/>
                <a:cs typeface="Arial"/>
              </a:defRPr>
            </a:lvl7pPr>
            <a:lvl8pPr>
              <a:defRPr sz="1800" b="0">
                <a:solidFill>
                  <a:srgbClr val="183C2D"/>
                </a:solidFill>
                <a:latin typeface="Arial"/>
                <a:ea typeface="Arial"/>
                <a:cs typeface="Arial"/>
              </a:defRPr>
            </a:lvl8pPr>
            <a:lvl9pPr>
              <a:defRPr sz="1800" b="0">
                <a:solidFill>
                  <a:srgbClr val="183C2D"/>
                </a:solidFill>
                <a:latin typeface="Arial"/>
                <a:ea typeface="Arial"/>
                <a:cs typeface="Arial"/>
              </a:defRPr>
            </a:lvl9pPr>
          </a:lstStyle>
          <a:p xmlns:a="http://schemas.openxmlformats.org/drawingml/2006/main">
            <a:pPr>
              <a:defRPr sz="1800" b="0">
                <a:solidFill>
                  <a:srgbClr val="183C2D"/>
                </a:solidFill>
                <a:latin typeface="Arial"/>
                <a:ea typeface="Arial"/>
                <a:cs typeface="Arial"/>
              </a:defRPr>
            </a:pPr>
            <a:r>
              <a:rPr sz="1800" b="0">
                <a:solidFill>
                  <a:srgbClr val="183C2D"/>
                </a:solidFill>
                <a:latin typeface="Arial"/>
                <a:ea typeface="Arial"/>
                <a:cs typeface="Arial"/>
              </a:rPr>
              <a:t>Square resizing standardizes shape but changes aspect ratio.</a:t>
            </a:r>
          </a:p>
        </p:txBody>
      </p:sp>
    </p:spTree>
    <p:extLst>
      <p:ext uri="{BB962C8B-B14F-4D97-AF65-F5344CB8AC3E}">
        <p14:creationId xmlns:p14="http://schemas.microsoft.com/office/powerpoint/2010/main" val="600682225"/>
      </p:ext>
    </p:extLst>
  </p:cSld>
</p:sld>
</file>

<file path=ppt/slides/slide8.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F9827C-7E29-4A9E-8606-8EC528385970}"/>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Tuesday handoff</a:t>
            </a:r>
          </a:p>
        </p:txBody>
      </p:sp>
      <p:sp>
        <p:nvSpPr>
          <p:cNvPr id="2" name="">
            <a:extLst xmlns:a="http://schemas.openxmlformats.org/drawingml/2006/main">
              <a:ext uri="{FF2B5EF4-FFF2-40B4-BE49-F238E27FC236}">
                <a16:creationId xmlns:a16="http://schemas.microsoft.com/office/drawing/2014/main" id="{F084B740-1362-42BC-BE06-3476BC47DC59}"/>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A30D470-369B-43C0-857D-878E44F1CE16}"/>
              </a:ext>
            </a:extLst>
          </p:cNvPr>
          <p:cNvSpPr>
            <a:spLocks xmlns:a="http://schemas.openxmlformats.org/drawingml/2006/main" noGrp="1"/>
          </p:cNvSpPr>
          <p:nvPr/>
        </p:nvSpPr>
        <p:spPr>
          <a:xfrm xmlns:a="http://schemas.openxmlformats.org/drawingml/2006/main">
            <a:off x="685800" y="1857375"/>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8714F"/>
                </a:solidFill>
                <a:latin typeface="Arial"/>
                <a:ea typeface="Arial"/>
                <a:cs typeface="Arial"/>
              </a:defRPr>
            </a:defPPr>
            <a:lvl1pPr>
              <a:defRPr sz="2250" b="1">
                <a:solidFill>
                  <a:srgbClr val="28714F"/>
                </a:solidFill>
                <a:latin typeface="Arial"/>
                <a:ea typeface="Arial"/>
                <a:cs typeface="Arial"/>
              </a:defRPr>
            </a:lvl1pPr>
            <a:lvl2pPr>
              <a:defRPr sz="2250" b="1">
                <a:solidFill>
                  <a:srgbClr val="28714F"/>
                </a:solidFill>
                <a:latin typeface="Arial"/>
                <a:ea typeface="Arial"/>
                <a:cs typeface="Arial"/>
              </a:defRPr>
            </a:lvl2pPr>
            <a:lvl3pPr>
              <a:defRPr sz="2250" b="1">
                <a:solidFill>
                  <a:srgbClr val="28714F"/>
                </a:solidFill>
                <a:latin typeface="Arial"/>
                <a:ea typeface="Arial"/>
                <a:cs typeface="Arial"/>
              </a:defRPr>
            </a:lvl3pPr>
            <a:lvl4pPr>
              <a:defRPr sz="2250" b="1">
                <a:solidFill>
                  <a:srgbClr val="28714F"/>
                </a:solidFill>
                <a:latin typeface="Arial"/>
                <a:ea typeface="Arial"/>
                <a:cs typeface="Arial"/>
              </a:defRPr>
            </a:lvl4pPr>
            <a:lvl5pPr>
              <a:defRPr sz="2250" b="1">
                <a:solidFill>
                  <a:srgbClr val="28714F"/>
                </a:solidFill>
                <a:latin typeface="Arial"/>
                <a:ea typeface="Arial"/>
                <a:cs typeface="Arial"/>
              </a:defRPr>
            </a:lvl5pPr>
            <a:lvl6pPr>
              <a:defRPr sz="2250" b="1">
                <a:solidFill>
                  <a:srgbClr val="28714F"/>
                </a:solidFill>
                <a:latin typeface="Arial"/>
                <a:ea typeface="Arial"/>
                <a:cs typeface="Arial"/>
              </a:defRPr>
            </a:lvl6pPr>
            <a:lvl7pPr>
              <a:defRPr sz="2250" b="1">
                <a:solidFill>
                  <a:srgbClr val="28714F"/>
                </a:solidFill>
                <a:latin typeface="Arial"/>
                <a:ea typeface="Arial"/>
                <a:cs typeface="Arial"/>
              </a:defRPr>
            </a:lvl7pPr>
            <a:lvl8pPr>
              <a:defRPr sz="2250" b="1">
                <a:solidFill>
                  <a:srgbClr val="28714F"/>
                </a:solidFill>
                <a:latin typeface="Arial"/>
                <a:ea typeface="Arial"/>
                <a:cs typeface="Arial"/>
              </a:defRPr>
            </a:lvl8pPr>
            <a:lvl9pPr>
              <a:defRPr sz="2250" b="1">
                <a:solidFill>
                  <a:srgbClr val="28714F"/>
                </a:solidFill>
                <a:latin typeface="Arial"/>
                <a:ea typeface="Arial"/>
                <a:cs typeface="Arial"/>
              </a:defRPr>
            </a:lvl9pPr>
          </a:lstStyle>
          <a:p xmlns:a="http://schemas.openxmlformats.org/drawingml/2006/main">
            <a:pPr>
              <a:defRPr sz="2250" b="1">
                <a:solidFill>
                  <a:srgbClr val="28714F"/>
                </a:solidFill>
                <a:latin typeface="Arial"/>
                <a:ea typeface="Arial"/>
                <a:cs typeface="Arial"/>
              </a:defRPr>
            </a:pPr>
            <a:r>
              <a:rPr sz="2250" b="1">
                <a:solidFill>
                  <a:srgbClr val="28714F"/>
                </a:solidFill>
                <a:latin typeface="Arial"/>
                <a:ea typeface="Arial"/>
                <a:cs typeface="Arial"/>
              </a:rPr>
              <a:t>Inventory</a:t>
            </a:r>
          </a:p>
        </p:txBody>
      </p:sp>
      <p:sp>
        <p:nvSpPr>
          <p:cNvPr id="4" name="">
            <a:extLst xmlns:a="http://schemas.openxmlformats.org/drawingml/2006/main">
              <a:ext uri="{FF2B5EF4-FFF2-40B4-BE49-F238E27FC236}">
                <a16:creationId xmlns:a16="http://schemas.microsoft.com/office/drawing/2014/main" id="{BED570A4-2822-48C0-9723-EE5674102DC3}"/>
              </a:ext>
            </a:extLst>
          </p:cNvPr>
          <p:cNvSpPr>
            <a:spLocks xmlns:a="http://schemas.openxmlformats.org/drawingml/2006/main" noGrp="1"/>
          </p:cNvSpPr>
          <p:nvPr/>
        </p:nvSpPr>
        <p:spPr>
          <a:xfrm xmlns:a="http://schemas.openxmlformats.org/drawingml/2006/main">
            <a:off x="4857750" y="1857375"/>
            <a:ext cx="647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2D"/>
                </a:solidFill>
                <a:latin typeface="Arial"/>
                <a:ea typeface="Arial"/>
                <a:cs typeface="Arial"/>
              </a:defRPr>
            </a:defPPr>
            <a:lvl1pPr>
              <a:defRPr sz="2175" b="0">
                <a:solidFill>
                  <a:srgbClr val="183C2D"/>
                </a:solidFill>
                <a:latin typeface="Arial"/>
                <a:ea typeface="Arial"/>
                <a:cs typeface="Arial"/>
              </a:defRPr>
            </a:lvl1pPr>
            <a:lvl2pPr>
              <a:defRPr sz="2175" b="0">
                <a:solidFill>
                  <a:srgbClr val="183C2D"/>
                </a:solidFill>
                <a:latin typeface="Arial"/>
                <a:ea typeface="Arial"/>
                <a:cs typeface="Arial"/>
              </a:defRPr>
            </a:lvl2pPr>
            <a:lvl3pPr>
              <a:defRPr sz="2175" b="0">
                <a:solidFill>
                  <a:srgbClr val="183C2D"/>
                </a:solidFill>
                <a:latin typeface="Arial"/>
                <a:ea typeface="Arial"/>
                <a:cs typeface="Arial"/>
              </a:defRPr>
            </a:lvl3pPr>
            <a:lvl4pPr>
              <a:defRPr sz="2175" b="0">
                <a:solidFill>
                  <a:srgbClr val="183C2D"/>
                </a:solidFill>
                <a:latin typeface="Arial"/>
                <a:ea typeface="Arial"/>
                <a:cs typeface="Arial"/>
              </a:defRPr>
            </a:lvl4pPr>
            <a:lvl5pPr>
              <a:defRPr sz="2175" b="0">
                <a:solidFill>
                  <a:srgbClr val="183C2D"/>
                </a:solidFill>
                <a:latin typeface="Arial"/>
                <a:ea typeface="Arial"/>
                <a:cs typeface="Arial"/>
              </a:defRPr>
            </a:lvl5pPr>
            <a:lvl6pPr>
              <a:defRPr sz="2175" b="0">
                <a:solidFill>
                  <a:srgbClr val="183C2D"/>
                </a:solidFill>
                <a:latin typeface="Arial"/>
                <a:ea typeface="Arial"/>
                <a:cs typeface="Arial"/>
              </a:defRPr>
            </a:lvl6pPr>
            <a:lvl7pPr>
              <a:defRPr sz="2175" b="0">
                <a:solidFill>
                  <a:srgbClr val="183C2D"/>
                </a:solidFill>
                <a:latin typeface="Arial"/>
                <a:ea typeface="Arial"/>
                <a:cs typeface="Arial"/>
              </a:defRPr>
            </a:lvl7pPr>
            <a:lvl8pPr>
              <a:defRPr sz="2175" b="0">
                <a:solidFill>
                  <a:srgbClr val="183C2D"/>
                </a:solidFill>
                <a:latin typeface="Arial"/>
                <a:ea typeface="Arial"/>
                <a:cs typeface="Arial"/>
              </a:defRPr>
            </a:lvl8pPr>
            <a:lvl9pPr>
              <a:defRPr sz="2175" b="0">
                <a:solidFill>
                  <a:srgbClr val="183C2D"/>
                </a:solidFill>
                <a:latin typeface="Arial"/>
                <a:ea typeface="Arial"/>
                <a:cs typeface="Arial"/>
              </a:defRPr>
            </a:lvl9pPr>
          </a:lstStyle>
          <a:p xmlns:a="http://schemas.openxmlformats.org/drawingml/2006/main">
            <a:pPr>
              <a:defRPr sz="2175" b="0">
                <a:solidFill>
                  <a:srgbClr val="183C2D"/>
                </a:solidFill>
                <a:latin typeface="Arial"/>
                <a:ea typeface="Arial"/>
                <a:cs typeface="Arial"/>
              </a:defRPr>
            </a:pPr>
            <a:r>
              <a:rPr sz="2175" b="0">
                <a:solidFill>
                  <a:srgbClr val="183C2D"/>
                </a:solidFill>
                <a:latin typeface="Arial"/>
                <a:ea typeface="Arial"/>
                <a:cs typeface="Arial"/>
              </a:rPr>
              <a:t>All 2,527 source images and their status</a:t>
            </a:r>
          </a:p>
        </p:txBody>
      </p:sp>
      <p:sp>
        <p:nvSpPr>
          <p:cNvPr id="5" name="">
            <a:extLst xmlns:a="http://schemas.openxmlformats.org/drawingml/2006/main">
              <a:ext uri="{FF2B5EF4-FFF2-40B4-BE49-F238E27FC236}">
                <a16:creationId xmlns:a16="http://schemas.microsoft.com/office/drawing/2014/main" id="{C5DEB780-7DCC-449E-96D6-4C2326E838BC}"/>
              </a:ext>
            </a:extLst>
          </p:cNvPr>
          <p:cNvSpPr>
            <a:spLocks xmlns:a="http://schemas.openxmlformats.org/drawingml/2006/main" noGrp="1"/>
          </p:cNvSpPr>
          <p:nvPr/>
        </p:nvSpPr>
        <p:spPr>
          <a:xfrm xmlns:a="http://schemas.openxmlformats.org/drawingml/2006/main">
            <a:off x="685800" y="28575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8714F"/>
                </a:solidFill>
                <a:latin typeface="Arial"/>
                <a:ea typeface="Arial"/>
                <a:cs typeface="Arial"/>
              </a:defRPr>
            </a:defPPr>
            <a:lvl1pPr>
              <a:defRPr sz="2250" b="1">
                <a:solidFill>
                  <a:srgbClr val="28714F"/>
                </a:solidFill>
                <a:latin typeface="Arial"/>
                <a:ea typeface="Arial"/>
                <a:cs typeface="Arial"/>
              </a:defRPr>
            </a:lvl1pPr>
            <a:lvl2pPr>
              <a:defRPr sz="2250" b="1">
                <a:solidFill>
                  <a:srgbClr val="28714F"/>
                </a:solidFill>
                <a:latin typeface="Arial"/>
                <a:ea typeface="Arial"/>
                <a:cs typeface="Arial"/>
              </a:defRPr>
            </a:lvl2pPr>
            <a:lvl3pPr>
              <a:defRPr sz="2250" b="1">
                <a:solidFill>
                  <a:srgbClr val="28714F"/>
                </a:solidFill>
                <a:latin typeface="Arial"/>
                <a:ea typeface="Arial"/>
                <a:cs typeface="Arial"/>
              </a:defRPr>
            </a:lvl3pPr>
            <a:lvl4pPr>
              <a:defRPr sz="2250" b="1">
                <a:solidFill>
                  <a:srgbClr val="28714F"/>
                </a:solidFill>
                <a:latin typeface="Arial"/>
                <a:ea typeface="Arial"/>
                <a:cs typeface="Arial"/>
              </a:defRPr>
            </a:lvl4pPr>
            <a:lvl5pPr>
              <a:defRPr sz="2250" b="1">
                <a:solidFill>
                  <a:srgbClr val="28714F"/>
                </a:solidFill>
                <a:latin typeface="Arial"/>
                <a:ea typeface="Arial"/>
                <a:cs typeface="Arial"/>
              </a:defRPr>
            </a:lvl5pPr>
            <a:lvl6pPr>
              <a:defRPr sz="2250" b="1">
                <a:solidFill>
                  <a:srgbClr val="28714F"/>
                </a:solidFill>
                <a:latin typeface="Arial"/>
                <a:ea typeface="Arial"/>
                <a:cs typeface="Arial"/>
              </a:defRPr>
            </a:lvl6pPr>
            <a:lvl7pPr>
              <a:defRPr sz="2250" b="1">
                <a:solidFill>
                  <a:srgbClr val="28714F"/>
                </a:solidFill>
                <a:latin typeface="Arial"/>
                <a:ea typeface="Arial"/>
                <a:cs typeface="Arial"/>
              </a:defRPr>
            </a:lvl7pPr>
            <a:lvl8pPr>
              <a:defRPr sz="2250" b="1">
                <a:solidFill>
                  <a:srgbClr val="28714F"/>
                </a:solidFill>
                <a:latin typeface="Arial"/>
                <a:ea typeface="Arial"/>
                <a:cs typeface="Arial"/>
              </a:defRPr>
            </a:lvl8pPr>
            <a:lvl9pPr>
              <a:defRPr sz="2250" b="1">
                <a:solidFill>
                  <a:srgbClr val="28714F"/>
                </a:solidFill>
                <a:latin typeface="Arial"/>
                <a:ea typeface="Arial"/>
                <a:cs typeface="Arial"/>
              </a:defRPr>
            </a:lvl9pPr>
          </a:lstStyle>
          <a:p xmlns:a="http://schemas.openxmlformats.org/drawingml/2006/main">
            <a:pPr>
              <a:defRPr sz="2250" b="1">
                <a:solidFill>
                  <a:srgbClr val="28714F"/>
                </a:solidFill>
                <a:latin typeface="Arial"/>
                <a:ea typeface="Arial"/>
                <a:cs typeface="Arial"/>
              </a:defRPr>
            </a:pPr>
            <a:r>
              <a:rPr sz="2250" b="1">
                <a:solidFill>
                  <a:srgbClr val="28714F"/>
                </a:solidFill>
                <a:latin typeface="Arial"/>
                <a:ea typeface="Arial"/>
                <a:cs typeface="Arial"/>
              </a:rPr>
              <a:t>Training manifest</a:t>
            </a:r>
          </a:p>
        </p:txBody>
      </p:sp>
      <p:sp>
        <p:nvSpPr>
          <p:cNvPr id="6" name="">
            <a:extLst xmlns:a="http://schemas.openxmlformats.org/drawingml/2006/main">
              <a:ext uri="{FF2B5EF4-FFF2-40B4-BE49-F238E27FC236}">
                <a16:creationId xmlns:a16="http://schemas.microsoft.com/office/drawing/2014/main" id="{83815709-FE05-4CE9-91F3-2C155ABC04B5}"/>
              </a:ext>
            </a:extLst>
          </p:cNvPr>
          <p:cNvSpPr>
            <a:spLocks xmlns:a="http://schemas.openxmlformats.org/drawingml/2006/main" noGrp="1"/>
          </p:cNvSpPr>
          <p:nvPr/>
        </p:nvSpPr>
        <p:spPr>
          <a:xfrm xmlns:a="http://schemas.openxmlformats.org/drawingml/2006/main">
            <a:off x="4857750" y="2857500"/>
            <a:ext cx="647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2D"/>
                </a:solidFill>
                <a:latin typeface="Arial"/>
                <a:ea typeface="Arial"/>
                <a:cs typeface="Arial"/>
              </a:defRPr>
            </a:defPPr>
            <a:lvl1pPr>
              <a:defRPr sz="2175" b="0">
                <a:solidFill>
                  <a:srgbClr val="183C2D"/>
                </a:solidFill>
                <a:latin typeface="Arial"/>
                <a:ea typeface="Arial"/>
                <a:cs typeface="Arial"/>
              </a:defRPr>
            </a:lvl1pPr>
            <a:lvl2pPr>
              <a:defRPr sz="2175" b="0">
                <a:solidFill>
                  <a:srgbClr val="183C2D"/>
                </a:solidFill>
                <a:latin typeface="Arial"/>
                <a:ea typeface="Arial"/>
                <a:cs typeface="Arial"/>
              </a:defRPr>
            </a:lvl2pPr>
            <a:lvl3pPr>
              <a:defRPr sz="2175" b="0">
                <a:solidFill>
                  <a:srgbClr val="183C2D"/>
                </a:solidFill>
                <a:latin typeface="Arial"/>
                <a:ea typeface="Arial"/>
                <a:cs typeface="Arial"/>
              </a:defRPr>
            </a:lvl3pPr>
            <a:lvl4pPr>
              <a:defRPr sz="2175" b="0">
                <a:solidFill>
                  <a:srgbClr val="183C2D"/>
                </a:solidFill>
                <a:latin typeface="Arial"/>
                <a:ea typeface="Arial"/>
                <a:cs typeface="Arial"/>
              </a:defRPr>
            </a:lvl4pPr>
            <a:lvl5pPr>
              <a:defRPr sz="2175" b="0">
                <a:solidFill>
                  <a:srgbClr val="183C2D"/>
                </a:solidFill>
                <a:latin typeface="Arial"/>
                <a:ea typeface="Arial"/>
                <a:cs typeface="Arial"/>
              </a:defRPr>
            </a:lvl5pPr>
            <a:lvl6pPr>
              <a:defRPr sz="2175" b="0">
                <a:solidFill>
                  <a:srgbClr val="183C2D"/>
                </a:solidFill>
                <a:latin typeface="Arial"/>
                <a:ea typeface="Arial"/>
                <a:cs typeface="Arial"/>
              </a:defRPr>
            </a:lvl6pPr>
            <a:lvl7pPr>
              <a:defRPr sz="2175" b="0">
                <a:solidFill>
                  <a:srgbClr val="183C2D"/>
                </a:solidFill>
                <a:latin typeface="Arial"/>
                <a:ea typeface="Arial"/>
                <a:cs typeface="Arial"/>
              </a:defRPr>
            </a:lvl7pPr>
            <a:lvl8pPr>
              <a:defRPr sz="2175" b="0">
                <a:solidFill>
                  <a:srgbClr val="183C2D"/>
                </a:solidFill>
                <a:latin typeface="Arial"/>
                <a:ea typeface="Arial"/>
                <a:cs typeface="Arial"/>
              </a:defRPr>
            </a:lvl8pPr>
            <a:lvl9pPr>
              <a:defRPr sz="2175" b="0">
                <a:solidFill>
                  <a:srgbClr val="183C2D"/>
                </a:solidFill>
                <a:latin typeface="Arial"/>
                <a:ea typeface="Arial"/>
                <a:cs typeface="Arial"/>
              </a:defRPr>
            </a:lvl9pPr>
          </a:lstStyle>
          <a:p xmlns:a="http://schemas.openxmlformats.org/drawingml/2006/main">
            <a:pPr>
              <a:defRPr sz="2175" b="0">
                <a:solidFill>
                  <a:srgbClr val="183C2D"/>
                </a:solidFill>
                <a:latin typeface="Arial"/>
                <a:ea typeface="Arial"/>
                <a:cs typeface="Arial"/>
              </a:defRPr>
            </a:pPr>
            <a:r>
              <a:rPr sz="2175" b="0">
                <a:solidFill>
                  <a:srgbClr val="183C2D"/>
                </a:solidFill>
                <a:latin typeface="Arial"/>
                <a:ea typeface="Arial"/>
                <a:cs typeface="Arial"/>
              </a:rPr>
              <a:t>2,521 usable images with fixed partitions</a:t>
            </a:r>
          </a:p>
        </p:txBody>
      </p:sp>
      <p:sp>
        <p:nvSpPr>
          <p:cNvPr id="7" name="">
            <a:extLst xmlns:a="http://schemas.openxmlformats.org/drawingml/2006/main">
              <a:ext uri="{FF2B5EF4-FFF2-40B4-BE49-F238E27FC236}">
                <a16:creationId xmlns:a16="http://schemas.microsoft.com/office/drawing/2014/main" id="{E005C602-1161-4CB4-B0E2-899E9A92D9E6}"/>
              </a:ext>
            </a:extLst>
          </p:cNvPr>
          <p:cNvSpPr>
            <a:spLocks xmlns:a="http://schemas.openxmlformats.org/drawingml/2006/main" noGrp="1"/>
          </p:cNvSpPr>
          <p:nvPr/>
        </p:nvSpPr>
        <p:spPr>
          <a:xfrm xmlns:a="http://schemas.openxmlformats.org/drawingml/2006/main">
            <a:off x="685800" y="3857625"/>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8714F"/>
                </a:solidFill>
                <a:latin typeface="Arial"/>
                <a:ea typeface="Arial"/>
                <a:cs typeface="Arial"/>
              </a:defRPr>
            </a:defPPr>
            <a:lvl1pPr>
              <a:defRPr sz="2250" b="1">
                <a:solidFill>
                  <a:srgbClr val="28714F"/>
                </a:solidFill>
                <a:latin typeface="Arial"/>
                <a:ea typeface="Arial"/>
                <a:cs typeface="Arial"/>
              </a:defRPr>
            </a:lvl1pPr>
            <a:lvl2pPr>
              <a:defRPr sz="2250" b="1">
                <a:solidFill>
                  <a:srgbClr val="28714F"/>
                </a:solidFill>
                <a:latin typeface="Arial"/>
                <a:ea typeface="Arial"/>
                <a:cs typeface="Arial"/>
              </a:defRPr>
            </a:lvl2pPr>
            <a:lvl3pPr>
              <a:defRPr sz="2250" b="1">
                <a:solidFill>
                  <a:srgbClr val="28714F"/>
                </a:solidFill>
                <a:latin typeface="Arial"/>
                <a:ea typeface="Arial"/>
                <a:cs typeface="Arial"/>
              </a:defRPr>
            </a:lvl3pPr>
            <a:lvl4pPr>
              <a:defRPr sz="2250" b="1">
                <a:solidFill>
                  <a:srgbClr val="28714F"/>
                </a:solidFill>
                <a:latin typeface="Arial"/>
                <a:ea typeface="Arial"/>
                <a:cs typeface="Arial"/>
              </a:defRPr>
            </a:lvl4pPr>
            <a:lvl5pPr>
              <a:defRPr sz="2250" b="1">
                <a:solidFill>
                  <a:srgbClr val="28714F"/>
                </a:solidFill>
                <a:latin typeface="Arial"/>
                <a:ea typeface="Arial"/>
                <a:cs typeface="Arial"/>
              </a:defRPr>
            </a:lvl5pPr>
            <a:lvl6pPr>
              <a:defRPr sz="2250" b="1">
                <a:solidFill>
                  <a:srgbClr val="28714F"/>
                </a:solidFill>
                <a:latin typeface="Arial"/>
                <a:ea typeface="Arial"/>
                <a:cs typeface="Arial"/>
              </a:defRPr>
            </a:lvl6pPr>
            <a:lvl7pPr>
              <a:defRPr sz="2250" b="1">
                <a:solidFill>
                  <a:srgbClr val="28714F"/>
                </a:solidFill>
                <a:latin typeface="Arial"/>
                <a:ea typeface="Arial"/>
                <a:cs typeface="Arial"/>
              </a:defRPr>
            </a:lvl7pPr>
            <a:lvl8pPr>
              <a:defRPr sz="2250" b="1">
                <a:solidFill>
                  <a:srgbClr val="28714F"/>
                </a:solidFill>
                <a:latin typeface="Arial"/>
                <a:ea typeface="Arial"/>
                <a:cs typeface="Arial"/>
              </a:defRPr>
            </a:lvl8pPr>
            <a:lvl9pPr>
              <a:defRPr sz="2250" b="1">
                <a:solidFill>
                  <a:srgbClr val="28714F"/>
                </a:solidFill>
                <a:latin typeface="Arial"/>
                <a:ea typeface="Arial"/>
                <a:cs typeface="Arial"/>
              </a:defRPr>
            </a:lvl9pPr>
          </a:lstStyle>
          <a:p xmlns:a="http://schemas.openxmlformats.org/drawingml/2006/main">
            <a:pPr>
              <a:defRPr sz="2250" b="1">
                <a:solidFill>
                  <a:srgbClr val="28714F"/>
                </a:solidFill>
                <a:latin typeface="Arial"/>
                <a:ea typeface="Arial"/>
                <a:cs typeface="Arial"/>
              </a:defRPr>
            </a:pPr>
            <a:r>
              <a:rPr sz="2250" b="1">
                <a:solidFill>
                  <a:srgbClr val="28714F"/>
                </a:solidFill>
                <a:latin typeface="Arial"/>
                <a:ea typeface="Arial"/>
                <a:cs typeface="Arial"/>
              </a:rPr>
              <a:t>Preprocessing notebook</a:t>
            </a:r>
          </a:p>
        </p:txBody>
      </p:sp>
      <p:sp>
        <p:nvSpPr>
          <p:cNvPr id="8" name="">
            <a:extLst xmlns:a="http://schemas.openxmlformats.org/drawingml/2006/main">
              <a:ext uri="{FF2B5EF4-FFF2-40B4-BE49-F238E27FC236}">
                <a16:creationId xmlns:a16="http://schemas.microsoft.com/office/drawing/2014/main" id="{5D45CB2E-5F44-452A-9E07-20C79184A995}"/>
              </a:ext>
            </a:extLst>
          </p:cNvPr>
          <p:cNvSpPr>
            <a:spLocks xmlns:a="http://schemas.openxmlformats.org/drawingml/2006/main" noGrp="1"/>
          </p:cNvSpPr>
          <p:nvPr/>
        </p:nvSpPr>
        <p:spPr>
          <a:xfrm xmlns:a="http://schemas.openxmlformats.org/drawingml/2006/main">
            <a:off x="4857750" y="3857625"/>
            <a:ext cx="647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2D"/>
                </a:solidFill>
                <a:latin typeface="Arial"/>
                <a:ea typeface="Arial"/>
                <a:cs typeface="Arial"/>
              </a:defRPr>
            </a:defPPr>
            <a:lvl1pPr>
              <a:defRPr sz="2175" b="0">
                <a:solidFill>
                  <a:srgbClr val="183C2D"/>
                </a:solidFill>
                <a:latin typeface="Arial"/>
                <a:ea typeface="Arial"/>
                <a:cs typeface="Arial"/>
              </a:defRPr>
            </a:lvl1pPr>
            <a:lvl2pPr>
              <a:defRPr sz="2175" b="0">
                <a:solidFill>
                  <a:srgbClr val="183C2D"/>
                </a:solidFill>
                <a:latin typeface="Arial"/>
                <a:ea typeface="Arial"/>
                <a:cs typeface="Arial"/>
              </a:defRPr>
            </a:lvl2pPr>
            <a:lvl3pPr>
              <a:defRPr sz="2175" b="0">
                <a:solidFill>
                  <a:srgbClr val="183C2D"/>
                </a:solidFill>
                <a:latin typeface="Arial"/>
                <a:ea typeface="Arial"/>
                <a:cs typeface="Arial"/>
              </a:defRPr>
            </a:lvl3pPr>
            <a:lvl4pPr>
              <a:defRPr sz="2175" b="0">
                <a:solidFill>
                  <a:srgbClr val="183C2D"/>
                </a:solidFill>
                <a:latin typeface="Arial"/>
                <a:ea typeface="Arial"/>
                <a:cs typeface="Arial"/>
              </a:defRPr>
            </a:lvl4pPr>
            <a:lvl5pPr>
              <a:defRPr sz="2175" b="0">
                <a:solidFill>
                  <a:srgbClr val="183C2D"/>
                </a:solidFill>
                <a:latin typeface="Arial"/>
                <a:ea typeface="Arial"/>
                <a:cs typeface="Arial"/>
              </a:defRPr>
            </a:lvl5pPr>
            <a:lvl6pPr>
              <a:defRPr sz="2175" b="0">
                <a:solidFill>
                  <a:srgbClr val="183C2D"/>
                </a:solidFill>
                <a:latin typeface="Arial"/>
                <a:ea typeface="Arial"/>
                <a:cs typeface="Arial"/>
              </a:defRPr>
            </a:lvl6pPr>
            <a:lvl7pPr>
              <a:defRPr sz="2175" b="0">
                <a:solidFill>
                  <a:srgbClr val="183C2D"/>
                </a:solidFill>
                <a:latin typeface="Arial"/>
                <a:ea typeface="Arial"/>
                <a:cs typeface="Arial"/>
              </a:defRPr>
            </a:lvl7pPr>
            <a:lvl8pPr>
              <a:defRPr sz="2175" b="0">
                <a:solidFill>
                  <a:srgbClr val="183C2D"/>
                </a:solidFill>
                <a:latin typeface="Arial"/>
                <a:ea typeface="Arial"/>
                <a:cs typeface="Arial"/>
              </a:defRPr>
            </a:lvl8pPr>
            <a:lvl9pPr>
              <a:defRPr sz="2175" b="0">
                <a:solidFill>
                  <a:srgbClr val="183C2D"/>
                </a:solidFill>
                <a:latin typeface="Arial"/>
                <a:ea typeface="Arial"/>
                <a:cs typeface="Arial"/>
              </a:defRPr>
            </a:lvl9pPr>
          </a:lstStyle>
          <a:p xmlns:a="http://schemas.openxmlformats.org/drawingml/2006/main">
            <a:pPr>
              <a:defRPr sz="2175" b="0">
                <a:solidFill>
                  <a:srgbClr val="183C2D"/>
                </a:solidFill>
                <a:latin typeface="Arial"/>
                <a:ea typeface="Arial"/>
                <a:cs typeface="Arial"/>
              </a:defRPr>
            </a:pPr>
            <a:r>
              <a:rPr sz="2175" b="0">
                <a:solidFill>
                  <a:srgbClr val="183C2D"/>
                </a:solidFill>
                <a:latin typeface="Arial"/>
                <a:ea typeface="Arial"/>
                <a:cs typeface="Arial"/>
              </a:rPr>
              <a:t>Encoding, resizing and input-batch checks</a:t>
            </a:r>
          </a:p>
        </p:txBody>
      </p:sp>
      <p:sp>
        <p:nvSpPr>
          <p:cNvPr id="9" name="">
            <a:extLst xmlns:a="http://schemas.openxmlformats.org/drawingml/2006/main">
              <a:ext uri="{FF2B5EF4-FFF2-40B4-BE49-F238E27FC236}">
                <a16:creationId xmlns:a16="http://schemas.microsoft.com/office/drawing/2014/main" id="{FFFB42FE-9879-4930-9AE7-8F166B5E7DF1}"/>
              </a:ext>
            </a:extLst>
          </p:cNvPr>
          <p:cNvSpPr>
            <a:spLocks xmlns:a="http://schemas.openxmlformats.org/drawingml/2006/main" noGrp="1"/>
          </p:cNvSpPr>
          <p:nvPr/>
        </p:nvSpPr>
        <p:spPr>
          <a:xfrm xmlns:a="http://schemas.openxmlformats.org/drawingml/2006/main">
            <a:off x="685800" y="48577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8714F"/>
                </a:solidFill>
                <a:latin typeface="Arial"/>
                <a:ea typeface="Arial"/>
                <a:cs typeface="Arial"/>
              </a:defRPr>
            </a:defPPr>
            <a:lvl1pPr>
              <a:defRPr sz="2250" b="1">
                <a:solidFill>
                  <a:srgbClr val="28714F"/>
                </a:solidFill>
                <a:latin typeface="Arial"/>
                <a:ea typeface="Arial"/>
                <a:cs typeface="Arial"/>
              </a:defRPr>
            </a:lvl1pPr>
            <a:lvl2pPr>
              <a:defRPr sz="2250" b="1">
                <a:solidFill>
                  <a:srgbClr val="28714F"/>
                </a:solidFill>
                <a:latin typeface="Arial"/>
                <a:ea typeface="Arial"/>
                <a:cs typeface="Arial"/>
              </a:defRPr>
            </a:lvl2pPr>
            <a:lvl3pPr>
              <a:defRPr sz="2250" b="1">
                <a:solidFill>
                  <a:srgbClr val="28714F"/>
                </a:solidFill>
                <a:latin typeface="Arial"/>
                <a:ea typeface="Arial"/>
                <a:cs typeface="Arial"/>
              </a:defRPr>
            </a:lvl3pPr>
            <a:lvl4pPr>
              <a:defRPr sz="2250" b="1">
                <a:solidFill>
                  <a:srgbClr val="28714F"/>
                </a:solidFill>
                <a:latin typeface="Arial"/>
                <a:ea typeface="Arial"/>
                <a:cs typeface="Arial"/>
              </a:defRPr>
            </a:lvl4pPr>
            <a:lvl5pPr>
              <a:defRPr sz="2250" b="1">
                <a:solidFill>
                  <a:srgbClr val="28714F"/>
                </a:solidFill>
                <a:latin typeface="Arial"/>
                <a:ea typeface="Arial"/>
                <a:cs typeface="Arial"/>
              </a:defRPr>
            </a:lvl5pPr>
            <a:lvl6pPr>
              <a:defRPr sz="2250" b="1">
                <a:solidFill>
                  <a:srgbClr val="28714F"/>
                </a:solidFill>
                <a:latin typeface="Arial"/>
                <a:ea typeface="Arial"/>
                <a:cs typeface="Arial"/>
              </a:defRPr>
            </a:lvl6pPr>
            <a:lvl7pPr>
              <a:defRPr sz="2250" b="1">
                <a:solidFill>
                  <a:srgbClr val="28714F"/>
                </a:solidFill>
                <a:latin typeface="Arial"/>
                <a:ea typeface="Arial"/>
                <a:cs typeface="Arial"/>
              </a:defRPr>
            </a:lvl7pPr>
            <a:lvl8pPr>
              <a:defRPr sz="2250" b="1">
                <a:solidFill>
                  <a:srgbClr val="28714F"/>
                </a:solidFill>
                <a:latin typeface="Arial"/>
                <a:ea typeface="Arial"/>
                <a:cs typeface="Arial"/>
              </a:defRPr>
            </a:lvl8pPr>
            <a:lvl9pPr>
              <a:defRPr sz="2250" b="1">
                <a:solidFill>
                  <a:srgbClr val="28714F"/>
                </a:solidFill>
                <a:latin typeface="Arial"/>
                <a:ea typeface="Arial"/>
                <a:cs typeface="Arial"/>
              </a:defRPr>
            </a:lvl9pPr>
          </a:lstStyle>
          <a:p xmlns:a="http://schemas.openxmlformats.org/drawingml/2006/main">
            <a:pPr>
              <a:defRPr sz="2250" b="1">
                <a:solidFill>
                  <a:srgbClr val="28714F"/>
                </a:solidFill>
                <a:latin typeface="Arial"/>
                <a:ea typeface="Arial"/>
                <a:cs typeface="Arial"/>
              </a:defRPr>
            </a:pPr>
            <a:r>
              <a:rPr sz="2250" b="1">
                <a:solidFill>
                  <a:srgbClr val="28714F"/>
                </a:solidFill>
                <a:latin typeface="Arial"/>
                <a:ea typeface="Arial"/>
                <a:cs typeface="Arial"/>
              </a:rPr>
              <a:t>Human review worksheet</a:t>
            </a:r>
          </a:p>
        </p:txBody>
      </p:sp>
      <p:sp>
        <p:nvSpPr>
          <p:cNvPr id="10" name="">
            <a:extLst xmlns:a="http://schemas.openxmlformats.org/drawingml/2006/main">
              <a:ext uri="{FF2B5EF4-FFF2-40B4-BE49-F238E27FC236}">
                <a16:creationId xmlns:a16="http://schemas.microsoft.com/office/drawing/2014/main" id="{FD509497-2155-452B-B736-DBC76A0C354A}"/>
              </a:ext>
            </a:extLst>
          </p:cNvPr>
          <p:cNvSpPr>
            <a:spLocks xmlns:a="http://schemas.openxmlformats.org/drawingml/2006/main" noGrp="1"/>
          </p:cNvSpPr>
          <p:nvPr/>
        </p:nvSpPr>
        <p:spPr>
          <a:xfrm xmlns:a="http://schemas.openxmlformats.org/drawingml/2006/main">
            <a:off x="4857750" y="4857750"/>
            <a:ext cx="647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2D"/>
                </a:solidFill>
                <a:latin typeface="Arial"/>
                <a:ea typeface="Arial"/>
                <a:cs typeface="Arial"/>
              </a:defRPr>
            </a:defPPr>
            <a:lvl1pPr>
              <a:defRPr sz="2175" b="0">
                <a:solidFill>
                  <a:srgbClr val="183C2D"/>
                </a:solidFill>
                <a:latin typeface="Arial"/>
                <a:ea typeface="Arial"/>
                <a:cs typeface="Arial"/>
              </a:defRPr>
            </a:lvl1pPr>
            <a:lvl2pPr>
              <a:defRPr sz="2175" b="0">
                <a:solidFill>
                  <a:srgbClr val="183C2D"/>
                </a:solidFill>
                <a:latin typeface="Arial"/>
                <a:ea typeface="Arial"/>
                <a:cs typeface="Arial"/>
              </a:defRPr>
            </a:lvl2pPr>
            <a:lvl3pPr>
              <a:defRPr sz="2175" b="0">
                <a:solidFill>
                  <a:srgbClr val="183C2D"/>
                </a:solidFill>
                <a:latin typeface="Arial"/>
                <a:ea typeface="Arial"/>
                <a:cs typeface="Arial"/>
              </a:defRPr>
            </a:lvl3pPr>
            <a:lvl4pPr>
              <a:defRPr sz="2175" b="0">
                <a:solidFill>
                  <a:srgbClr val="183C2D"/>
                </a:solidFill>
                <a:latin typeface="Arial"/>
                <a:ea typeface="Arial"/>
                <a:cs typeface="Arial"/>
              </a:defRPr>
            </a:lvl4pPr>
            <a:lvl5pPr>
              <a:defRPr sz="2175" b="0">
                <a:solidFill>
                  <a:srgbClr val="183C2D"/>
                </a:solidFill>
                <a:latin typeface="Arial"/>
                <a:ea typeface="Arial"/>
                <a:cs typeface="Arial"/>
              </a:defRPr>
            </a:lvl5pPr>
            <a:lvl6pPr>
              <a:defRPr sz="2175" b="0">
                <a:solidFill>
                  <a:srgbClr val="183C2D"/>
                </a:solidFill>
                <a:latin typeface="Arial"/>
                <a:ea typeface="Arial"/>
                <a:cs typeface="Arial"/>
              </a:defRPr>
            </a:lvl6pPr>
            <a:lvl7pPr>
              <a:defRPr sz="2175" b="0">
                <a:solidFill>
                  <a:srgbClr val="183C2D"/>
                </a:solidFill>
                <a:latin typeface="Arial"/>
                <a:ea typeface="Arial"/>
                <a:cs typeface="Arial"/>
              </a:defRPr>
            </a:lvl7pPr>
            <a:lvl8pPr>
              <a:defRPr sz="2175" b="0">
                <a:solidFill>
                  <a:srgbClr val="183C2D"/>
                </a:solidFill>
                <a:latin typeface="Arial"/>
                <a:ea typeface="Arial"/>
                <a:cs typeface="Arial"/>
              </a:defRPr>
            </a:lvl8pPr>
            <a:lvl9pPr>
              <a:defRPr sz="2175" b="0">
                <a:solidFill>
                  <a:srgbClr val="183C2D"/>
                </a:solidFill>
                <a:latin typeface="Arial"/>
                <a:ea typeface="Arial"/>
                <a:cs typeface="Arial"/>
              </a:defRPr>
            </a:lvl9pPr>
          </a:lstStyle>
          <a:p xmlns:a="http://schemas.openxmlformats.org/drawingml/2006/main">
            <a:pPr>
              <a:defRPr sz="2175" b="0">
                <a:solidFill>
                  <a:srgbClr val="183C2D"/>
                </a:solidFill>
                <a:latin typeface="Arial"/>
                <a:ea typeface="Arial"/>
                <a:cs typeface="Arial"/>
              </a:defRPr>
            </a:pPr>
            <a:r>
              <a:rPr sz="2175" b="0">
                <a:solidFill>
                  <a:srgbClr val="183C2D"/>
                </a:solidFill>
                <a:latin typeface="Arial"/>
                <a:ea typeface="Arial"/>
                <a:cs typeface="Arial"/>
              </a:rPr>
              <a:t>Labels and candidate duplicates to inspect</a:t>
            </a:r>
          </a:p>
        </p:txBody>
      </p:sp>
      <p:sp>
        <p:nvSpPr>
          <p:cNvPr id="11" name="">
            <a:extLst xmlns:a="http://schemas.openxmlformats.org/drawingml/2006/main">
              <a:ext uri="{FF2B5EF4-FFF2-40B4-BE49-F238E27FC236}">
                <a16:creationId xmlns:a16="http://schemas.microsoft.com/office/drawing/2014/main" id="{32012F5E-BB7D-4B7E-8F16-F4ACD31A77AE}"/>
              </a:ext>
            </a:extLst>
          </p:cNvPr>
          <p:cNvSpPr>
            <a:spLocks xmlns:a="http://schemas.openxmlformats.org/drawingml/2006/main" noGrp="1"/>
          </p:cNvSpPr>
          <p:nvPr/>
        </p:nvSpPr>
        <p:spPr>
          <a:xfrm xmlns:a="http://schemas.openxmlformats.org/drawingml/2006/main">
            <a:off x="685800" y="6000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83C2D"/>
                </a:solidFill>
                <a:latin typeface="Arial"/>
                <a:ea typeface="Arial"/>
                <a:cs typeface="Arial"/>
              </a:defRPr>
            </a:defPPr>
            <a:lvl1pPr>
              <a:defRPr sz="2250" b="1">
                <a:solidFill>
                  <a:srgbClr val="183C2D"/>
                </a:solidFill>
                <a:latin typeface="Arial"/>
                <a:ea typeface="Arial"/>
                <a:cs typeface="Arial"/>
              </a:defRPr>
            </a:lvl1pPr>
            <a:lvl2pPr>
              <a:defRPr sz="2250" b="1">
                <a:solidFill>
                  <a:srgbClr val="183C2D"/>
                </a:solidFill>
                <a:latin typeface="Arial"/>
                <a:ea typeface="Arial"/>
                <a:cs typeface="Arial"/>
              </a:defRPr>
            </a:lvl2pPr>
            <a:lvl3pPr>
              <a:defRPr sz="2250" b="1">
                <a:solidFill>
                  <a:srgbClr val="183C2D"/>
                </a:solidFill>
                <a:latin typeface="Arial"/>
                <a:ea typeface="Arial"/>
                <a:cs typeface="Arial"/>
              </a:defRPr>
            </a:lvl3pPr>
            <a:lvl4pPr>
              <a:defRPr sz="2250" b="1">
                <a:solidFill>
                  <a:srgbClr val="183C2D"/>
                </a:solidFill>
                <a:latin typeface="Arial"/>
                <a:ea typeface="Arial"/>
                <a:cs typeface="Arial"/>
              </a:defRPr>
            </a:lvl4pPr>
            <a:lvl5pPr>
              <a:defRPr sz="2250" b="1">
                <a:solidFill>
                  <a:srgbClr val="183C2D"/>
                </a:solidFill>
                <a:latin typeface="Arial"/>
                <a:ea typeface="Arial"/>
                <a:cs typeface="Arial"/>
              </a:defRPr>
            </a:lvl5pPr>
            <a:lvl6pPr>
              <a:defRPr sz="2250" b="1">
                <a:solidFill>
                  <a:srgbClr val="183C2D"/>
                </a:solidFill>
                <a:latin typeface="Arial"/>
                <a:ea typeface="Arial"/>
                <a:cs typeface="Arial"/>
              </a:defRPr>
            </a:lvl6pPr>
            <a:lvl7pPr>
              <a:defRPr sz="2250" b="1">
                <a:solidFill>
                  <a:srgbClr val="183C2D"/>
                </a:solidFill>
                <a:latin typeface="Arial"/>
                <a:ea typeface="Arial"/>
                <a:cs typeface="Arial"/>
              </a:defRPr>
            </a:lvl7pPr>
            <a:lvl8pPr>
              <a:defRPr sz="2250" b="1">
                <a:solidFill>
                  <a:srgbClr val="183C2D"/>
                </a:solidFill>
                <a:latin typeface="Arial"/>
                <a:ea typeface="Arial"/>
                <a:cs typeface="Arial"/>
              </a:defRPr>
            </a:lvl8pPr>
            <a:lvl9pPr>
              <a:defRPr sz="2250" b="1">
                <a:solidFill>
                  <a:srgbClr val="183C2D"/>
                </a:solidFill>
                <a:latin typeface="Arial"/>
                <a:ea typeface="Arial"/>
                <a:cs typeface="Arial"/>
              </a:defRPr>
            </a:lvl9pPr>
          </a:lstStyle>
          <a:p xmlns:a="http://schemas.openxmlformats.org/drawingml/2006/main">
            <a:pPr>
              <a:defRPr sz="2250" b="1">
                <a:solidFill>
                  <a:srgbClr val="183C2D"/>
                </a:solidFill>
                <a:latin typeface="Arial"/>
                <a:ea typeface="Arial"/>
                <a:cs typeface="Arial"/>
              </a:defRPr>
            </a:pPr>
            <a:r>
              <a:rPr sz="2250" b="1">
                <a:solidFill>
                  <a:srgbClr val="183C2D"/>
                </a:solidFill>
                <a:latin typeface="Arial"/>
                <a:ea typeface="Arial"/>
                <a:cs typeface="Arial"/>
              </a:rPr>
              <a:t>Ready for the next training activity.</a:t>
            </a:r>
          </a:p>
        </p:txBody>
      </p:sp>
    </p:spTree>
    <p:extLst>
      <p:ext uri="{BB962C8B-B14F-4D97-AF65-F5344CB8AC3E}">
        <p14:creationId xmlns:p14="http://schemas.microsoft.com/office/powerpoint/2010/main" val="1176591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2026-10-20T14:43:40.0920000Z</dcterms:created>
  <dcterms:modified xsi:type="dcterms:W3CDTF">2026-10-20T14:43:40.0920000Z</dcterms:modified>
</coreProperties>
</file>