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033b8fadf34862" /><Relationship Type="http://schemas.openxmlformats.org/officeDocument/2006/relationships/extended-properties" Target="/docProps/app.xml" Id="Rf81728cf438947c7" /><Relationship Type="http://schemas.openxmlformats.org/officeDocument/2006/relationships/officeDocument" Target="/ppt/presentation.xml" Id="Rcb22eca0a9244a92" /></Relationships>
</file>

<file path=ppt/presentation.xml><?xml version="1.0" encoding="utf-8"?>
<p:presentation xmlns:p="http://schemas.openxmlformats.org/presentationml/2006/main">
  <p:sldMasterIdLst>
    <p:sldMasterId xmlns:r="http://schemas.openxmlformats.org/officeDocument/2006/relationships" id="2147483648" r:id="R162deca4b0b64e42"/>
  </p:sldMasterIdLst>
  <p:notesMasterIdLst>
    <p:notesMasterId xmlns:r="http://schemas.openxmlformats.org/officeDocument/2006/relationships" r:id="Reccfd8df8f1d4803"/>
  </p:notesMasterIdLst>
  <p:sldIdLst>
    <p:sldId xmlns:r="http://schemas.openxmlformats.org/officeDocument/2006/relationships" id="256" r:id="R77490ca2609c4733"/>
    <p:sldId xmlns:r="http://schemas.openxmlformats.org/officeDocument/2006/relationships" id="257" r:id="Rdcb3839aafc246b1"/>
    <p:sldId xmlns:r="http://schemas.openxmlformats.org/officeDocument/2006/relationships" id="258" r:id="R9eedde08109441b6"/>
    <p:sldId xmlns:r="http://schemas.openxmlformats.org/officeDocument/2006/relationships" id="259" r:id="Ree456a4c94b04960"/>
    <p:sldId xmlns:r="http://schemas.openxmlformats.org/officeDocument/2006/relationships" id="260" r:id="R3655665995714cb3"/>
    <p:sldId xmlns:r="http://schemas.openxmlformats.org/officeDocument/2006/relationships" id="261" r:id="Rb77f188b922b40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d8e02f41da42f4" /><Relationship Type="http://schemas.openxmlformats.org/officeDocument/2006/relationships/slideMaster" Target="/ppt/slideMasters/slideMaster1.xml" Id="R162deca4b0b64e42" /><Relationship Type="http://schemas.openxmlformats.org/officeDocument/2006/relationships/notesMaster" Target="/ppt/notesMasters/notesMaster1.xml" Id="Reccfd8df8f1d4803" /><Relationship Type="http://schemas.openxmlformats.org/officeDocument/2006/relationships/presProps" Target="/ppt/presProps.xml" Id="R2510be187ec44125" /><Relationship Type="http://schemas.openxmlformats.org/officeDocument/2006/relationships/tableStyles" Target="/ppt/tableStyles.xml" Id="R2db5a63d54ec469c" /><Relationship Type="http://schemas.openxmlformats.org/officeDocument/2006/relationships/slide" Target="/ppt/slides/slide1.xml" Id="R77490ca2609c4733" /><Relationship Type="http://schemas.openxmlformats.org/officeDocument/2006/relationships/slide" Target="/ppt/slides/slide2.xml" Id="Rdcb3839aafc246b1" /><Relationship Type="http://schemas.openxmlformats.org/officeDocument/2006/relationships/slide" Target="/ppt/slides/slide3.xml" Id="R9eedde08109441b6" /><Relationship Type="http://schemas.openxmlformats.org/officeDocument/2006/relationships/slide" Target="/ppt/slides/slide4.xml" Id="Ree456a4c94b04960" /><Relationship Type="http://schemas.openxmlformats.org/officeDocument/2006/relationships/slide" Target="/ppt/slides/slide5.xml" Id="R3655665995714cb3" /><Relationship Type="http://schemas.openxmlformats.org/officeDocument/2006/relationships/slide" Target="/ppt/slides/slide6.xml" Id="Rb77f188b922b40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e894840c7b4b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51d5ab8b8c4898" /><Relationship Type="http://schemas.openxmlformats.org/officeDocument/2006/relationships/notesMaster" Target="/ppt/notesMasters/notesMaster1.xml" Id="R47cb087f1db14e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2d41d319b640d8" /><Relationship Type="http://schemas.openxmlformats.org/officeDocument/2006/relationships/notesMaster" Target="/ppt/notesMasters/notesMaster1.xml" Id="Rc2f6f7d71f214c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d676ef56c54540" /><Relationship Type="http://schemas.openxmlformats.org/officeDocument/2006/relationships/notesMaster" Target="/ppt/notesMasters/notesMaster1.xml" Id="Ra3aa2df17aef44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be2b418f304ee5" /><Relationship Type="http://schemas.openxmlformats.org/officeDocument/2006/relationships/notesMaster" Target="/ppt/notesMasters/notesMaster1.xml" Id="Rbe7bd04fdfee4a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1e54190a3c438d" /><Relationship Type="http://schemas.openxmlformats.org/officeDocument/2006/relationships/notesMaster" Target="/ppt/notesMasters/notesMaster1.xml" Id="Rd576465aa28944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a4198cfa074dd0" /><Relationship Type="http://schemas.openxmlformats.org/officeDocument/2006/relationships/notesMaster" Target="/ppt/notesMasters/notesMaster1.xml" Id="Ra0bf9a243b4740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Goal Diggers. This demonstration connects our weekly learning activities: concepts, preparation, introductory classification, a separate regression exercise, evaluation and a working image classifier. AI assisted implementation and analysis through our shared chat.</a:t>
            </a:r>
          </a:p>
          <a:p xmlns:a="http://schemas.openxmlformats.org/drawingml/2006/main">
            <a:r>
              <a:t>Source: WasteSort repository protocol.json; reports/comparison.csv; reports/data_audit.json; reports/test_evaluation.json. Published local benchmark, not campus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TrashNet starts with 2,527 images. Six exact-pixel copies with conflicting labels are excluded. The remaining 2,521 images use seed 42 and grouped partitions. Candidate pairs stay together. The visual review records 28 likely same-item pairs, 11 visibly distinct pairs and 6 uncertain pairs; it does not retrospectively change the published split.</a:t>
            </a:r>
          </a:p>
          <a:p xmlns:a="http://schemas.openxmlformats.org/drawingml/2006/main">
            <a:r>
              <a:t>Source: WasteSort repository protocol.json; reports/comparison.csv; reports/data_audit.json; reports/test_evaluation.json. Published local benchmark, not campus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comparison is HOG plus SVM, HOG plus Random Forest, a small CNN and MobileNetV2. KNN and Decision Tree teach introductory classification and use validation data only. Linear Regression uses a separate numerical dataset; it is not a material classifier.</a:t>
            </a:r>
          </a:p>
          <a:p xmlns:a="http://schemas.openxmlformats.org/drawingml/2006/main">
            <a:r>
              <a:t>Source: WasteSort repository protocol.json; reports/comparison.csv; reports/data_audit.json; reports/test_evaluation.json. Published local benchmark, not campus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chose the deployment model by validation macro F1 before examining test results. MobileNetV2 achieved 84.57 percent test accuracy and 81.22 percent macro F1. Macro F1 gives each class equal weight. These results describe one split and one training seed, so we do not claim statistically proven superiority or campus accuracy.</a:t>
            </a:r>
          </a:p>
          <a:p xmlns:a="http://schemas.openxmlformats.org/drawingml/2006/main">
            <a:r>
              <a:t>Source: WasteSort repository protocol.json; reports/comparison.csv; reports/data_audit.json; reports/test_evaluation.json. Published local benchmark, not campus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confusion matrix by actual class on the rows and predicted class on the columns. Correct classifications lie on the diagonal. Only 10 of 18 actual trash images were recognized by MobileNetV2, giving 55.56 percent trash recall. A good overall accuracy does not remove this weakness.</a:t>
            </a:r>
          </a:p>
          <a:p xmlns:a="http://schemas.openxmlformats.org/drawingml/2006/main">
            <a:r>
              <a:t>Source: WasteSort repository protocol.json; reports/comparison.csv; reports/data_audit.json; reports/test_evaluation.json. Published local benchmark, not campus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WasteSort, upload one clear JPEG or PNG, select Identify material, and explain the result and score. Download the JSON result as evidence. The score is not calibrated confidence. The app may classify unrelated objects and does not establish safety, recyclability or campus bin rules. This is a prototype demonstration. Colab execution records are reported separately from the original benchmark.</a:t>
            </a:r>
          </a:p>
          <a:p xmlns:a="http://schemas.openxmlformats.org/drawingml/2006/main">
            <a:r>
              <a:t>Source: WasteSort repository protocol.json; reports/comparison.csv; reports/data_audit.json; reports/test_evaluation.json. Published local benchmark, not campus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f33c6dfd1c46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32cc77d3934a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ffe44ff7e84f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d3aafb7b994f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7084d7cea744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c05469a55f43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6D5FD-E1D0-4BA3-8B5D-6533B6A194E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054AEB-6DF9-49E8-9A61-514B1BA04F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163794-2B1A-4B7D-8510-090FD27D2AE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868A76-61EE-4459-B31B-B7FD98E053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06AD26-103D-4BFF-B7E4-C70D66497C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DEA07E0-D94D-41B9-812B-7615110455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2F0934-7651-40D9-A565-845BF003A2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7D2C16-9E89-44CC-A78C-012AD14199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148A1B-7F7B-4A12-8A8C-34F708D940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6C8D0A-0116-4A04-8FFF-6131C18D44A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22f1496a274f97" /><Relationship Type="http://schemas.openxmlformats.org/officeDocument/2006/relationships/slideLayout" Target="/ppt/slideLayouts/slideLayout1.xml" Id="Ra3be8cb394964000" /><Relationship Type="http://schemas.openxmlformats.org/officeDocument/2006/relationships/slideLayout" Target="/ppt/slideLayouts/slideLayout2.xml" Id="Rbe0cb48abe79430d" /><Relationship Type="http://schemas.openxmlformats.org/officeDocument/2006/relationships/slideLayout" Target="/ppt/slideLayouts/slideLayout3.xml" Id="R1e8110ea479e44ba" /><Relationship Type="http://schemas.openxmlformats.org/officeDocument/2006/relationships/slideLayout" Target="/ppt/slideLayouts/slideLayout4.xml" Id="Rcc23c990a54445cb" /><Relationship Type="http://schemas.openxmlformats.org/officeDocument/2006/relationships/slideLayout" Target="/ppt/slideLayouts/slideLayout5.xml" Id="Rf48dac0393574127" /><Relationship Type="http://schemas.openxmlformats.org/officeDocument/2006/relationships/slideLayout" Target="/ppt/slideLayouts/slideLayout6.xml" Id="R4ad48821b0e142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be8cb394964000"/>
    <p:sldLayoutId xmlns:r="http://schemas.openxmlformats.org/officeDocument/2006/relationships" id="2147483650" r:id="Rbe0cb48abe79430d"/>
    <p:sldLayoutId xmlns:r="http://schemas.openxmlformats.org/officeDocument/2006/relationships" id="2147483651" r:id="R1e8110ea479e44ba"/>
    <p:sldLayoutId xmlns:r="http://schemas.openxmlformats.org/officeDocument/2006/relationships" id="2147483652" r:id="Rcc23c990a54445cb"/>
    <p:sldLayoutId xmlns:r="http://schemas.openxmlformats.org/officeDocument/2006/relationships" id="2147483653" r:id="Rf48dac0393574127"/>
    <p:sldLayoutId xmlns:r="http://schemas.openxmlformats.org/officeDocument/2006/relationships" id="2147483654" r:id="R4ad48821b0e142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9939a7396b43f9" /><Relationship Type="http://schemas.openxmlformats.org/officeDocument/2006/relationships/image" Target="/ppt/media/image.jpeg" Id="R3682caf689be4918" /><Relationship Type="http://schemas.openxmlformats.org/officeDocument/2006/relationships/notesSlide" Target="/ppt/notesSlides/notesSlide1.xml" Id="R5fbeb09e7dc545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e68cb655f14df5" /><Relationship Type="http://schemas.openxmlformats.org/officeDocument/2006/relationships/notesSlide" Target="/ppt/notesSlides/notesSlide2.xml" Id="R62920516ec1a43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e6077133a34822" /><Relationship Type="http://schemas.openxmlformats.org/officeDocument/2006/relationships/notesSlide" Target="/ppt/notesSlides/notesSlide3.xml" Id="Rff5e9ff0adc24d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42ed5d432e4afe" /><Relationship Type="http://schemas.openxmlformats.org/officeDocument/2006/relationships/notesSlide" Target="/ppt/notesSlides/notesSlide4.xml" Id="Reda50106067240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665fea0b8d4a70" /><Relationship Type="http://schemas.openxmlformats.org/officeDocument/2006/relationships/image" Target="/ppt/media/image.png" Id="R3ffc3cdea94f4216" /><Relationship Type="http://schemas.openxmlformats.org/officeDocument/2006/relationships/notesSlide" Target="/ppt/notesSlides/notesSlide5.xml" Id="R1d38f42d72ed4b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fbc88d1de44fa7" /><Relationship Type="http://schemas.openxmlformats.org/officeDocument/2006/relationships/notesSlide" Target="/ppt/notesSlides/notesSlide6.xml" Id="R301f18c51a49441a" /></Relationships>
</file>

<file path=ppt/slides/slide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AAE587-113D-4615-B4BB-5E07EFEAAD83}"/>
              </a:ext>
            </a:extLst>
          </p:cNvPr>
          <p:cNvSpPr>
            <a:spLocks xmlns:a="http://schemas.openxmlformats.org/drawingml/2006/main" noGrp="1"/>
          </p:cNvSpPr>
          <p:nvPr/>
        </p:nvSpPr>
        <p:spPr>
          <a:xfrm xmlns:a="http://schemas.openxmlformats.org/drawingml/2006/main">
            <a:off x="619125" y="476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3C2D"/>
                </a:solidFill>
                <a:latin typeface="Arial"/>
                <a:ea typeface="Arial"/>
                <a:cs typeface="Arial"/>
              </a:defRPr>
            </a:defPPr>
            <a:lvl1pPr>
              <a:defRPr sz="3225" b="1">
                <a:solidFill>
                  <a:srgbClr val="183C2D"/>
                </a:solidFill>
                <a:latin typeface="Arial"/>
                <a:ea typeface="Arial"/>
                <a:cs typeface="Arial"/>
              </a:defRPr>
            </a:lvl1pPr>
            <a:lvl2pPr>
              <a:defRPr sz="3225" b="1">
                <a:solidFill>
                  <a:srgbClr val="183C2D"/>
                </a:solidFill>
                <a:latin typeface="Arial"/>
                <a:ea typeface="Arial"/>
                <a:cs typeface="Arial"/>
              </a:defRPr>
            </a:lvl2pPr>
            <a:lvl3pPr>
              <a:defRPr sz="3225" b="1">
                <a:solidFill>
                  <a:srgbClr val="183C2D"/>
                </a:solidFill>
                <a:latin typeface="Arial"/>
                <a:ea typeface="Arial"/>
                <a:cs typeface="Arial"/>
              </a:defRPr>
            </a:lvl3pPr>
            <a:lvl4pPr>
              <a:defRPr sz="3225" b="1">
                <a:solidFill>
                  <a:srgbClr val="183C2D"/>
                </a:solidFill>
                <a:latin typeface="Arial"/>
                <a:ea typeface="Arial"/>
                <a:cs typeface="Arial"/>
              </a:defRPr>
            </a:lvl4pPr>
            <a:lvl5pPr>
              <a:defRPr sz="3225" b="1">
                <a:solidFill>
                  <a:srgbClr val="183C2D"/>
                </a:solidFill>
                <a:latin typeface="Arial"/>
                <a:ea typeface="Arial"/>
                <a:cs typeface="Arial"/>
              </a:defRPr>
            </a:lvl5pPr>
            <a:lvl6pPr>
              <a:defRPr sz="3225" b="1">
                <a:solidFill>
                  <a:srgbClr val="183C2D"/>
                </a:solidFill>
                <a:latin typeface="Arial"/>
                <a:ea typeface="Arial"/>
                <a:cs typeface="Arial"/>
              </a:defRPr>
            </a:lvl6pPr>
            <a:lvl7pPr>
              <a:defRPr sz="3225" b="1">
                <a:solidFill>
                  <a:srgbClr val="183C2D"/>
                </a:solidFill>
                <a:latin typeface="Arial"/>
                <a:ea typeface="Arial"/>
                <a:cs typeface="Arial"/>
              </a:defRPr>
            </a:lvl7pPr>
            <a:lvl8pPr>
              <a:defRPr sz="3225" b="1">
                <a:solidFill>
                  <a:srgbClr val="183C2D"/>
                </a:solidFill>
                <a:latin typeface="Arial"/>
                <a:ea typeface="Arial"/>
                <a:cs typeface="Arial"/>
              </a:defRPr>
            </a:lvl8pPr>
            <a:lvl9pPr>
              <a:defRPr sz="3225" b="1">
                <a:solidFill>
                  <a:srgbClr val="183C2D"/>
                </a:solidFill>
                <a:latin typeface="Arial"/>
                <a:ea typeface="Arial"/>
                <a:cs typeface="Arial"/>
              </a:defRPr>
            </a:lvl9pPr>
          </a:lstStyle>
          <a:p xmlns:a="http://schemas.openxmlformats.org/drawingml/2006/main">
            <a:pPr>
              <a:defRPr sz="3225" b="1">
                <a:solidFill>
                  <a:srgbClr val="183C2D"/>
                </a:solidFill>
                <a:latin typeface="Arial"/>
                <a:ea typeface="Arial"/>
                <a:cs typeface="Arial"/>
              </a:defRPr>
            </a:pPr>
            <a:r>
              <a:rPr sz="3225" b="1">
                <a:solidFill>
                  <a:srgbClr val="183C2D"/>
                </a:solidFill>
                <a:latin typeface="Arial"/>
                <a:ea typeface="Arial"/>
                <a:cs typeface="Arial"/>
              </a:rPr>
              <a:t>WasteSort: from dataset to prediction</a:t>
            </a:r>
          </a:p>
        </p:txBody>
      </p:sp>
      <p:sp>
        <p:nvSpPr>
          <p:cNvPr id="2" name="">
            <a:extLst xmlns:a="http://schemas.openxmlformats.org/drawingml/2006/main">
              <a:ext uri="{FF2B5EF4-FFF2-40B4-BE49-F238E27FC236}">
                <a16:creationId xmlns:a16="http://schemas.microsoft.com/office/drawing/2014/main" id="{AA227B5F-90A1-4FCB-8C8F-6391ADF5F9AE}"/>
              </a:ext>
            </a:extLst>
          </p:cNvPr>
          <p:cNvSpPr>
            <a:spLocks xmlns:a="http://schemas.openxmlformats.org/drawingml/2006/main" noGrp="1"/>
          </p:cNvSpPr>
          <p:nvPr/>
        </p:nvSpPr>
        <p:spPr>
          <a:xfrm xmlns:a="http://schemas.openxmlformats.org/drawingml/2006/main">
            <a:off x="619125" y="1952625"/>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2D"/>
                </a:solidFill>
                <a:latin typeface="Arial"/>
                <a:ea typeface="Arial"/>
                <a:cs typeface="Arial"/>
              </a:defRPr>
            </a:defPPr>
            <a:lvl1pPr>
              <a:defRPr sz="3600" b="1">
                <a:solidFill>
                  <a:srgbClr val="183C2D"/>
                </a:solidFill>
                <a:latin typeface="Arial"/>
                <a:ea typeface="Arial"/>
                <a:cs typeface="Arial"/>
              </a:defRPr>
            </a:lvl1pPr>
            <a:lvl2pPr>
              <a:defRPr sz="3600" b="1">
                <a:solidFill>
                  <a:srgbClr val="183C2D"/>
                </a:solidFill>
                <a:latin typeface="Arial"/>
                <a:ea typeface="Arial"/>
                <a:cs typeface="Arial"/>
              </a:defRPr>
            </a:lvl2pPr>
            <a:lvl3pPr>
              <a:defRPr sz="3600" b="1">
                <a:solidFill>
                  <a:srgbClr val="183C2D"/>
                </a:solidFill>
                <a:latin typeface="Arial"/>
                <a:ea typeface="Arial"/>
                <a:cs typeface="Arial"/>
              </a:defRPr>
            </a:lvl3pPr>
            <a:lvl4pPr>
              <a:defRPr sz="3600" b="1">
                <a:solidFill>
                  <a:srgbClr val="183C2D"/>
                </a:solidFill>
                <a:latin typeface="Arial"/>
                <a:ea typeface="Arial"/>
                <a:cs typeface="Arial"/>
              </a:defRPr>
            </a:lvl4pPr>
            <a:lvl5pPr>
              <a:defRPr sz="3600" b="1">
                <a:solidFill>
                  <a:srgbClr val="183C2D"/>
                </a:solidFill>
                <a:latin typeface="Arial"/>
                <a:ea typeface="Arial"/>
                <a:cs typeface="Arial"/>
              </a:defRPr>
            </a:lvl5pPr>
            <a:lvl6pPr>
              <a:defRPr sz="3600" b="1">
                <a:solidFill>
                  <a:srgbClr val="183C2D"/>
                </a:solidFill>
                <a:latin typeface="Arial"/>
                <a:ea typeface="Arial"/>
                <a:cs typeface="Arial"/>
              </a:defRPr>
            </a:lvl6pPr>
            <a:lvl7pPr>
              <a:defRPr sz="3600" b="1">
                <a:solidFill>
                  <a:srgbClr val="183C2D"/>
                </a:solidFill>
                <a:latin typeface="Arial"/>
                <a:ea typeface="Arial"/>
                <a:cs typeface="Arial"/>
              </a:defRPr>
            </a:lvl7pPr>
            <a:lvl8pPr>
              <a:defRPr sz="3600" b="1">
                <a:solidFill>
                  <a:srgbClr val="183C2D"/>
                </a:solidFill>
                <a:latin typeface="Arial"/>
                <a:ea typeface="Arial"/>
                <a:cs typeface="Arial"/>
              </a:defRPr>
            </a:lvl8pPr>
            <a:lvl9pPr>
              <a:defRPr sz="3600" b="1">
                <a:solidFill>
                  <a:srgbClr val="183C2D"/>
                </a:solidFill>
                <a:latin typeface="Arial"/>
                <a:ea typeface="Arial"/>
                <a:cs typeface="Arial"/>
              </a:defRPr>
            </a:lvl9pPr>
          </a:lstStyle>
          <a:p xmlns:a="http://schemas.openxmlformats.org/drawingml/2006/main">
            <a:pPr>
              <a:defRPr sz="3600" b="1">
                <a:solidFill>
                  <a:srgbClr val="183C2D"/>
                </a:solidFill>
                <a:latin typeface="Arial"/>
                <a:ea typeface="Arial"/>
                <a:cs typeface="Arial"/>
              </a:defRPr>
            </a:pPr>
            <a:r>
              <a:rPr sz="3600" b="1">
                <a:solidFill>
                  <a:srgbClr val="183C2D"/>
                </a:solidFill>
                <a:latin typeface="Arial"/>
                <a:ea typeface="Arial"/>
                <a:cs typeface="Arial"/>
              </a:rPr>
              <a:t>Goal Diggers</a:t>
            </a:r>
          </a:p>
        </p:txBody>
      </p:sp>
      <p:sp>
        <p:nvSpPr>
          <p:cNvPr id="3" name="">
            <a:extLst xmlns:a="http://schemas.openxmlformats.org/drawingml/2006/main">
              <a:ext uri="{FF2B5EF4-FFF2-40B4-BE49-F238E27FC236}">
                <a16:creationId xmlns:a16="http://schemas.microsoft.com/office/drawing/2014/main" id="{C5E4F8FE-7D48-4B61-B92A-468ACD0E5399}"/>
              </a:ext>
            </a:extLst>
          </p:cNvPr>
          <p:cNvSpPr>
            <a:spLocks xmlns:a="http://schemas.openxmlformats.org/drawingml/2006/main" noGrp="1"/>
          </p:cNvSpPr>
          <p:nvPr/>
        </p:nvSpPr>
        <p:spPr>
          <a:xfrm xmlns:a="http://schemas.openxmlformats.org/drawingml/2006/main">
            <a:off x="619125" y="2905125"/>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83C2D"/>
                </a:solidFill>
                <a:latin typeface="Arial"/>
                <a:ea typeface="Arial"/>
                <a:cs typeface="Arial"/>
              </a:defRPr>
            </a:defPPr>
            <a:lvl1pPr>
              <a:defRPr sz="2250" b="0">
                <a:solidFill>
                  <a:srgbClr val="183C2D"/>
                </a:solidFill>
                <a:latin typeface="Arial"/>
                <a:ea typeface="Arial"/>
                <a:cs typeface="Arial"/>
              </a:defRPr>
            </a:lvl1pPr>
            <a:lvl2pPr>
              <a:defRPr sz="2250" b="0">
                <a:solidFill>
                  <a:srgbClr val="183C2D"/>
                </a:solidFill>
                <a:latin typeface="Arial"/>
                <a:ea typeface="Arial"/>
                <a:cs typeface="Arial"/>
              </a:defRPr>
            </a:lvl2pPr>
            <a:lvl3pPr>
              <a:defRPr sz="2250" b="0">
                <a:solidFill>
                  <a:srgbClr val="183C2D"/>
                </a:solidFill>
                <a:latin typeface="Arial"/>
                <a:ea typeface="Arial"/>
                <a:cs typeface="Arial"/>
              </a:defRPr>
            </a:lvl3pPr>
            <a:lvl4pPr>
              <a:defRPr sz="2250" b="0">
                <a:solidFill>
                  <a:srgbClr val="183C2D"/>
                </a:solidFill>
                <a:latin typeface="Arial"/>
                <a:ea typeface="Arial"/>
                <a:cs typeface="Arial"/>
              </a:defRPr>
            </a:lvl4pPr>
            <a:lvl5pPr>
              <a:defRPr sz="2250" b="0">
                <a:solidFill>
                  <a:srgbClr val="183C2D"/>
                </a:solidFill>
                <a:latin typeface="Arial"/>
                <a:ea typeface="Arial"/>
                <a:cs typeface="Arial"/>
              </a:defRPr>
            </a:lvl5pPr>
            <a:lvl6pPr>
              <a:defRPr sz="2250" b="0">
                <a:solidFill>
                  <a:srgbClr val="183C2D"/>
                </a:solidFill>
                <a:latin typeface="Arial"/>
                <a:ea typeface="Arial"/>
                <a:cs typeface="Arial"/>
              </a:defRPr>
            </a:lvl6pPr>
            <a:lvl7pPr>
              <a:defRPr sz="2250" b="0">
                <a:solidFill>
                  <a:srgbClr val="183C2D"/>
                </a:solidFill>
                <a:latin typeface="Arial"/>
                <a:ea typeface="Arial"/>
                <a:cs typeface="Arial"/>
              </a:defRPr>
            </a:lvl7pPr>
            <a:lvl8pPr>
              <a:defRPr sz="2250" b="0">
                <a:solidFill>
                  <a:srgbClr val="183C2D"/>
                </a:solidFill>
                <a:latin typeface="Arial"/>
                <a:ea typeface="Arial"/>
                <a:cs typeface="Arial"/>
              </a:defRPr>
            </a:lvl8pPr>
            <a:lvl9pPr>
              <a:defRPr sz="2250" b="0">
                <a:solidFill>
                  <a:srgbClr val="183C2D"/>
                </a:solidFill>
                <a:latin typeface="Arial"/>
                <a:ea typeface="Arial"/>
                <a:cs typeface="Arial"/>
              </a:defRPr>
            </a:lvl9pPr>
          </a:lstStyle>
          <a:p xmlns:a="http://schemas.openxmlformats.org/drawingml/2006/main">
            <a:pPr>
              <a:defRPr sz="2250" b="0">
                <a:solidFill>
                  <a:srgbClr val="183C2D"/>
                </a:solidFill>
                <a:latin typeface="Arial"/>
                <a:ea typeface="Arial"/>
                <a:cs typeface="Arial"/>
              </a:defRPr>
            </a:pPr>
            <a:r>
              <a:rPr sz="2250" b="0">
                <a:solidFill>
                  <a:srgbClr val="183C2D"/>
                </a:solidFill>
                <a:latin typeface="Arial"/>
                <a:ea typeface="Arial"/>
                <a:cs typeface="Arial"/>
              </a:rPr>
              <a:t>Saturday demonstration</a:t>
            </a:r>
          </a:p>
          <a:p xmlns:a="http://schemas.openxmlformats.org/drawingml/2006/main">
            <a:pPr>
              <a:defRPr sz="2250" b="0">
                <a:solidFill>
                  <a:srgbClr val="183C2D"/>
                </a:solidFill>
                <a:latin typeface="Arial"/>
                <a:ea typeface="Arial"/>
                <a:cs typeface="Arial"/>
              </a:defRPr>
            </a:pPr>
            <a:r>
              <a:rPr sz="2250" b="0">
                <a:solidFill>
                  <a:srgbClr val="183C2D"/>
                </a:solidFill>
                <a:latin typeface="Arial"/>
                <a:ea typeface="Arial"/>
                <a:cs typeface="Arial"/>
              </a:rPr>
              <a:t>S-CSIS311 · BCS34</a:t>
            </a:r>
          </a:p>
        </p:txBody>
      </p:sp>
      <p:sp>
        <p:nvSpPr>
          <p:cNvPr id="4" name="">
            <a:extLst xmlns:a="http://schemas.openxmlformats.org/drawingml/2006/main">
              <a:ext uri="{FF2B5EF4-FFF2-40B4-BE49-F238E27FC236}">
                <a16:creationId xmlns:a16="http://schemas.microsoft.com/office/drawing/2014/main" id="{D18715ED-E4D1-4E72-B7C2-692C6A490AAF}"/>
              </a:ext>
            </a:extLst>
          </p:cNvPr>
          <p:cNvSpPr>
            <a:spLocks xmlns:a="http://schemas.openxmlformats.org/drawingml/2006/main" noGrp="1"/>
          </p:cNvSpPr>
          <p:nvPr/>
        </p:nvSpPr>
        <p:spPr>
          <a:xfrm xmlns:a="http://schemas.openxmlformats.org/drawingml/2006/main">
            <a:off x="619125" y="4429125"/>
            <a:ext cx="6191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Six material classes</a:t>
            </a:r>
          </a:p>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One uploaded photo</a:t>
            </a:r>
          </a:p>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Measured results and limitations</a:t>
            </a:r>
          </a:p>
        </p:txBody>
      </p:sp>
      <p:pic>
        <p:nvPicPr>
          <p:cNvPr id="5" name="">
            <a:extLst xmlns:a="http://schemas.openxmlformats.org/drawingml/2006/main">
              <a:ext uri="{FF2B5EF4-FFF2-40B4-BE49-F238E27FC236}">
                <a16:creationId xmlns:a16="http://schemas.microsoft.com/office/drawing/2014/main" id="{F0D26BB1-20AC-4B62-BF7C-3B6428F1DC4B}"/>
              </a:ext>
            </a:extLst>
          </p:cNvPr>
          <p:cNvPicPr>
            <a:picLocks xmlns:a="http://schemas.openxmlformats.org/drawingml/2006/main" noChangeAspect="1"/>
          </p:cNvPicPr>
          <p:nvPr/>
        </p:nvPicPr>
        <p:blipFill>
          <a:blip xmlns:r="http://schemas.openxmlformats.org/officeDocument/2006/relationships" xmlns:a="http://schemas.openxmlformats.org/drawingml/2006/main" r:embed="R3682caf689be4918"/>
          <a:stretch xmlns:a="http://schemas.openxmlformats.org/drawingml/2006/main"/>
        </p:blipFill>
        <p:spPr>
          <a:xfrm xmlns:a="http://schemas.openxmlformats.org/drawingml/2006/main">
            <a:off x="7381875" y="2143125"/>
            <a:ext cx="4000500" cy="3000375"/>
          </a:xfrm>
          <a:prstGeom xmlns:a="http://schemas.openxmlformats.org/drawingml/2006/main" prst="rect">
            <a:avLst/>
          </a:prstGeom>
        </p:spPr>
      </p:pic>
    </p:spTree>
    <p:extLst>
      <p:ext uri="{BB962C8B-B14F-4D97-AF65-F5344CB8AC3E}">
        <p14:creationId xmlns:p14="http://schemas.microsoft.com/office/powerpoint/2010/main" val="856722255"/>
      </p:ext>
    </p:extLst>
  </p:cSld>
</p:sld>
</file>

<file path=ppt/slides/slide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F4E8EAF-EA60-44F3-A554-96DC20F84827}"/>
              </a:ext>
            </a:extLst>
          </p:cNvPr>
          <p:cNvSpPr>
            <a:spLocks xmlns:a="http://schemas.openxmlformats.org/drawingml/2006/main" noGrp="1"/>
          </p:cNvSpPr>
          <p:nvPr/>
        </p:nvSpPr>
        <p:spPr>
          <a:xfrm xmlns:a="http://schemas.openxmlformats.org/drawingml/2006/main">
            <a:off x="619125" y="476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3C2D"/>
                </a:solidFill>
                <a:latin typeface="Arial"/>
                <a:ea typeface="Arial"/>
                <a:cs typeface="Arial"/>
              </a:defRPr>
            </a:defPPr>
            <a:lvl1pPr>
              <a:defRPr sz="3225" b="1">
                <a:solidFill>
                  <a:srgbClr val="183C2D"/>
                </a:solidFill>
                <a:latin typeface="Arial"/>
                <a:ea typeface="Arial"/>
                <a:cs typeface="Arial"/>
              </a:defRPr>
            </a:lvl1pPr>
            <a:lvl2pPr>
              <a:defRPr sz="3225" b="1">
                <a:solidFill>
                  <a:srgbClr val="183C2D"/>
                </a:solidFill>
                <a:latin typeface="Arial"/>
                <a:ea typeface="Arial"/>
                <a:cs typeface="Arial"/>
              </a:defRPr>
            </a:lvl2pPr>
            <a:lvl3pPr>
              <a:defRPr sz="3225" b="1">
                <a:solidFill>
                  <a:srgbClr val="183C2D"/>
                </a:solidFill>
                <a:latin typeface="Arial"/>
                <a:ea typeface="Arial"/>
                <a:cs typeface="Arial"/>
              </a:defRPr>
            </a:lvl3pPr>
            <a:lvl4pPr>
              <a:defRPr sz="3225" b="1">
                <a:solidFill>
                  <a:srgbClr val="183C2D"/>
                </a:solidFill>
                <a:latin typeface="Arial"/>
                <a:ea typeface="Arial"/>
                <a:cs typeface="Arial"/>
              </a:defRPr>
            </a:lvl4pPr>
            <a:lvl5pPr>
              <a:defRPr sz="3225" b="1">
                <a:solidFill>
                  <a:srgbClr val="183C2D"/>
                </a:solidFill>
                <a:latin typeface="Arial"/>
                <a:ea typeface="Arial"/>
                <a:cs typeface="Arial"/>
              </a:defRPr>
            </a:lvl5pPr>
            <a:lvl6pPr>
              <a:defRPr sz="3225" b="1">
                <a:solidFill>
                  <a:srgbClr val="183C2D"/>
                </a:solidFill>
                <a:latin typeface="Arial"/>
                <a:ea typeface="Arial"/>
                <a:cs typeface="Arial"/>
              </a:defRPr>
            </a:lvl6pPr>
            <a:lvl7pPr>
              <a:defRPr sz="3225" b="1">
                <a:solidFill>
                  <a:srgbClr val="183C2D"/>
                </a:solidFill>
                <a:latin typeface="Arial"/>
                <a:ea typeface="Arial"/>
                <a:cs typeface="Arial"/>
              </a:defRPr>
            </a:lvl7pPr>
            <a:lvl8pPr>
              <a:defRPr sz="3225" b="1">
                <a:solidFill>
                  <a:srgbClr val="183C2D"/>
                </a:solidFill>
                <a:latin typeface="Arial"/>
                <a:ea typeface="Arial"/>
                <a:cs typeface="Arial"/>
              </a:defRPr>
            </a:lvl8pPr>
            <a:lvl9pPr>
              <a:defRPr sz="3225" b="1">
                <a:solidFill>
                  <a:srgbClr val="183C2D"/>
                </a:solidFill>
                <a:latin typeface="Arial"/>
                <a:ea typeface="Arial"/>
                <a:cs typeface="Arial"/>
              </a:defRPr>
            </a:lvl9pPr>
          </a:lstStyle>
          <a:p xmlns:a="http://schemas.openxmlformats.org/drawingml/2006/main">
            <a:pPr>
              <a:defRPr sz="3225" b="1">
                <a:solidFill>
                  <a:srgbClr val="183C2D"/>
                </a:solidFill>
                <a:latin typeface="Arial"/>
                <a:ea typeface="Arial"/>
                <a:cs typeface="Arial"/>
              </a:defRPr>
            </a:pPr>
            <a:r>
              <a:rPr sz="3225" b="1">
                <a:solidFill>
                  <a:srgbClr val="183C2D"/>
                </a:solidFill>
                <a:latin typeface="Arial"/>
                <a:ea typeface="Arial"/>
                <a:cs typeface="Arial"/>
              </a:rPr>
              <a:t>Prepare the data before training</a:t>
            </a:r>
          </a:p>
        </p:txBody>
      </p:sp>
      <p:graphicFrame>
        <p:nvGraphicFramePr>
          <p:cNvPr id="2" name="">
            <a:extLst xmlns:a="http://schemas.openxmlformats.org/drawingml/2006/main">
              <a:ext uri="{FF2B5EF4-FFF2-40B4-BE49-F238E27FC236}">
                <a16:creationId xmlns:a16="http://schemas.microsoft.com/office/drawing/2014/main" id="{1AC5DE38-E193-4DF0-8B16-55732F9F3697}"/>
              </a:ext>
            </a:extLst>
          </p:cNvPr>
          <p:cNvGraphicFramePr/>
          <p:nvPr/>
        </p:nvGraphicFramePr>
        <p:xfrm>
          <a:off xmlns:a="http://schemas.openxmlformats.org/drawingml/2006/main" x="619125" y="2000250"/>
          <a:ext xmlns:a="http://schemas.openxmlformats.org/drawingml/2006/main" cx="10953750" cy="3238500"/>
        </p:xfrm>
        <a:graphic xmlns:a="http://schemas.openxmlformats.org/drawingml/2006/main">
          <a:graphicData uri="http://schemas.openxmlformats.org/drawingml/2006/table">
            <a:tbl>
              <a:tblPr/>
              <a:tblGrid>
                <a:gridCol w="3143250"/>
                <a:gridCol w="1905000"/>
                <a:gridCol w="5905500"/>
              </a:tblGrid>
              <a:tr h="809625">
                <a:tc>
                  <a:txBody>
                    <a:bodyPr/>
                    <a:lstStyle/>
                    <a:p>
                      <a:r>
                        <a:rPr sz="1875" b="1">
                          <a:solidFill>
                            <a:srgbClr val="FFFFFF"/>
                          </a:solidFill>
                          <a:latin typeface="Arial"/>
                          <a:ea typeface="Arial"/>
                          <a:cs typeface="Arial"/>
                        </a:rPr>
                        <a:t>Partition</a:t>
                      </a:r>
                    </a:p>
                  </a:txBody>
                  <a:tcPr marL="91440" marR="91440" marT="45720" marB="45720">
                    <a:lnL w="9525">
                      <a:solidFill>
                        <a:srgbClr val="CFD9CD"/>
                      </a:solidFill>
                      <a:prstDash val="solid"/>
                    </a:lnL>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c>
                  <a:txBody>
                    <a:bodyPr/>
                    <a:lstStyle/>
                    <a:p>
                      <a:r>
                        <a:rPr sz="1875" b="1">
                          <a:solidFill>
                            <a:srgbClr val="FFFFFF"/>
                          </a:solidFill>
                          <a:latin typeface="Arial"/>
                          <a:ea typeface="Arial"/>
                          <a:cs typeface="Arial"/>
                        </a:rPr>
                        <a:t>Images</a:t>
                      </a:r>
                    </a:p>
                  </a:txBody>
                  <a:tcPr marL="91440" marR="91440" marT="45720" marB="45720">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c>
                  <a:txBody>
                    <a:bodyPr/>
                    <a:lstStyle/>
                    <a:p>
                      <a:r>
                        <a:rPr sz="1875" b="1">
                          <a:solidFill>
                            <a:srgbClr val="FFFFFF"/>
                          </a:solidFill>
                          <a:latin typeface="Arial"/>
                          <a:ea typeface="Arial"/>
                          <a:cs typeface="Arial"/>
                        </a:rPr>
                        <a:t>Role</a:t>
                      </a:r>
                    </a:p>
                  </a:txBody>
                  <a:tcPr marL="91440" marR="91440" marT="45720" marB="45720">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r>
              <a:tr h="809625">
                <a:tc>
                  <a:txBody>
                    <a:bodyPr/>
                    <a:lstStyle/>
                    <a:p>
                      <a:r>
                        <a:rPr sz="1875" b="0">
                          <a:solidFill>
                            <a:srgbClr val="183C2D"/>
                          </a:solidFill>
                          <a:latin typeface="Arial"/>
                          <a:ea typeface="Arial"/>
                          <a:cs typeface="Arial"/>
                        </a:rPr>
                        <a:t>Training</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1,774</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Fit parameters</a:t>
                      </a:r>
                    </a:p>
                  </a:txBody>
                  <a:tcPr marL="91440" marR="91440" marT="45720" marB="45720">
                    <a:lnR w="9525">
                      <a:solidFill>
                        <a:srgbClr val="CFD9CD"/>
                      </a:solidFill>
                      <a:prstDash val="solid"/>
                    </a:lnR>
                    <a:lnB w="9525">
                      <a:solidFill>
                        <a:srgbClr val="CFD9CD"/>
                      </a:solidFill>
                      <a:prstDash val="solid"/>
                    </a:lnB>
                    <a:solidFill>
                      <a:srgbClr val="FFFFFF"/>
                    </a:solidFill>
                  </a:tcPr>
                </a:tc>
              </a:tr>
              <a:tr h="809625">
                <a:tc>
                  <a:txBody>
                    <a:bodyPr/>
                    <a:lstStyle/>
                    <a:p>
                      <a:r>
                        <a:rPr sz="1875" b="0">
                          <a:solidFill>
                            <a:srgbClr val="183C2D"/>
                          </a:solidFill>
                          <a:latin typeface="Arial"/>
                          <a:ea typeface="Arial"/>
                          <a:cs typeface="Arial"/>
                        </a:rPr>
                        <a:t>Validation</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371</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Choose settings and model</a:t>
                      </a:r>
                    </a:p>
                  </a:txBody>
                  <a:tcPr marL="91440" marR="91440" marT="45720" marB="45720">
                    <a:lnR w="9525">
                      <a:solidFill>
                        <a:srgbClr val="CFD9CD"/>
                      </a:solidFill>
                      <a:prstDash val="solid"/>
                    </a:lnR>
                    <a:lnB w="9525">
                      <a:solidFill>
                        <a:srgbClr val="CFD9CD"/>
                      </a:solidFill>
                      <a:prstDash val="solid"/>
                    </a:lnB>
                    <a:solidFill>
                      <a:srgbClr val="FFFFFF"/>
                    </a:solidFill>
                  </a:tcPr>
                </a:tc>
              </a:tr>
              <a:tr h="809625">
                <a:tc>
                  <a:txBody>
                    <a:bodyPr/>
                    <a:lstStyle/>
                    <a:p>
                      <a:r>
                        <a:rPr sz="1875" b="0">
                          <a:solidFill>
                            <a:srgbClr val="183C2D"/>
                          </a:solidFill>
                          <a:latin typeface="Arial"/>
                          <a:ea typeface="Arial"/>
                          <a:cs typeface="Arial"/>
                        </a:rPr>
                        <a:t>Test</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376</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Evaluate the frozen choice</a:t>
                      </a:r>
                    </a:p>
                  </a:txBody>
                  <a:tcPr marL="91440" marR="91440" marT="45720" marB="45720">
                    <a:lnR w="9525">
                      <a:solidFill>
                        <a:srgbClr val="CFD9CD"/>
                      </a:solidFill>
                      <a:prstDash val="solid"/>
                    </a:lnR>
                    <a:lnB w="9525">
                      <a:solidFill>
                        <a:srgbClr val="CFD9C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7CA7518-140D-4F7B-AAD1-F80CB2A40084}"/>
              </a:ext>
            </a:extLst>
          </p:cNvPr>
          <p:cNvSpPr>
            <a:spLocks xmlns:a="http://schemas.openxmlformats.org/drawingml/2006/main" noGrp="1"/>
          </p:cNvSpPr>
          <p:nvPr/>
        </p:nvSpPr>
        <p:spPr>
          <a:xfrm xmlns:a="http://schemas.openxmlformats.org/drawingml/2006/main">
            <a:off x="619125" y="5667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C2D"/>
                </a:solidFill>
                <a:latin typeface="Arial"/>
                <a:ea typeface="Arial"/>
                <a:cs typeface="Arial"/>
              </a:defRPr>
            </a:defPPr>
            <a:lvl1pPr>
              <a:defRPr sz="2100" b="0">
                <a:solidFill>
                  <a:srgbClr val="183C2D"/>
                </a:solidFill>
                <a:latin typeface="Arial"/>
                <a:ea typeface="Arial"/>
                <a:cs typeface="Arial"/>
              </a:defRPr>
            </a:lvl1pPr>
            <a:lvl2pPr>
              <a:defRPr sz="2100" b="0">
                <a:solidFill>
                  <a:srgbClr val="183C2D"/>
                </a:solidFill>
                <a:latin typeface="Arial"/>
                <a:ea typeface="Arial"/>
                <a:cs typeface="Arial"/>
              </a:defRPr>
            </a:lvl2pPr>
            <a:lvl3pPr>
              <a:defRPr sz="2100" b="0">
                <a:solidFill>
                  <a:srgbClr val="183C2D"/>
                </a:solidFill>
                <a:latin typeface="Arial"/>
                <a:ea typeface="Arial"/>
                <a:cs typeface="Arial"/>
              </a:defRPr>
            </a:lvl3pPr>
            <a:lvl4pPr>
              <a:defRPr sz="2100" b="0">
                <a:solidFill>
                  <a:srgbClr val="183C2D"/>
                </a:solidFill>
                <a:latin typeface="Arial"/>
                <a:ea typeface="Arial"/>
                <a:cs typeface="Arial"/>
              </a:defRPr>
            </a:lvl4pPr>
            <a:lvl5pPr>
              <a:defRPr sz="2100" b="0">
                <a:solidFill>
                  <a:srgbClr val="183C2D"/>
                </a:solidFill>
                <a:latin typeface="Arial"/>
                <a:ea typeface="Arial"/>
                <a:cs typeface="Arial"/>
              </a:defRPr>
            </a:lvl5pPr>
            <a:lvl6pPr>
              <a:defRPr sz="2100" b="0">
                <a:solidFill>
                  <a:srgbClr val="183C2D"/>
                </a:solidFill>
                <a:latin typeface="Arial"/>
                <a:ea typeface="Arial"/>
                <a:cs typeface="Arial"/>
              </a:defRPr>
            </a:lvl6pPr>
            <a:lvl7pPr>
              <a:defRPr sz="2100" b="0">
                <a:solidFill>
                  <a:srgbClr val="183C2D"/>
                </a:solidFill>
                <a:latin typeface="Arial"/>
                <a:ea typeface="Arial"/>
                <a:cs typeface="Arial"/>
              </a:defRPr>
            </a:lvl7pPr>
            <a:lvl8pPr>
              <a:defRPr sz="2100" b="0">
                <a:solidFill>
                  <a:srgbClr val="183C2D"/>
                </a:solidFill>
                <a:latin typeface="Arial"/>
                <a:ea typeface="Arial"/>
                <a:cs typeface="Arial"/>
              </a:defRPr>
            </a:lvl8pPr>
            <a:lvl9pPr>
              <a:defRPr sz="2100" b="0">
                <a:solidFill>
                  <a:srgbClr val="183C2D"/>
                </a:solidFill>
                <a:latin typeface="Arial"/>
                <a:ea typeface="Arial"/>
                <a:cs typeface="Arial"/>
              </a:defRPr>
            </a:lvl9pPr>
          </a:lstStyle>
          <a:p xmlns:a="http://schemas.openxmlformats.org/drawingml/2006/main">
            <a:pPr>
              <a:defRPr sz="2100" b="0">
                <a:solidFill>
                  <a:srgbClr val="183C2D"/>
                </a:solidFill>
                <a:latin typeface="Arial"/>
                <a:ea typeface="Arial"/>
                <a:cs typeface="Arial"/>
              </a:defRPr>
            </a:pPr>
            <a:r>
              <a:rPr sz="2100" b="0">
                <a:solidFill>
                  <a:srgbClr val="183C2D"/>
                </a:solidFill>
                <a:latin typeface="Arial"/>
                <a:ea typeface="Arial"/>
                <a:cs typeface="Arial"/>
              </a:rPr>
              <a:t>Six excluded files · 45 reviewed candidate pairs · seed 42</a:t>
            </a:r>
          </a:p>
        </p:txBody>
      </p:sp>
    </p:spTree>
    <p:extLst>
      <p:ext uri="{BB962C8B-B14F-4D97-AF65-F5344CB8AC3E}">
        <p14:creationId xmlns:p14="http://schemas.microsoft.com/office/powerpoint/2010/main" val="961024914"/>
      </p:ext>
    </p:extLst>
  </p:cSld>
</p:sld>
</file>

<file path=ppt/slides/slide3.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4979D1C-536E-439B-BACD-D0BA19E58FD5}"/>
              </a:ext>
            </a:extLst>
          </p:cNvPr>
          <p:cNvSpPr>
            <a:spLocks xmlns:a="http://schemas.openxmlformats.org/drawingml/2006/main" noGrp="1"/>
          </p:cNvSpPr>
          <p:nvPr/>
        </p:nvSpPr>
        <p:spPr>
          <a:xfrm xmlns:a="http://schemas.openxmlformats.org/drawingml/2006/main">
            <a:off x="619125" y="476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3C2D"/>
                </a:solidFill>
                <a:latin typeface="Arial"/>
                <a:ea typeface="Arial"/>
                <a:cs typeface="Arial"/>
              </a:defRPr>
            </a:defPPr>
            <a:lvl1pPr>
              <a:defRPr sz="3225" b="1">
                <a:solidFill>
                  <a:srgbClr val="183C2D"/>
                </a:solidFill>
                <a:latin typeface="Arial"/>
                <a:ea typeface="Arial"/>
                <a:cs typeface="Arial"/>
              </a:defRPr>
            </a:lvl1pPr>
            <a:lvl2pPr>
              <a:defRPr sz="3225" b="1">
                <a:solidFill>
                  <a:srgbClr val="183C2D"/>
                </a:solidFill>
                <a:latin typeface="Arial"/>
                <a:ea typeface="Arial"/>
                <a:cs typeface="Arial"/>
              </a:defRPr>
            </a:lvl2pPr>
            <a:lvl3pPr>
              <a:defRPr sz="3225" b="1">
                <a:solidFill>
                  <a:srgbClr val="183C2D"/>
                </a:solidFill>
                <a:latin typeface="Arial"/>
                <a:ea typeface="Arial"/>
                <a:cs typeface="Arial"/>
              </a:defRPr>
            </a:lvl3pPr>
            <a:lvl4pPr>
              <a:defRPr sz="3225" b="1">
                <a:solidFill>
                  <a:srgbClr val="183C2D"/>
                </a:solidFill>
                <a:latin typeface="Arial"/>
                <a:ea typeface="Arial"/>
                <a:cs typeface="Arial"/>
              </a:defRPr>
            </a:lvl4pPr>
            <a:lvl5pPr>
              <a:defRPr sz="3225" b="1">
                <a:solidFill>
                  <a:srgbClr val="183C2D"/>
                </a:solidFill>
                <a:latin typeface="Arial"/>
                <a:ea typeface="Arial"/>
                <a:cs typeface="Arial"/>
              </a:defRPr>
            </a:lvl5pPr>
            <a:lvl6pPr>
              <a:defRPr sz="3225" b="1">
                <a:solidFill>
                  <a:srgbClr val="183C2D"/>
                </a:solidFill>
                <a:latin typeface="Arial"/>
                <a:ea typeface="Arial"/>
                <a:cs typeface="Arial"/>
              </a:defRPr>
            </a:lvl6pPr>
            <a:lvl7pPr>
              <a:defRPr sz="3225" b="1">
                <a:solidFill>
                  <a:srgbClr val="183C2D"/>
                </a:solidFill>
                <a:latin typeface="Arial"/>
                <a:ea typeface="Arial"/>
                <a:cs typeface="Arial"/>
              </a:defRPr>
            </a:lvl7pPr>
            <a:lvl8pPr>
              <a:defRPr sz="3225" b="1">
                <a:solidFill>
                  <a:srgbClr val="183C2D"/>
                </a:solidFill>
                <a:latin typeface="Arial"/>
                <a:ea typeface="Arial"/>
                <a:cs typeface="Arial"/>
              </a:defRPr>
            </a:lvl8pPr>
            <a:lvl9pPr>
              <a:defRPr sz="3225" b="1">
                <a:solidFill>
                  <a:srgbClr val="183C2D"/>
                </a:solidFill>
                <a:latin typeface="Arial"/>
                <a:ea typeface="Arial"/>
                <a:cs typeface="Arial"/>
              </a:defRPr>
            </a:lvl9pPr>
          </a:lstStyle>
          <a:p xmlns:a="http://schemas.openxmlformats.org/drawingml/2006/main">
            <a:pPr>
              <a:defRPr sz="3225" b="1">
                <a:solidFill>
                  <a:srgbClr val="183C2D"/>
                </a:solidFill>
                <a:latin typeface="Arial"/>
                <a:ea typeface="Arial"/>
                <a:cs typeface="Arial"/>
              </a:defRPr>
            </a:pPr>
            <a:r>
              <a:rPr sz="3225" b="1">
                <a:solidFill>
                  <a:srgbClr val="183C2D"/>
                </a:solidFill>
                <a:latin typeface="Arial"/>
                <a:ea typeface="Arial"/>
                <a:cs typeface="Arial"/>
              </a:rPr>
              <a:t>Compare four primary approaches</a:t>
            </a:r>
          </a:p>
        </p:txBody>
      </p:sp>
      <p:graphicFrame>
        <p:nvGraphicFramePr>
          <p:cNvPr id="2" name="">
            <a:extLst xmlns:a="http://schemas.openxmlformats.org/drawingml/2006/main">
              <a:ext uri="{FF2B5EF4-FFF2-40B4-BE49-F238E27FC236}">
                <a16:creationId xmlns:a16="http://schemas.microsoft.com/office/drawing/2014/main" id="{FD4E066C-C40D-4064-98A9-4033230BD8BD}"/>
              </a:ext>
            </a:extLst>
          </p:cNvPr>
          <p:cNvGraphicFramePr/>
          <p:nvPr/>
        </p:nvGraphicFramePr>
        <p:xfrm>
          <a:off xmlns:a="http://schemas.openxmlformats.org/drawingml/2006/main" x="619125" y="2000250"/>
          <a:ext xmlns:a="http://schemas.openxmlformats.org/drawingml/2006/main" cx="10953750" cy="3238500"/>
        </p:xfrm>
        <a:graphic xmlns:a="http://schemas.openxmlformats.org/drawingml/2006/main">
          <a:graphicData uri="http://schemas.openxmlformats.org/drawingml/2006/table">
            <a:tbl>
              <a:tblPr/>
              <a:tblGrid>
                <a:gridCol w="4667250"/>
                <a:gridCol w="6286500"/>
              </a:tblGrid>
              <a:tr h="809625">
                <a:tc>
                  <a:txBody>
                    <a:bodyPr/>
                    <a:lstStyle/>
                    <a:p>
                      <a:r>
                        <a:rPr sz="1875" b="1">
                          <a:solidFill>
                            <a:srgbClr val="FFFFFF"/>
                          </a:solidFill>
                          <a:latin typeface="Arial"/>
                          <a:ea typeface="Arial"/>
                          <a:cs typeface="Arial"/>
                        </a:rPr>
                        <a:t>Approach</a:t>
                      </a:r>
                    </a:p>
                  </a:txBody>
                  <a:tcPr marL="91440" marR="91440" marT="45720" marB="45720">
                    <a:lnL w="9525">
                      <a:solidFill>
                        <a:srgbClr val="CFD9CD"/>
                      </a:solidFill>
                      <a:prstDash val="solid"/>
                    </a:lnL>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c>
                  <a:txBody>
                    <a:bodyPr/>
                    <a:lstStyle/>
                    <a:p>
                      <a:r>
                        <a:rPr sz="1875" b="1">
                          <a:solidFill>
                            <a:srgbClr val="FFFFFF"/>
                          </a:solidFill>
                          <a:latin typeface="Arial"/>
                          <a:ea typeface="Arial"/>
                          <a:cs typeface="Arial"/>
                        </a:rPr>
                        <a:t>Representation</a:t>
                      </a:r>
                    </a:p>
                  </a:txBody>
                  <a:tcPr marL="91440" marR="91440" marT="45720" marB="45720">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r>
              <a:tr h="809625">
                <a:tc>
                  <a:txBody>
                    <a:bodyPr/>
                    <a:lstStyle/>
                    <a:p>
                      <a:r>
                        <a:rPr sz="1875" b="0">
                          <a:solidFill>
                            <a:srgbClr val="183C2D"/>
                          </a:solidFill>
                          <a:latin typeface="Arial"/>
                          <a:ea typeface="Arial"/>
                          <a:cs typeface="Arial"/>
                        </a:rPr>
                        <a:t>SVM and Random Forest</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1,764 HOG features</a:t>
                      </a:r>
                    </a:p>
                  </a:txBody>
                  <a:tcPr marL="91440" marR="91440" marT="45720" marB="45720">
                    <a:lnR w="9525">
                      <a:solidFill>
                        <a:srgbClr val="CFD9CD"/>
                      </a:solidFill>
                      <a:prstDash val="solid"/>
                    </a:lnR>
                    <a:lnB w="9525">
                      <a:solidFill>
                        <a:srgbClr val="CFD9CD"/>
                      </a:solidFill>
                      <a:prstDash val="solid"/>
                    </a:lnB>
                    <a:solidFill>
                      <a:srgbClr val="FFFFFF"/>
                    </a:solidFill>
                  </a:tcPr>
                </a:tc>
              </a:tr>
              <a:tr h="809625">
                <a:tc>
                  <a:txBody>
                    <a:bodyPr/>
                    <a:lstStyle/>
                    <a:p>
                      <a:r>
                        <a:rPr sz="1875" b="0">
                          <a:solidFill>
                            <a:srgbClr val="183C2D"/>
                          </a:solidFill>
                          <a:latin typeface="Arial"/>
                          <a:ea typeface="Arial"/>
                          <a:cs typeface="Arial"/>
                        </a:rPr>
                        <a:t>Small CNN</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160 × 160 RGB images</a:t>
                      </a:r>
                    </a:p>
                  </a:txBody>
                  <a:tcPr marL="91440" marR="91440" marT="45720" marB="45720">
                    <a:lnR w="9525">
                      <a:solidFill>
                        <a:srgbClr val="CFD9CD"/>
                      </a:solidFill>
                      <a:prstDash val="solid"/>
                    </a:lnR>
                    <a:lnB w="9525">
                      <a:solidFill>
                        <a:srgbClr val="CFD9CD"/>
                      </a:solidFill>
                      <a:prstDash val="solid"/>
                    </a:lnB>
                    <a:solidFill>
                      <a:srgbClr val="FFFFFF"/>
                    </a:solidFill>
                  </a:tcPr>
                </a:tc>
              </a:tr>
              <a:tr h="809625">
                <a:tc>
                  <a:txBody>
                    <a:bodyPr/>
                    <a:lstStyle/>
                    <a:p>
                      <a:r>
                        <a:rPr sz="1875" b="0">
                          <a:solidFill>
                            <a:srgbClr val="183C2D"/>
                          </a:solidFill>
                          <a:latin typeface="Arial"/>
                          <a:ea typeface="Arial"/>
                          <a:cs typeface="Arial"/>
                        </a:rPr>
                        <a:t>MobileNetV2</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Pretrained image features</a:t>
                      </a:r>
                    </a:p>
                  </a:txBody>
                  <a:tcPr marL="91440" marR="91440" marT="45720" marB="45720">
                    <a:lnR w="9525">
                      <a:solidFill>
                        <a:srgbClr val="CFD9CD"/>
                      </a:solidFill>
                      <a:prstDash val="solid"/>
                    </a:lnR>
                    <a:lnB w="9525">
                      <a:solidFill>
                        <a:srgbClr val="CFD9C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BD820A5-0227-4475-86DE-9F7CF6E43DD5}"/>
              </a:ext>
            </a:extLst>
          </p:cNvPr>
          <p:cNvSpPr>
            <a:spLocks xmlns:a="http://schemas.openxmlformats.org/drawingml/2006/main" noGrp="1"/>
          </p:cNvSpPr>
          <p:nvPr/>
        </p:nvSpPr>
        <p:spPr>
          <a:xfrm xmlns:a="http://schemas.openxmlformats.org/drawingml/2006/main">
            <a:off x="619125" y="5667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3C2D"/>
                </a:solidFill>
                <a:latin typeface="Arial"/>
                <a:ea typeface="Arial"/>
                <a:cs typeface="Arial"/>
              </a:defRPr>
            </a:defPPr>
            <a:lvl1pPr>
              <a:defRPr sz="2100" b="0">
                <a:solidFill>
                  <a:srgbClr val="183C2D"/>
                </a:solidFill>
                <a:latin typeface="Arial"/>
                <a:ea typeface="Arial"/>
                <a:cs typeface="Arial"/>
              </a:defRPr>
            </a:lvl1pPr>
            <a:lvl2pPr>
              <a:defRPr sz="2100" b="0">
                <a:solidFill>
                  <a:srgbClr val="183C2D"/>
                </a:solidFill>
                <a:latin typeface="Arial"/>
                <a:ea typeface="Arial"/>
                <a:cs typeface="Arial"/>
              </a:defRPr>
            </a:lvl2pPr>
            <a:lvl3pPr>
              <a:defRPr sz="2100" b="0">
                <a:solidFill>
                  <a:srgbClr val="183C2D"/>
                </a:solidFill>
                <a:latin typeface="Arial"/>
                <a:ea typeface="Arial"/>
                <a:cs typeface="Arial"/>
              </a:defRPr>
            </a:lvl3pPr>
            <a:lvl4pPr>
              <a:defRPr sz="2100" b="0">
                <a:solidFill>
                  <a:srgbClr val="183C2D"/>
                </a:solidFill>
                <a:latin typeface="Arial"/>
                <a:ea typeface="Arial"/>
                <a:cs typeface="Arial"/>
              </a:defRPr>
            </a:lvl4pPr>
            <a:lvl5pPr>
              <a:defRPr sz="2100" b="0">
                <a:solidFill>
                  <a:srgbClr val="183C2D"/>
                </a:solidFill>
                <a:latin typeface="Arial"/>
                <a:ea typeface="Arial"/>
                <a:cs typeface="Arial"/>
              </a:defRPr>
            </a:lvl5pPr>
            <a:lvl6pPr>
              <a:defRPr sz="2100" b="0">
                <a:solidFill>
                  <a:srgbClr val="183C2D"/>
                </a:solidFill>
                <a:latin typeface="Arial"/>
                <a:ea typeface="Arial"/>
                <a:cs typeface="Arial"/>
              </a:defRPr>
            </a:lvl6pPr>
            <a:lvl7pPr>
              <a:defRPr sz="2100" b="0">
                <a:solidFill>
                  <a:srgbClr val="183C2D"/>
                </a:solidFill>
                <a:latin typeface="Arial"/>
                <a:ea typeface="Arial"/>
                <a:cs typeface="Arial"/>
              </a:defRPr>
            </a:lvl7pPr>
            <a:lvl8pPr>
              <a:defRPr sz="2100" b="0">
                <a:solidFill>
                  <a:srgbClr val="183C2D"/>
                </a:solidFill>
                <a:latin typeface="Arial"/>
                <a:ea typeface="Arial"/>
                <a:cs typeface="Arial"/>
              </a:defRPr>
            </a:lvl8pPr>
            <a:lvl9pPr>
              <a:defRPr sz="2100" b="0">
                <a:solidFill>
                  <a:srgbClr val="183C2D"/>
                </a:solidFill>
                <a:latin typeface="Arial"/>
                <a:ea typeface="Arial"/>
                <a:cs typeface="Arial"/>
              </a:defRPr>
            </a:lvl9pPr>
          </a:lstStyle>
          <a:p xmlns:a="http://schemas.openxmlformats.org/drawingml/2006/main">
            <a:pPr>
              <a:defRPr sz="2100" b="0">
                <a:solidFill>
                  <a:srgbClr val="183C2D"/>
                </a:solidFill>
                <a:latin typeface="Arial"/>
                <a:ea typeface="Arial"/>
                <a:cs typeface="Arial"/>
              </a:defRPr>
            </a:pPr>
            <a:r>
              <a:rPr sz="2100" b="0">
                <a:solidFill>
                  <a:srgbClr val="183C2D"/>
                </a:solidFill>
                <a:latin typeface="Arial"/>
                <a:ea typeface="Arial"/>
                <a:cs typeface="Arial"/>
              </a:rPr>
              <a:t>Exercises: KNN, Decision Tree and separate Linear Regression</a:t>
            </a:r>
          </a:p>
        </p:txBody>
      </p:sp>
    </p:spTree>
    <p:extLst>
      <p:ext uri="{BB962C8B-B14F-4D97-AF65-F5344CB8AC3E}">
        <p14:creationId xmlns:p14="http://schemas.microsoft.com/office/powerpoint/2010/main" val="797106763"/>
      </p:ext>
    </p:extLst>
  </p:cSld>
</p:sld>
</file>

<file path=ppt/slides/slide4.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B2EF9B6-D382-4139-8218-A34AB318B4C2}"/>
              </a:ext>
            </a:extLst>
          </p:cNvPr>
          <p:cNvSpPr>
            <a:spLocks xmlns:a="http://schemas.openxmlformats.org/drawingml/2006/main" noGrp="1"/>
          </p:cNvSpPr>
          <p:nvPr/>
        </p:nvSpPr>
        <p:spPr>
          <a:xfrm xmlns:a="http://schemas.openxmlformats.org/drawingml/2006/main">
            <a:off x="619125" y="476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3C2D"/>
                </a:solidFill>
                <a:latin typeface="Arial"/>
                <a:ea typeface="Arial"/>
                <a:cs typeface="Arial"/>
              </a:defRPr>
            </a:defPPr>
            <a:lvl1pPr>
              <a:defRPr sz="3225" b="1">
                <a:solidFill>
                  <a:srgbClr val="183C2D"/>
                </a:solidFill>
                <a:latin typeface="Arial"/>
                <a:ea typeface="Arial"/>
                <a:cs typeface="Arial"/>
              </a:defRPr>
            </a:lvl1pPr>
            <a:lvl2pPr>
              <a:defRPr sz="3225" b="1">
                <a:solidFill>
                  <a:srgbClr val="183C2D"/>
                </a:solidFill>
                <a:latin typeface="Arial"/>
                <a:ea typeface="Arial"/>
                <a:cs typeface="Arial"/>
              </a:defRPr>
            </a:lvl2pPr>
            <a:lvl3pPr>
              <a:defRPr sz="3225" b="1">
                <a:solidFill>
                  <a:srgbClr val="183C2D"/>
                </a:solidFill>
                <a:latin typeface="Arial"/>
                <a:ea typeface="Arial"/>
                <a:cs typeface="Arial"/>
              </a:defRPr>
            </a:lvl3pPr>
            <a:lvl4pPr>
              <a:defRPr sz="3225" b="1">
                <a:solidFill>
                  <a:srgbClr val="183C2D"/>
                </a:solidFill>
                <a:latin typeface="Arial"/>
                <a:ea typeface="Arial"/>
                <a:cs typeface="Arial"/>
              </a:defRPr>
            </a:lvl4pPr>
            <a:lvl5pPr>
              <a:defRPr sz="3225" b="1">
                <a:solidFill>
                  <a:srgbClr val="183C2D"/>
                </a:solidFill>
                <a:latin typeface="Arial"/>
                <a:ea typeface="Arial"/>
                <a:cs typeface="Arial"/>
              </a:defRPr>
            </a:lvl5pPr>
            <a:lvl6pPr>
              <a:defRPr sz="3225" b="1">
                <a:solidFill>
                  <a:srgbClr val="183C2D"/>
                </a:solidFill>
                <a:latin typeface="Arial"/>
                <a:ea typeface="Arial"/>
                <a:cs typeface="Arial"/>
              </a:defRPr>
            </a:lvl6pPr>
            <a:lvl7pPr>
              <a:defRPr sz="3225" b="1">
                <a:solidFill>
                  <a:srgbClr val="183C2D"/>
                </a:solidFill>
                <a:latin typeface="Arial"/>
                <a:ea typeface="Arial"/>
                <a:cs typeface="Arial"/>
              </a:defRPr>
            </a:lvl7pPr>
            <a:lvl8pPr>
              <a:defRPr sz="3225" b="1">
                <a:solidFill>
                  <a:srgbClr val="183C2D"/>
                </a:solidFill>
                <a:latin typeface="Arial"/>
                <a:ea typeface="Arial"/>
                <a:cs typeface="Arial"/>
              </a:defRPr>
            </a:lvl8pPr>
            <a:lvl9pPr>
              <a:defRPr sz="3225" b="1">
                <a:solidFill>
                  <a:srgbClr val="183C2D"/>
                </a:solidFill>
                <a:latin typeface="Arial"/>
                <a:ea typeface="Arial"/>
                <a:cs typeface="Arial"/>
              </a:defRPr>
            </a:lvl9pPr>
          </a:lstStyle>
          <a:p xmlns:a="http://schemas.openxmlformats.org/drawingml/2006/main">
            <a:pPr>
              <a:defRPr sz="3225" b="1">
                <a:solidFill>
                  <a:srgbClr val="183C2D"/>
                </a:solidFill>
                <a:latin typeface="Arial"/>
                <a:ea typeface="Arial"/>
                <a:cs typeface="Arial"/>
              </a:defRPr>
            </a:pPr>
            <a:r>
              <a:rPr sz="3225" b="1">
                <a:solidFill>
                  <a:srgbClr val="183C2D"/>
                </a:solidFill>
                <a:latin typeface="Arial"/>
                <a:ea typeface="Arial"/>
                <a:cs typeface="Arial"/>
              </a:rPr>
              <a:t>MobileNetV2 led the published comparison</a:t>
            </a:r>
          </a:p>
        </p:txBody>
      </p:sp>
      <p:graphicFrame>
        <p:nvGraphicFramePr>
          <p:cNvPr id="2" name="">
            <a:extLst xmlns:a="http://schemas.openxmlformats.org/drawingml/2006/main">
              <a:ext uri="{FF2B5EF4-FFF2-40B4-BE49-F238E27FC236}">
                <a16:creationId xmlns:a16="http://schemas.microsoft.com/office/drawing/2014/main" id="{6490FEE8-3A32-4AC2-ACEE-9685E89D42F9}"/>
              </a:ext>
            </a:extLst>
          </p:cNvPr>
          <p:cNvGraphicFramePr/>
          <p:nvPr/>
        </p:nvGraphicFramePr>
        <p:xfrm>
          <a:off xmlns:a="http://schemas.openxmlformats.org/drawingml/2006/main" x="619125" y="2000250"/>
          <a:ext xmlns:a="http://schemas.openxmlformats.org/drawingml/2006/main" cx="10953750" cy="3238500"/>
        </p:xfrm>
        <a:graphic xmlns:a="http://schemas.openxmlformats.org/drawingml/2006/main">
          <a:graphicData uri="http://schemas.openxmlformats.org/drawingml/2006/table">
            <a:tbl>
              <a:tblPr/>
              <a:tblGrid>
                <a:gridCol w="4381500"/>
                <a:gridCol w="2190750"/>
                <a:gridCol w="2190750"/>
                <a:gridCol w="2190750"/>
              </a:tblGrid>
              <a:tr h="647700">
                <a:tc>
                  <a:txBody>
                    <a:bodyPr/>
                    <a:lstStyle/>
                    <a:p>
                      <a:r>
                        <a:rPr sz="1875" b="1">
                          <a:solidFill>
                            <a:srgbClr val="FFFFFF"/>
                          </a:solidFill>
                          <a:latin typeface="Arial"/>
                          <a:ea typeface="Arial"/>
                          <a:cs typeface="Arial"/>
                        </a:rPr>
                        <a:t>Model</a:t>
                      </a:r>
                    </a:p>
                  </a:txBody>
                  <a:tcPr marL="91440" marR="91440" marT="45720" marB="45720">
                    <a:lnL w="9525">
                      <a:solidFill>
                        <a:srgbClr val="CFD9CD"/>
                      </a:solidFill>
                      <a:prstDash val="solid"/>
                    </a:lnL>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c>
                  <a:txBody>
                    <a:bodyPr/>
                    <a:lstStyle/>
                    <a:p>
                      <a:r>
                        <a:rPr sz="1875" b="1">
                          <a:solidFill>
                            <a:srgbClr val="FFFFFF"/>
                          </a:solidFill>
                          <a:latin typeface="Arial"/>
                          <a:ea typeface="Arial"/>
                          <a:cs typeface="Arial"/>
                        </a:rPr>
                        <a:t>Validation F1</a:t>
                      </a:r>
                    </a:p>
                  </a:txBody>
                  <a:tcPr marL="91440" marR="91440" marT="45720" marB="45720">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c>
                  <a:txBody>
                    <a:bodyPr/>
                    <a:lstStyle/>
                    <a:p>
                      <a:r>
                        <a:rPr sz="1875" b="1">
                          <a:solidFill>
                            <a:srgbClr val="FFFFFF"/>
                          </a:solidFill>
                          <a:latin typeface="Arial"/>
                          <a:ea typeface="Arial"/>
                          <a:cs typeface="Arial"/>
                        </a:rPr>
                        <a:t>Test accuracy</a:t>
                      </a:r>
                    </a:p>
                  </a:txBody>
                  <a:tcPr marL="91440" marR="91440" marT="45720" marB="45720">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c>
                  <a:txBody>
                    <a:bodyPr/>
                    <a:lstStyle/>
                    <a:p>
                      <a:r>
                        <a:rPr sz="1875" b="1">
                          <a:solidFill>
                            <a:srgbClr val="FFFFFF"/>
                          </a:solidFill>
                          <a:latin typeface="Arial"/>
                          <a:ea typeface="Arial"/>
                          <a:cs typeface="Arial"/>
                        </a:rPr>
                        <a:t>Test F1</a:t>
                      </a:r>
                    </a:p>
                  </a:txBody>
                  <a:tcPr marL="91440" marR="91440" marT="45720" marB="45720">
                    <a:lnR w="9525">
                      <a:solidFill>
                        <a:srgbClr val="CFD9CD"/>
                      </a:solidFill>
                      <a:prstDash val="solid"/>
                    </a:lnR>
                    <a:lnT w="9525">
                      <a:solidFill>
                        <a:srgbClr val="CFD9CD"/>
                      </a:solidFill>
                      <a:prstDash val="solid"/>
                    </a:lnT>
                    <a:lnB w="9525">
                      <a:solidFill>
                        <a:srgbClr val="CFD9CD"/>
                      </a:solidFill>
                      <a:prstDash val="solid"/>
                    </a:lnB>
                    <a:solidFill>
                      <a:srgbClr val="183C2D"/>
                    </a:solidFill>
                  </a:tcPr>
                </a:tc>
              </a:tr>
              <a:tr h="647700">
                <a:tc>
                  <a:txBody>
                    <a:bodyPr/>
                    <a:lstStyle/>
                    <a:p>
                      <a:r>
                        <a:rPr sz="1875" b="0">
                          <a:solidFill>
                            <a:srgbClr val="183C2D"/>
                          </a:solidFill>
                          <a:latin typeface="Arial"/>
                          <a:ea typeface="Arial"/>
                          <a:cs typeface="Arial"/>
                        </a:rPr>
                        <a:t>HOG + SVM</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60.62%</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65.96%</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63.52%</a:t>
                      </a:r>
                    </a:p>
                  </a:txBody>
                  <a:tcPr marL="91440" marR="91440" marT="45720" marB="45720">
                    <a:lnR w="9525">
                      <a:solidFill>
                        <a:srgbClr val="CFD9CD"/>
                      </a:solidFill>
                      <a:prstDash val="solid"/>
                    </a:lnR>
                    <a:lnB w="9525">
                      <a:solidFill>
                        <a:srgbClr val="CFD9CD"/>
                      </a:solidFill>
                      <a:prstDash val="solid"/>
                    </a:lnB>
                    <a:solidFill>
                      <a:srgbClr val="FFFFFF"/>
                    </a:solidFill>
                  </a:tcPr>
                </a:tc>
              </a:tr>
              <a:tr h="647700">
                <a:tc>
                  <a:txBody>
                    <a:bodyPr/>
                    <a:lstStyle/>
                    <a:p>
                      <a:r>
                        <a:rPr sz="1875" b="0">
                          <a:solidFill>
                            <a:srgbClr val="183C2D"/>
                          </a:solidFill>
                          <a:latin typeface="Arial"/>
                          <a:ea typeface="Arial"/>
                          <a:cs typeface="Arial"/>
                        </a:rPr>
                        <a:t>HOG + Random Forest</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55.94%</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63.56%</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60.22%</a:t>
                      </a:r>
                    </a:p>
                  </a:txBody>
                  <a:tcPr marL="91440" marR="91440" marT="45720" marB="45720">
                    <a:lnR w="9525">
                      <a:solidFill>
                        <a:srgbClr val="CFD9CD"/>
                      </a:solidFill>
                      <a:prstDash val="solid"/>
                    </a:lnR>
                    <a:lnB w="9525">
                      <a:solidFill>
                        <a:srgbClr val="CFD9CD"/>
                      </a:solidFill>
                      <a:prstDash val="solid"/>
                    </a:lnB>
                    <a:solidFill>
                      <a:srgbClr val="FFFFFF"/>
                    </a:solidFill>
                  </a:tcPr>
                </a:tc>
              </a:tr>
              <a:tr h="647700">
                <a:tc>
                  <a:txBody>
                    <a:bodyPr/>
                    <a:lstStyle/>
                    <a:p>
                      <a:r>
                        <a:rPr sz="1875" b="0">
                          <a:solidFill>
                            <a:srgbClr val="183C2D"/>
                          </a:solidFill>
                          <a:latin typeface="Arial"/>
                          <a:ea typeface="Arial"/>
                          <a:cs typeface="Arial"/>
                        </a:rPr>
                        <a:t>Small CNN</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62.07%</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59.57%</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57.68%</a:t>
                      </a:r>
                    </a:p>
                  </a:txBody>
                  <a:tcPr marL="91440" marR="91440" marT="45720" marB="45720">
                    <a:lnR w="9525">
                      <a:solidFill>
                        <a:srgbClr val="CFD9CD"/>
                      </a:solidFill>
                      <a:prstDash val="solid"/>
                    </a:lnR>
                    <a:lnB w="9525">
                      <a:solidFill>
                        <a:srgbClr val="CFD9CD"/>
                      </a:solidFill>
                      <a:prstDash val="solid"/>
                    </a:lnB>
                    <a:solidFill>
                      <a:srgbClr val="FFFFFF"/>
                    </a:solidFill>
                  </a:tcPr>
                </a:tc>
              </a:tr>
              <a:tr h="647700">
                <a:tc>
                  <a:txBody>
                    <a:bodyPr/>
                    <a:lstStyle/>
                    <a:p>
                      <a:r>
                        <a:rPr sz="1875" b="0">
                          <a:solidFill>
                            <a:srgbClr val="183C2D"/>
                          </a:solidFill>
                          <a:latin typeface="Arial"/>
                          <a:ea typeface="Arial"/>
                          <a:cs typeface="Arial"/>
                        </a:rPr>
                        <a:t>MobileNetV2</a:t>
                      </a:r>
                    </a:p>
                  </a:txBody>
                  <a:tcPr marL="91440" marR="91440" marT="45720" marB="45720">
                    <a:lnL w="9525">
                      <a:solidFill>
                        <a:srgbClr val="CFD9CD"/>
                      </a:solidFill>
                      <a:prstDash val="solid"/>
                    </a:lnL>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84.74%</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84.57%</a:t>
                      </a:r>
                    </a:p>
                  </a:txBody>
                  <a:tcPr marL="91440" marR="91440" marT="45720" marB="45720">
                    <a:lnR w="9525">
                      <a:solidFill>
                        <a:srgbClr val="CFD9CD"/>
                      </a:solidFill>
                      <a:prstDash val="solid"/>
                    </a:lnR>
                    <a:lnB w="9525">
                      <a:solidFill>
                        <a:srgbClr val="CFD9CD"/>
                      </a:solidFill>
                      <a:prstDash val="solid"/>
                    </a:lnB>
                    <a:solidFill>
                      <a:srgbClr val="FFFFFF"/>
                    </a:solidFill>
                  </a:tcPr>
                </a:tc>
                <a:tc>
                  <a:txBody>
                    <a:bodyPr/>
                    <a:lstStyle/>
                    <a:p>
                      <a:r>
                        <a:rPr sz="1875" b="0">
                          <a:solidFill>
                            <a:srgbClr val="183C2D"/>
                          </a:solidFill>
                          <a:latin typeface="Arial"/>
                          <a:ea typeface="Arial"/>
                          <a:cs typeface="Arial"/>
                        </a:rPr>
                        <a:t>81.22%</a:t>
                      </a:r>
                    </a:p>
                  </a:txBody>
                  <a:tcPr marL="91440" marR="91440" marT="45720" marB="45720">
                    <a:lnR w="9525">
                      <a:solidFill>
                        <a:srgbClr val="CFD9CD"/>
                      </a:solidFill>
                      <a:prstDash val="solid"/>
                    </a:lnR>
                    <a:lnB w="9525">
                      <a:solidFill>
                        <a:srgbClr val="CFD9CD"/>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A58EA7A-B8E4-40B1-A2DA-13DC24DD50D4}"/>
              </a:ext>
            </a:extLst>
          </p:cNvPr>
          <p:cNvSpPr>
            <a:spLocks xmlns:a="http://schemas.openxmlformats.org/drawingml/2006/main" noGrp="1"/>
          </p:cNvSpPr>
          <p:nvPr/>
        </p:nvSpPr>
        <p:spPr>
          <a:xfrm xmlns:a="http://schemas.openxmlformats.org/drawingml/2006/main">
            <a:off x="619125" y="56673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83C2D"/>
                </a:solidFill>
                <a:latin typeface="Arial"/>
                <a:ea typeface="Arial"/>
                <a:cs typeface="Arial"/>
              </a:defRPr>
            </a:defPPr>
            <a:lvl1pPr>
              <a:defRPr sz="1875" b="0">
                <a:solidFill>
                  <a:srgbClr val="183C2D"/>
                </a:solidFill>
                <a:latin typeface="Arial"/>
                <a:ea typeface="Arial"/>
                <a:cs typeface="Arial"/>
              </a:defRPr>
            </a:lvl1pPr>
            <a:lvl2pPr>
              <a:defRPr sz="1875" b="0">
                <a:solidFill>
                  <a:srgbClr val="183C2D"/>
                </a:solidFill>
                <a:latin typeface="Arial"/>
                <a:ea typeface="Arial"/>
                <a:cs typeface="Arial"/>
              </a:defRPr>
            </a:lvl2pPr>
            <a:lvl3pPr>
              <a:defRPr sz="1875" b="0">
                <a:solidFill>
                  <a:srgbClr val="183C2D"/>
                </a:solidFill>
                <a:latin typeface="Arial"/>
                <a:ea typeface="Arial"/>
                <a:cs typeface="Arial"/>
              </a:defRPr>
            </a:lvl3pPr>
            <a:lvl4pPr>
              <a:defRPr sz="1875" b="0">
                <a:solidFill>
                  <a:srgbClr val="183C2D"/>
                </a:solidFill>
                <a:latin typeface="Arial"/>
                <a:ea typeface="Arial"/>
                <a:cs typeface="Arial"/>
              </a:defRPr>
            </a:lvl4pPr>
            <a:lvl5pPr>
              <a:defRPr sz="1875" b="0">
                <a:solidFill>
                  <a:srgbClr val="183C2D"/>
                </a:solidFill>
                <a:latin typeface="Arial"/>
                <a:ea typeface="Arial"/>
                <a:cs typeface="Arial"/>
              </a:defRPr>
            </a:lvl5pPr>
            <a:lvl6pPr>
              <a:defRPr sz="1875" b="0">
                <a:solidFill>
                  <a:srgbClr val="183C2D"/>
                </a:solidFill>
                <a:latin typeface="Arial"/>
                <a:ea typeface="Arial"/>
                <a:cs typeface="Arial"/>
              </a:defRPr>
            </a:lvl6pPr>
            <a:lvl7pPr>
              <a:defRPr sz="1875" b="0">
                <a:solidFill>
                  <a:srgbClr val="183C2D"/>
                </a:solidFill>
                <a:latin typeface="Arial"/>
                <a:ea typeface="Arial"/>
                <a:cs typeface="Arial"/>
              </a:defRPr>
            </a:lvl7pPr>
            <a:lvl8pPr>
              <a:defRPr sz="1875" b="0">
                <a:solidFill>
                  <a:srgbClr val="183C2D"/>
                </a:solidFill>
                <a:latin typeface="Arial"/>
                <a:ea typeface="Arial"/>
                <a:cs typeface="Arial"/>
              </a:defRPr>
            </a:lvl8pPr>
            <a:lvl9pPr>
              <a:defRPr sz="1875" b="0">
                <a:solidFill>
                  <a:srgbClr val="183C2D"/>
                </a:solidFill>
                <a:latin typeface="Arial"/>
                <a:ea typeface="Arial"/>
                <a:cs typeface="Arial"/>
              </a:defRPr>
            </a:lvl9pPr>
          </a:lstStyle>
          <a:p xmlns:a="http://schemas.openxmlformats.org/drawingml/2006/main">
            <a:pPr>
              <a:defRPr sz="1875" b="0">
                <a:solidFill>
                  <a:srgbClr val="183C2D"/>
                </a:solidFill>
                <a:latin typeface="Arial"/>
                <a:ea typeface="Arial"/>
                <a:cs typeface="Arial"/>
              </a:defRPr>
            </a:pPr>
            <a:r>
              <a:rPr sz="1875" b="0">
                <a:solidFill>
                  <a:srgbClr val="183C2D"/>
                </a:solidFill>
                <a:latin typeface="Arial"/>
                <a:ea typeface="Arial"/>
                <a:cs typeface="Arial"/>
              </a:rPr>
              <a:t>Macro F1 shown · one split and seed · weighted CNN is a separate ablation</a:t>
            </a:r>
          </a:p>
        </p:txBody>
      </p:sp>
    </p:spTree>
    <p:extLst>
      <p:ext uri="{BB962C8B-B14F-4D97-AF65-F5344CB8AC3E}">
        <p14:creationId xmlns:p14="http://schemas.microsoft.com/office/powerpoint/2010/main" val="1323299759"/>
      </p:ext>
    </p:extLst>
  </p:cSld>
</p:sld>
</file>

<file path=ppt/slides/slide5.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EF55D6-6B12-4AFA-8C4E-0397EB9453B4}"/>
              </a:ext>
            </a:extLst>
          </p:cNvPr>
          <p:cNvSpPr>
            <a:spLocks xmlns:a="http://schemas.openxmlformats.org/drawingml/2006/main" noGrp="1"/>
          </p:cNvSpPr>
          <p:nvPr/>
        </p:nvSpPr>
        <p:spPr>
          <a:xfrm xmlns:a="http://schemas.openxmlformats.org/drawingml/2006/main">
            <a:off x="619125" y="476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3C2D"/>
                </a:solidFill>
                <a:latin typeface="Arial"/>
                <a:ea typeface="Arial"/>
                <a:cs typeface="Arial"/>
              </a:defRPr>
            </a:defPPr>
            <a:lvl1pPr>
              <a:defRPr sz="3225" b="1">
                <a:solidFill>
                  <a:srgbClr val="183C2D"/>
                </a:solidFill>
                <a:latin typeface="Arial"/>
                <a:ea typeface="Arial"/>
                <a:cs typeface="Arial"/>
              </a:defRPr>
            </a:lvl1pPr>
            <a:lvl2pPr>
              <a:defRPr sz="3225" b="1">
                <a:solidFill>
                  <a:srgbClr val="183C2D"/>
                </a:solidFill>
                <a:latin typeface="Arial"/>
                <a:ea typeface="Arial"/>
                <a:cs typeface="Arial"/>
              </a:defRPr>
            </a:lvl2pPr>
            <a:lvl3pPr>
              <a:defRPr sz="3225" b="1">
                <a:solidFill>
                  <a:srgbClr val="183C2D"/>
                </a:solidFill>
                <a:latin typeface="Arial"/>
                <a:ea typeface="Arial"/>
                <a:cs typeface="Arial"/>
              </a:defRPr>
            </a:lvl3pPr>
            <a:lvl4pPr>
              <a:defRPr sz="3225" b="1">
                <a:solidFill>
                  <a:srgbClr val="183C2D"/>
                </a:solidFill>
                <a:latin typeface="Arial"/>
                <a:ea typeface="Arial"/>
                <a:cs typeface="Arial"/>
              </a:defRPr>
            </a:lvl4pPr>
            <a:lvl5pPr>
              <a:defRPr sz="3225" b="1">
                <a:solidFill>
                  <a:srgbClr val="183C2D"/>
                </a:solidFill>
                <a:latin typeface="Arial"/>
                <a:ea typeface="Arial"/>
                <a:cs typeface="Arial"/>
              </a:defRPr>
            </a:lvl5pPr>
            <a:lvl6pPr>
              <a:defRPr sz="3225" b="1">
                <a:solidFill>
                  <a:srgbClr val="183C2D"/>
                </a:solidFill>
                <a:latin typeface="Arial"/>
                <a:ea typeface="Arial"/>
                <a:cs typeface="Arial"/>
              </a:defRPr>
            </a:lvl6pPr>
            <a:lvl7pPr>
              <a:defRPr sz="3225" b="1">
                <a:solidFill>
                  <a:srgbClr val="183C2D"/>
                </a:solidFill>
                <a:latin typeface="Arial"/>
                <a:ea typeface="Arial"/>
                <a:cs typeface="Arial"/>
              </a:defRPr>
            </a:lvl7pPr>
            <a:lvl8pPr>
              <a:defRPr sz="3225" b="1">
                <a:solidFill>
                  <a:srgbClr val="183C2D"/>
                </a:solidFill>
                <a:latin typeface="Arial"/>
                <a:ea typeface="Arial"/>
                <a:cs typeface="Arial"/>
              </a:defRPr>
            </a:lvl8pPr>
            <a:lvl9pPr>
              <a:defRPr sz="3225" b="1">
                <a:solidFill>
                  <a:srgbClr val="183C2D"/>
                </a:solidFill>
                <a:latin typeface="Arial"/>
                <a:ea typeface="Arial"/>
                <a:cs typeface="Arial"/>
              </a:defRPr>
            </a:lvl9pPr>
          </a:lstStyle>
          <a:p xmlns:a="http://schemas.openxmlformats.org/drawingml/2006/main">
            <a:pPr>
              <a:defRPr sz="3225" b="1">
                <a:solidFill>
                  <a:srgbClr val="183C2D"/>
                </a:solidFill>
                <a:latin typeface="Arial"/>
                <a:ea typeface="Arial"/>
                <a:cs typeface="Arial"/>
              </a:defRPr>
            </a:pPr>
            <a:r>
              <a:rPr sz="3225" b="1">
                <a:solidFill>
                  <a:srgbClr val="183C2D"/>
                </a:solidFill>
                <a:latin typeface="Arial"/>
                <a:ea typeface="Arial"/>
                <a:cs typeface="Arial"/>
              </a:rPr>
              <a:t>Overall accuracy hides missed trash items</a:t>
            </a:r>
          </a:p>
        </p:txBody>
      </p:sp>
      <p:pic>
        <p:nvPicPr>
          <p:cNvPr id="2" name="">
            <a:extLst xmlns:a="http://schemas.openxmlformats.org/drawingml/2006/main">
              <a:ext uri="{FF2B5EF4-FFF2-40B4-BE49-F238E27FC236}">
                <a16:creationId xmlns:a16="http://schemas.microsoft.com/office/drawing/2014/main" id="{BEE31412-95EF-4779-8EB6-05BAC7E3C74B}"/>
              </a:ext>
            </a:extLst>
          </p:cNvPr>
          <p:cNvPicPr>
            <a:picLocks xmlns:a="http://schemas.openxmlformats.org/drawingml/2006/main" noChangeAspect="1"/>
          </p:cNvPicPr>
          <p:nvPr/>
        </p:nvPicPr>
        <p:blipFill>
          <a:blip xmlns:r="http://schemas.openxmlformats.org/officeDocument/2006/relationships" xmlns:a="http://schemas.openxmlformats.org/drawingml/2006/main" r:embed="R3ffc3cdea94f4216"/>
          <a:stretch xmlns:a="http://schemas.openxmlformats.org/drawingml/2006/main"/>
        </p:blipFill>
        <p:spPr>
          <a:xfrm xmlns:a="http://schemas.openxmlformats.org/drawingml/2006/main">
            <a:off x="1268474" y="1571625"/>
            <a:ext cx="5654553" cy="466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E9D437C-7B85-4F4C-90C2-7AD0A80DB968}"/>
              </a:ext>
            </a:extLst>
          </p:cNvPr>
          <p:cNvSpPr>
            <a:spLocks xmlns:a="http://schemas.openxmlformats.org/drawingml/2006/main" noGrp="1"/>
          </p:cNvSpPr>
          <p:nvPr/>
        </p:nvSpPr>
        <p:spPr>
          <a:xfrm xmlns:a="http://schemas.openxmlformats.org/drawingml/2006/main">
            <a:off x="8191500" y="2333625"/>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500" b="1">
                <a:solidFill>
                  <a:srgbClr val="183C2D"/>
                </a:solidFill>
                <a:latin typeface="Arial"/>
                <a:ea typeface="Arial"/>
                <a:cs typeface="Arial"/>
              </a:defRPr>
            </a:defPPr>
            <a:lvl1pPr>
              <a:defRPr sz="4500" b="1">
                <a:solidFill>
                  <a:srgbClr val="183C2D"/>
                </a:solidFill>
                <a:latin typeface="Arial"/>
                <a:ea typeface="Arial"/>
                <a:cs typeface="Arial"/>
              </a:defRPr>
            </a:lvl1pPr>
            <a:lvl2pPr>
              <a:defRPr sz="4500" b="1">
                <a:solidFill>
                  <a:srgbClr val="183C2D"/>
                </a:solidFill>
                <a:latin typeface="Arial"/>
                <a:ea typeface="Arial"/>
                <a:cs typeface="Arial"/>
              </a:defRPr>
            </a:lvl2pPr>
            <a:lvl3pPr>
              <a:defRPr sz="4500" b="1">
                <a:solidFill>
                  <a:srgbClr val="183C2D"/>
                </a:solidFill>
                <a:latin typeface="Arial"/>
                <a:ea typeface="Arial"/>
                <a:cs typeface="Arial"/>
              </a:defRPr>
            </a:lvl3pPr>
            <a:lvl4pPr>
              <a:defRPr sz="4500" b="1">
                <a:solidFill>
                  <a:srgbClr val="183C2D"/>
                </a:solidFill>
                <a:latin typeface="Arial"/>
                <a:ea typeface="Arial"/>
                <a:cs typeface="Arial"/>
              </a:defRPr>
            </a:lvl4pPr>
            <a:lvl5pPr>
              <a:defRPr sz="4500" b="1">
                <a:solidFill>
                  <a:srgbClr val="183C2D"/>
                </a:solidFill>
                <a:latin typeface="Arial"/>
                <a:ea typeface="Arial"/>
                <a:cs typeface="Arial"/>
              </a:defRPr>
            </a:lvl5pPr>
            <a:lvl6pPr>
              <a:defRPr sz="4500" b="1">
                <a:solidFill>
                  <a:srgbClr val="183C2D"/>
                </a:solidFill>
                <a:latin typeface="Arial"/>
                <a:ea typeface="Arial"/>
                <a:cs typeface="Arial"/>
              </a:defRPr>
            </a:lvl6pPr>
            <a:lvl7pPr>
              <a:defRPr sz="4500" b="1">
                <a:solidFill>
                  <a:srgbClr val="183C2D"/>
                </a:solidFill>
                <a:latin typeface="Arial"/>
                <a:ea typeface="Arial"/>
                <a:cs typeface="Arial"/>
              </a:defRPr>
            </a:lvl7pPr>
            <a:lvl8pPr>
              <a:defRPr sz="4500" b="1">
                <a:solidFill>
                  <a:srgbClr val="183C2D"/>
                </a:solidFill>
                <a:latin typeface="Arial"/>
                <a:ea typeface="Arial"/>
                <a:cs typeface="Arial"/>
              </a:defRPr>
            </a:lvl8pPr>
            <a:lvl9pPr>
              <a:defRPr sz="4500" b="1">
                <a:solidFill>
                  <a:srgbClr val="183C2D"/>
                </a:solidFill>
                <a:latin typeface="Arial"/>
                <a:ea typeface="Arial"/>
                <a:cs typeface="Arial"/>
              </a:defRPr>
            </a:lvl9pPr>
          </a:lstStyle>
          <a:p xmlns:a="http://schemas.openxmlformats.org/drawingml/2006/main">
            <a:pPr>
              <a:defRPr sz="4500" b="1">
                <a:solidFill>
                  <a:srgbClr val="183C2D"/>
                </a:solidFill>
                <a:latin typeface="Arial"/>
                <a:ea typeface="Arial"/>
                <a:cs typeface="Arial"/>
              </a:defRPr>
            </a:pPr>
            <a:r>
              <a:rPr sz="4500" b="1">
                <a:solidFill>
                  <a:srgbClr val="183C2D"/>
                </a:solidFill>
                <a:latin typeface="Arial"/>
                <a:ea typeface="Arial"/>
                <a:cs typeface="Arial"/>
              </a:rPr>
              <a:t>10 / 18</a:t>
            </a:r>
          </a:p>
        </p:txBody>
      </p:sp>
      <p:sp>
        <p:nvSpPr>
          <p:cNvPr id="4" name="">
            <a:extLst xmlns:a="http://schemas.openxmlformats.org/drawingml/2006/main">
              <a:ext uri="{FF2B5EF4-FFF2-40B4-BE49-F238E27FC236}">
                <a16:creationId xmlns:a16="http://schemas.microsoft.com/office/drawing/2014/main" id="{AEC3A436-7142-4ACB-89FF-36D7F56C6862}"/>
              </a:ext>
            </a:extLst>
          </p:cNvPr>
          <p:cNvSpPr>
            <a:spLocks xmlns:a="http://schemas.openxmlformats.org/drawingml/2006/main" noGrp="1"/>
          </p:cNvSpPr>
          <p:nvPr/>
        </p:nvSpPr>
        <p:spPr>
          <a:xfrm xmlns:a="http://schemas.openxmlformats.org/drawingml/2006/main">
            <a:off x="8191500" y="3381375"/>
            <a:ext cx="328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2D"/>
                </a:solidFill>
                <a:latin typeface="Arial"/>
                <a:ea typeface="Arial"/>
                <a:cs typeface="Arial"/>
              </a:defRPr>
            </a:defPPr>
            <a:lvl1pPr>
              <a:defRPr sz="2325" b="0">
                <a:solidFill>
                  <a:srgbClr val="183C2D"/>
                </a:solidFill>
                <a:latin typeface="Arial"/>
                <a:ea typeface="Arial"/>
                <a:cs typeface="Arial"/>
              </a:defRPr>
            </a:lvl1pPr>
            <a:lvl2pPr>
              <a:defRPr sz="2325" b="0">
                <a:solidFill>
                  <a:srgbClr val="183C2D"/>
                </a:solidFill>
                <a:latin typeface="Arial"/>
                <a:ea typeface="Arial"/>
                <a:cs typeface="Arial"/>
              </a:defRPr>
            </a:lvl2pPr>
            <a:lvl3pPr>
              <a:defRPr sz="2325" b="0">
                <a:solidFill>
                  <a:srgbClr val="183C2D"/>
                </a:solidFill>
                <a:latin typeface="Arial"/>
                <a:ea typeface="Arial"/>
                <a:cs typeface="Arial"/>
              </a:defRPr>
            </a:lvl3pPr>
            <a:lvl4pPr>
              <a:defRPr sz="2325" b="0">
                <a:solidFill>
                  <a:srgbClr val="183C2D"/>
                </a:solidFill>
                <a:latin typeface="Arial"/>
                <a:ea typeface="Arial"/>
                <a:cs typeface="Arial"/>
              </a:defRPr>
            </a:lvl4pPr>
            <a:lvl5pPr>
              <a:defRPr sz="2325" b="0">
                <a:solidFill>
                  <a:srgbClr val="183C2D"/>
                </a:solidFill>
                <a:latin typeface="Arial"/>
                <a:ea typeface="Arial"/>
                <a:cs typeface="Arial"/>
              </a:defRPr>
            </a:lvl5pPr>
            <a:lvl6pPr>
              <a:defRPr sz="2325" b="0">
                <a:solidFill>
                  <a:srgbClr val="183C2D"/>
                </a:solidFill>
                <a:latin typeface="Arial"/>
                <a:ea typeface="Arial"/>
                <a:cs typeface="Arial"/>
              </a:defRPr>
            </a:lvl6pPr>
            <a:lvl7pPr>
              <a:defRPr sz="2325" b="0">
                <a:solidFill>
                  <a:srgbClr val="183C2D"/>
                </a:solidFill>
                <a:latin typeface="Arial"/>
                <a:ea typeface="Arial"/>
                <a:cs typeface="Arial"/>
              </a:defRPr>
            </a:lvl7pPr>
            <a:lvl8pPr>
              <a:defRPr sz="2325" b="0">
                <a:solidFill>
                  <a:srgbClr val="183C2D"/>
                </a:solidFill>
                <a:latin typeface="Arial"/>
                <a:ea typeface="Arial"/>
                <a:cs typeface="Arial"/>
              </a:defRPr>
            </a:lvl8pPr>
            <a:lvl9pPr>
              <a:defRPr sz="2325" b="0">
                <a:solidFill>
                  <a:srgbClr val="183C2D"/>
                </a:solidFill>
                <a:latin typeface="Arial"/>
                <a:ea typeface="Arial"/>
                <a:cs typeface="Arial"/>
              </a:defRPr>
            </a:lvl9pPr>
          </a:lstStyle>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trash images recognized</a:t>
            </a:r>
          </a:p>
          <a:p xmlns:a="http://schemas.openxmlformats.org/drawingml/2006/main">
            <a:pPr>
              <a:defRPr sz="2325" b="0">
                <a:solidFill>
                  <a:srgbClr val="183C2D"/>
                </a:solidFill>
                <a:latin typeface="Arial"/>
                <a:ea typeface="Arial"/>
                <a:cs typeface="Arial"/>
              </a:defRPr>
            </a:pPr>
            <a:r>
              <a:rPr sz="2325" b="0">
                <a:solidFill>
                  <a:srgbClr val="183C2D"/>
                </a:solidFill>
                <a:latin typeface="Arial"/>
                <a:ea typeface="Arial"/>
                <a:cs typeface="Arial"/>
              </a:rPr>
              <a:t>55.56% recall</a:t>
            </a:r>
          </a:p>
        </p:txBody>
      </p:sp>
      <p:sp>
        <p:nvSpPr>
          <p:cNvPr id="5" name="">
            <a:extLst xmlns:a="http://schemas.openxmlformats.org/drawingml/2006/main">
              <a:ext uri="{FF2B5EF4-FFF2-40B4-BE49-F238E27FC236}">
                <a16:creationId xmlns:a16="http://schemas.microsoft.com/office/drawing/2014/main" id="{3A8B65C5-364D-4A96-AE37-AEF235A02643}"/>
              </a:ext>
            </a:extLst>
          </p:cNvPr>
          <p:cNvSpPr>
            <a:spLocks xmlns:a="http://schemas.openxmlformats.org/drawingml/2006/main" noGrp="1"/>
          </p:cNvSpPr>
          <p:nvPr/>
        </p:nvSpPr>
        <p:spPr>
          <a:xfrm xmlns:a="http://schemas.openxmlformats.org/drawingml/2006/main">
            <a:off x="8191500" y="5048250"/>
            <a:ext cx="328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2D"/>
                </a:solidFill>
                <a:latin typeface="Arial"/>
                <a:ea typeface="Arial"/>
                <a:cs typeface="Arial"/>
              </a:defRPr>
            </a:defPPr>
            <a:lvl1pPr>
              <a:defRPr sz="2025" b="0">
                <a:solidFill>
                  <a:srgbClr val="183C2D"/>
                </a:solidFill>
                <a:latin typeface="Arial"/>
                <a:ea typeface="Arial"/>
                <a:cs typeface="Arial"/>
              </a:defRPr>
            </a:lvl1pPr>
            <a:lvl2pPr>
              <a:defRPr sz="2025" b="0">
                <a:solidFill>
                  <a:srgbClr val="183C2D"/>
                </a:solidFill>
                <a:latin typeface="Arial"/>
                <a:ea typeface="Arial"/>
                <a:cs typeface="Arial"/>
              </a:defRPr>
            </a:lvl2pPr>
            <a:lvl3pPr>
              <a:defRPr sz="2025" b="0">
                <a:solidFill>
                  <a:srgbClr val="183C2D"/>
                </a:solidFill>
                <a:latin typeface="Arial"/>
                <a:ea typeface="Arial"/>
                <a:cs typeface="Arial"/>
              </a:defRPr>
            </a:lvl3pPr>
            <a:lvl4pPr>
              <a:defRPr sz="2025" b="0">
                <a:solidFill>
                  <a:srgbClr val="183C2D"/>
                </a:solidFill>
                <a:latin typeface="Arial"/>
                <a:ea typeface="Arial"/>
                <a:cs typeface="Arial"/>
              </a:defRPr>
            </a:lvl4pPr>
            <a:lvl5pPr>
              <a:defRPr sz="2025" b="0">
                <a:solidFill>
                  <a:srgbClr val="183C2D"/>
                </a:solidFill>
                <a:latin typeface="Arial"/>
                <a:ea typeface="Arial"/>
                <a:cs typeface="Arial"/>
              </a:defRPr>
            </a:lvl5pPr>
            <a:lvl6pPr>
              <a:defRPr sz="2025" b="0">
                <a:solidFill>
                  <a:srgbClr val="183C2D"/>
                </a:solidFill>
                <a:latin typeface="Arial"/>
                <a:ea typeface="Arial"/>
                <a:cs typeface="Arial"/>
              </a:defRPr>
            </a:lvl6pPr>
            <a:lvl7pPr>
              <a:defRPr sz="2025" b="0">
                <a:solidFill>
                  <a:srgbClr val="183C2D"/>
                </a:solidFill>
                <a:latin typeface="Arial"/>
                <a:ea typeface="Arial"/>
                <a:cs typeface="Arial"/>
              </a:defRPr>
            </a:lvl7pPr>
            <a:lvl8pPr>
              <a:defRPr sz="2025" b="0">
                <a:solidFill>
                  <a:srgbClr val="183C2D"/>
                </a:solidFill>
                <a:latin typeface="Arial"/>
                <a:ea typeface="Arial"/>
                <a:cs typeface="Arial"/>
              </a:defRPr>
            </a:lvl8pPr>
            <a:lvl9pPr>
              <a:defRPr sz="2025" b="0">
                <a:solidFill>
                  <a:srgbClr val="183C2D"/>
                </a:solidFill>
                <a:latin typeface="Arial"/>
                <a:ea typeface="Arial"/>
                <a:cs typeface="Arial"/>
              </a:defRPr>
            </a:lvl9pPr>
          </a:lstStyle>
          <a:p xmlns:a="http://schemas.openxmlformats.org/drawingml/2006/main">
            <a:pPr>
              <a:defRPr sz="2025" b="0">
                <a:solidFill>
                  <a:srgbClr val="183C2D"/>
                </a:solidFill>
                <a:latin typeface="Arial"/>
                <a:ea typeface="Arial"/>
                <a:cs typeface="Arial"/>
              </a:defRPr>
            </a:pPr>
            <a:r>
              <a:rPr sz="2025" b="0">
                <a:solidFill>
                  <a:srgbClr val="183C2D"/>
                </a:solidFill>
                <a:latin typeface="Arial"/>
                <a:ea typeface="Arial"/>
                <a:cs typeface="Arial"/>
              </a:rPr>
              <a:t>Check errors by class,</a:t>
            </a:r>
          </a:p>
          <a:p xmlns:a="http://schemas.openxmlformats.org/drawingml/2006/main">
            <a:pPr>
              <a:defRPr sz="2025" b="0">
                <a:solidFill>
                  <a:srgbClr val="183C2D"/>
                </a:solidFill>
                <a:latin typeface="Arial"/>
                <a:ea typeface="Arial"/>
                <a:cs typeface="Arial"/>
              </a:defRPr>
            </a:pPr>
            <a:r>
              <a:rPr sz="2025" b="0">
                <a:solidFill>
                  <a:srgbClr val="183C2D"/>
                </a:solidFill>
                <a:latin typeface="Arial"/>
                <a:ea typeface="Arial"/>
                <a:cs typeface="Arial"/>
              </a:rPr>
              <a:t>not just total accuracy.</a:t>
            </a:r>
          </a:p>
        </p:txBody>
      </p:sp>
    </p:spTree>
    <p:extLst>
      <p:ext uri="{BB962C8B-B14F-4D97-AF65-F5344CB8AC3E}">
        <p14:creationId xmlns:p14="http://schemas.microsoft.com/office/powerpoint/2010/main" val="2005686316"/>
      </p:ext>
    </p:extLst>
  </p:cSld>
</p:sld>
</file>

<file path=ppt/slides/slide6.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311FA8-4D6D-4111-9700-627752645C89}"/>
              </a:ext>
            </a:extLst>
          </p:cNvPr>
          <p:cNvSpPr>
            <a:spLocks xmlns:a="http://schemas.openxmlformats.org/drawingml/2006/main" noGrp="1"/>
          </p:cNvSpPr>
          <p:nvPr/>
        </p:nvSpPr>
        <p:spPr>
          <a:xfrm xmlns:a="http://schemas.openxmlformats.org/drawingml/2006/main">
            <a:off x="619125" y="4762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83C2D"/>
                </a:solidFill>
                <a:latin typeface="Arial"/>
                <a:ea typeface="Arial"/>
                <a:cs typeface="Arial"/>
              </a:defRPr>
            </a:defPPr>
            <a:lvl1pPr>
              <a:defRPr sz="3225" b="1">
                <a:solidFill>
                  <a:srgbClr val="183C2D"/>
                </a:solidFill>
                <a:latin typeface="Arial"/>
                <a:ea typeface="Arial"/>
                <a:cs typeface="Arial"/>
              </a:defRPr>
            </a:lvl1pPr>
            <a:lvl2pPr>
              <a:defRPr sz="3225" b="1">
                <a:solidFill>
                  <a:srgbClr val="183C2D"/>
                </a:solidFill>
                <a:latin typeface="Arial"/>
                <a:ea typeface="Arial"/>
                <a:cs typeface="Arial"/>
              </a:defRPr>
            </a:lvl2pPr>
            <a:lvl3pPr>
              <a:defRPr sz="3225" b="1">
                <a:solidFill>
                  <a:srgbClr val="183C2D"/>
                </a:solidFill>
                <a:latin typeface="Arial"/>
                <a:ea typeface="Arial"/>
                <a:cs typeface="Arial"/>
              </a:defRPr>
            </a:lvl3pPr>
            <a:lvl4pPr>
              <a:defRPr sz="3225" b="1">
                <a:solidFill>
                  <a:srgbClr val="183C2D"/>
                </a:solidFill>
                <a:latin typeface="Arial"/>
                <a:ea typeface="Arial"/>
                <a:cs typeface="Arial"/>
              </a:defRPr>
            </a:lvl4pPr>
            <a:lvl5pPr>
              <a:defRPr sz="3225" b="1">
                <a:solidFill>
                  <a:srgbClr val="183C2D"/>
                </a:solidFill>
                <a:latin typeface="Arial"/>
                <a:ea typeface="Arial"/>
                <a:cs typeface="Arial"/>
              </a:defRPr>
            </a:lvl5pPr>
            <a:lvl6pPr>
              <a:defRPr sz="3225" b="1">
                <a:solidFill>
                  <a:srgbClr val="183C2D"/>
                </a:solidFill>
                <a:latin typeface="Arial"/>
                <a:ea typeface="Arial"/>
                <a:cs typeface="Arial"/>
              </a:defRPr>
            </a:lvl6pPr>
            <a:lvl7pPr>
              <a:defRPr sz="3225" b="1">
                <a:solidFill>
                  <a:srgbClr val="183C2D"/>
                </a:solidFill>
                <a:latin typeface="Arial"/>
                <a:ea typeface="Arial"/>
                <a:cs typeface="Arial"/>
              </a:defRPr>
            </a:lvl7pPr>
            <a:lvl8pPr>
              <a:defRPr sz="3225" b="1">
                <a:solidFill>
                  <a:srgbClr val="183C2D"/>
                </a:solidFill>
                <a:latin typeface="Arial"/>
                <a:ea typeface="Arial"/>
                <a:cs typeface="Arial"/>
              </a:defRPr>
            </a:lvl8pPr>
            <a:lvl9pPr>
              <a:defRPr sz="3225" b="1">
                <a:solidFill>
                  <a:srgbClr val="183C2D"/>
                </a:solidFill>
                <a:latin typeface="Arial"/>
                <a:ea typeface="Arial"/>
                <a:cs typeface="Arial"/>
              </a:defRPr>
            </a:lvl9pPr>
          </a:lstStyle>
          <a:p xmlns:a="http://schemas.openxmlformats.org/drawingml/2006/main">
            <a:pPr>
              <a:defRPr sz="3225" b="1">
                <a:solidFill>
                  <a:srgbClr val="183C2D"/>
                </a:solidFill>
                <a:latin typeface="Arial"/>
                <a:ea typeface="Arial"/>
                <a:cs typeface="Arial"/>
              </a:defRPr>
            </a:pPr>
            <a:r>
              <a:rPr sz="3225" b="1">
                <a:solidFill>
                  <a:srgbClr val="183C2D"/>
                </a:solidFill>
                <a:latin typeface="Arial"/>
                <a:ea typeface="Arial"/>
                <a:cs typeface="Arial"/>
              </a:rPr>
              <a:t>Demonstrate the app and explain its limits</a:t>
            </a:r>
          </a:p>
        </p:txBody>
      </p:sp>
      <p:sp>
        <p:nvSpPr>
          <p:cNvPr id="2" name="">
            <a:extLst xmlns:a="http://schemas.openxmlformats.org/drawingml/2006/main">
              <a:ext uri="{FF2B5EF4-FFF2-40B4-BE49-F238E27FC236}">
                <a16:creationId xmlns:a16="http://schemas.microsoft.com/office/drawing/2014/main" id="{372CF096-AE53-464B-8343-C9D6AF1E8996}"/>
              </a:ext>
            </a:extLst>
          </p:cNvPr>
          <p:cNvSpPr>
            <a:spLocks xmlns:a="http://schemas.openxmlformats.org/drawingml/2006/main" noGrp="1"/>
          </p:cNvSpPr>
          <p:nvPr/>
        </p:nvSpPr>
        <p:spPr>
          <a:xfrm xmlns:a="http://schemas.openxmlformats.org/drawingml/2006/main">
            <a:off x="619125" y="1857375"/>
            <a:ext cx="6667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83C2D"/>
                </a:solidFill>
                <a:latin typeface="Arial"/>
                <a:ea typeface="Arial"/>
                <a:cs typeface="Arial"/>
              </a:defRPr>
            </a:defPPr>
            <a:lvl1pPr>
              <a:defRPr sz="2550" b="0">
                <a:solidFill>
                  <a:srgbClr val="183C2D"/>
                </a:solidFill>
                <a:latin typeface="Arial"/>
                <a:ea typeface="Arial"/>
                <a:cs typeface="Arial"/>
              </a:defRPr>
            </a:lvl1pPr>
            <a:lvl2pPr>
              <a:defRPr sz="2550" b="0">
                <a:solidFill>
                  <a:srgbClr val="183C2D"/>
                </a:solidFill>
                <a:latin typeface="Arial"/>
                <a:ea typeface="Arial"/>
                <a:cs typeface="Arial"/>
              </a:defRPr>
            </a:lvl2pPr>
            <a:lvl3pPr>
              <a:defRPr sz="2550" b="0">
                <a:solidFill>
                  <a:srgbClr val="183C2D"/>
                </a:solidFill>
                <a:latin typeface="Arial"/>
                <a:ea typeface="Arial"/>
                <a:cs typeface="Arial"/>
              </a:defRPr>
            </a:lvl3pPr>
            <a:lvl4pPr>
              <a:defRPr sz="2550" b="0">
                <a:solidFill>
                  <a:srgbClr val="183C2D"/>
                </a:solidFill>
                <a:latin typeface="Arial"/>
                <a:ea typeface="Arial"/>
                <a:cs typeface="Arial"/>
              </a:defRPr>
            </a:lvl4pPr>
            <a:lvl5pPr>
              <a:defRPr sz="2550" b="0">
                <a:solidFill>
                  <a:srgbClr val="183C2D"/>
                </a:solidFill>
                <a:latin typeface="Arial"/>
                <a:ea typeface="Arial"/>
                <a:cs typeface="Arial"/>
              </a:defRPr>
            </a:lvl5pPr>
            <a:lvl6pPr>
              <a:defRPr sz="2550" b="0">
                <a:solidFill>
                  <a:srgbClr val="183C2D"/>
                </a:solidFill>
                <a:latin typeface="Arial"/>
                <a:ea typeface="Arial"/>
                <a:cs typeface="Arial"/>
              </a:defRPr>
            </a:lvl6pPr>
            <a:lvl7pPr>
              <a:defRPr sz="2550" b="0">
                <a:solidFill>
                  <a:srgbClr val="183C2D"/>
                </a:solidFill>
                <a:latin typeface="Arial"/>
                <a:ea typeface="Arial"/>
                <a:cs typeface="Arial"/>
              </a:defRPr>
            </a:lvl7pPr>
            <a:lvl8pPr>
              <a:defRPr sz="2550" b="0">
                <a:solidFill>
                  <a:srgbClr val="183C2D"/>
                </a:solidFill>
                <a:latin typeface="Arial"/>
                <a:ea typeface="Arial"/>
                <a:cs typeface="Arial"/>
              </a:defRPr>
            </a:lvl8pPr>
            <a:lvl9pPr>
              <a:defRPr sz="2550" b="0">
                <a:solidFill>
                  <a:srgbClr val="183C2D"/>
                </a:solidFill>
                <a:latin typeface="Arial"/>
                <a:ea typeface="Arial"/>
                <a:cs typeface="Arial"/>
              </a:defRPr>
            </a:lvl9pPr>
          </a:lstStyle>
          <a:p xmlns:a="http://schemas.openxmlformats.org/drawingml/2006/main">
            <a:pPr>
              <a:defRPr sz="2550" b="0">
                <a:solidFill>
                  <a:srgbClr val="183C2D"/>
                </a:solidFill>
                <a:latin typeface="Arial"/>
                <a:ea typeface="Arial"/>
                <a:cs typeface="Arial"/>
              </a:defRPr>
            </a:pPr>
            <a:r>
              <a:rPr sz="2550" b="0">
                <a:solidFill>
                  <a:srgbClr val="183C2D"/>
                </a:solidFill>
                <a:latin typeface="Arial"/>
                <a:ea typeface="Arial"/>
                <a:cs typeface="Arial"/>
              </a:rPr>
              <a:t>1  Start the app</a:t>
            </a:r>
          </a:p>
          <a:p xmlns:a="http://schemas.openxmlformats.org/drawingml/2006/main">
            <a:pPr>
              <a:defRPr sz="2550" b="0">
                <a:solidFill>
                  <a:srgbClr val="183C2D"/>
                </a:solidFill>
                <a:latin typeface="Arial"/>
                <a:ea typeface="Arial"/>
                <a:cs typeface="Arial"/>
              </a:defRPr>
            </a:pPr>
            <a:r>
              <a:rPr sz="2550" b="0">
                <a:solidFill>
                  <a:srgbClr val="183C2D"/>
                </a:solidFill>
                <a:latin typeface="Arial"/>
                <a:ea typeface="Arial"/>
                <a:cs typeface="Arial"/>
              </a:rPr>
              <a:t>2  Upload one clear item photo</a:t>
            </a:r>
          </a:p>
          <a:p xmlns:a="http://schemas.openxmlformats.org/drawingml/2006/main">
            <a:pPr>
              <a:defRPr sz="2550" b="0">
                <a:solidFill>
                  <a:srgbClr val="183C2D"/>
                </a:solidFill>
                <a:latin typeface="Arial"/>
                <a:ea typeface="Arial"/>
                <a:cs typeface="Arial"/>
              </a:defRPr>
            </a:pPr>
            <a:r>
              <a:rPr sz="2550" b="0">
                <a:solidFill>
                  <a:srgbClr val="183C2D"/>
                </a:solidFill>
                <a:latin typeface="Arial"/>
                <a:ea typeface="Arial"/>
                <a:cs typeface="Arial"/>
              </a:rPr>
              <a:t>3  Select Identify material</a:t>
            </a:r>
          </a:p>
          <a:p xmlns:a="http://schemas.openxmlformats.org/drawingml/2006/main">
            <a:pPr>
              <a:defRPr sz="2550" b="0">
                <a:solidFill>
                  <a:srgbClr val="183C2D"/>
                </a:solidFill>
                <a:latin typeface="Arial"/>
                <a:ea typeface="Arial"/>
                <a:cs typeface="Arial"/>
              </a:defRPr>
            </a:pPr>
            <a:r>
              <a:rPr sz="2550" b="0">
                <a:solidFill>
                  <a:srgbClr val="183C2D"/>
                </a:solidFill>
                <a:latin typeface="Arial"/>
                <a:ea typeface="Arial"/>
                <a:cs typeface="Arial"/>
              </a:rPr>
              <a:t>4  Explain and download the result</a:t>
            </a:r>
          </a:p>
        </p:txBody>
      </p:sp>
      <p:sp>
        <p:nvSpPr>
          <p:cNvPr id="3" name="">
            <a:extLst xmlns:a="http://schemas.openxmlformats.org/drawingml/2006/main">
              <a:ext uri="{FF2B5EF4-FFF2-40B4-BE49-F238E27FC236}">
                <a16:creationId xmlns:a16="http://schemas.microsoft.com/office/drawing/2014/main" id="{00FB168B-1912-4C70-9DFB-9ED39F52F8AF}"/>
              </a:ext>
            </a:extLst>
          </p:cNvPr>
          <p:cNvSpPr>
            <a:spLocks xmlns:a="http://schemas.openxmlformats.org/drawingml/2006/main" noGrp="1"/>
          </p:cNvSpPr>
          <p:nvPr/>
        </p:nvSpPr>
        <p:spPr>
          <a:xfrm xmlns:a="http://schemas.openxmlformats.org/drawingml/2006/main">
            <a:off x="7810500" y="195262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3C2D"/>
                </a:solidFill>
                <a:latin typeface="Arial"/>
                <a:ea typeface="Arial"/>
                <a:cs typeface="Arial"/>
              </a:defRPr>
            </a:defPPr>
            <a:lvl1pPr>
              <a:defRPr sz="2325" b="1">
                <a:solidFill>
                  <a:srgbClr val="183C2D"/>
                </a:solidFill>
                <a:latin typeface="Arial"/>
                <a:ea typeface="Arial"/>
                <a:cs typeface="Arial"/>
              </a:defRPr>
            </a:lvl1pPr>
            <a:lvl2pPr>
              <a:defRPr sz="2325" b="1">
                <a:solidFill>
                  <a:srgbClr val="183C2D"/>
                </a:solidFill>
                <a:latin typeface="Arial"/>
                <a:ea typeface="Arial"/>
                <a:cs typeface="Arial"/>
              </a:defRPr>
            </a:lvl2pPr>
            <a:lvl3pPr>
              <a:defRPr sz="2325" b="1">
                <a:solidFill>
                  <a:srgbClr val="183C2D"/>
                </a:solidFill>
                <a:latin typeface="Arial"/>
                <a:ea typeface="Arial"/>
                <a:cs typeface="Arial"/>
              </a:defRPr>
            </a:lvl3pPr>
            <a:lvl4pPr>
              <a:defRPr sz="2325" b="1">
                <a:solidFill>
                  <a:srgbClr val="183C2D"/>
                </a:solidFill>
                <a:latin typeface="Arial"/>
                <a:ea typeface="Arial"/>
                <a:cs typeface="Arial"/>
              </a:defRPr>
            </a:lvl4pPr>
            <a:lvl5pPr>
              <a:defRPr sz="2325" b="1">
                <a:solidFill>
                  <a:srgbClr val="183C2D"/>
                </a:solidFill>
                <a:latin typeface="Arial"/>
                <a:ea typeface="Arial"/>
                <a:cs typeface="Arial"/>
              </a:defRPr>
            </a:lvl5pPr>
            <a:lvl6pPr>
              <a:defRPr sz="2325" b="1">
                <a:solidFill>
                  <a:srgbClr val="183C2D"/>
                </a:solidFill>
                <a:latin typeface="Arial"/>
                <a:ea typeface="Arial"/>
                <a:cs typeface="Arial"/>
              </a:defRPr>
            </a:lvl6pPr>
            <a:lvl7pPr>
              <a:defRPr sz="2325" b="1">
                <a:solidFill>
                  <a:srgbClr val="183C2D"/>
                </a:solidFill>
                <a:latin typeface="Arial"/>
                <a:ea typeface="Arial"/>
                <a:cs typeface="Arial"/>
              </a:defRPr>
            </a:lvl7pPr>
            <a:lvl8pPr>
              <a:defRPr sz="2325" b="1">
                <a:solidFill>
                  <a:srgbClr val="183C2D"/>
                </a:solidFill>
                <a:latin typeface="Arial"/>
                <a:ea typeface="Arial"/>
                <a:cs typeface="Arial"/>
              </a:defRPr>
            </a:lvl8pPr>
            <a:lvl9pPr>
              <a:defRPr sz="2325" b="1">
                <a:solidFill>
                  <a:srgbClr val="183C2D"/>
                </a:solidFill>
                <a:latin typeface="Arial"/>
                <a:ea typeface="Arial"/>
                <a:cs typeface="Arial"/>
              </a:defRPr>
            </a:lvl9pPr>
          </a:lstStyle>
          <a:p xmlns:a="http://schemas.openxmlformats.org/drawingml/2006/main">
            <a:pPr>
              <a:defRPr sz="2325" b="1">
                <a:solidFill>
                  <a:srgbClr val="183C2D"/>
                </a:solidFill>
                <a:latin typeface="Arial"/>
                <a:ea typeface="Arial"/>
                <a:cs typeface="Arial"/>
              </a:defRPr>
            </a:pPr>
            <a:r>
              <a:rPr sz="2325" b="1">
                <a:solidFill>
                  <a:srgbClr val="183C2D"/>
                </a:solidFill>
                <a:latin typeface="Arial"/>
                <a:ea typeface="Arial"/>
                <a:cs typeface="Arial"/>
              </a:rPr>
              <a:t>Before choosing a bin</a:t>
            </a:r>
          </a:p>
        </p:txBody>
      </p:sp>
      <p:sp>
        <p:nvSpPr>
          <p:cNvPr id="4" name="">
            <a:extLst xmlns:a="http://schemas.openxmlformats.org/drawingml/2006/main">
              <a:ext uri="{FF2B5EF4-FFF2-40B4-BE49-F238E27FC236}">
                <a16:creationId xmlns:a16="http://schemas.microsoft.com/office/drawing/2014/main" id="{87494B0E-177F-488E-A437-98EFD4C574EF}"/>
              </a:ext>
            </a:extLst>
          </p:cNvPr>
          <p:cNvSpPr>
            <a:spLocks xmlns:a="http://schemas.openxmlformats.org/drawingml/2006/main" noGrp="1"/>
          </p:cNvSpPr>
          <p:nvPr/>
        </p:nvSpPr>
        <p:spPr>
          <a:xfrm xmlns:a="http://schemas.openxmlformats.org/drawingml/2006/main">
            <a:off x="7810500" y="2952750"/>
            <a:ext cx="34766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2D"/>
                </a:solidFill>
                <a:latin typeface="Arial"/>
                <a:ea typeface="Arial"/>
                <a:cs typeface="Arial"/>
              </a:defRPr>
            </a:defPPr>
            <a:lvl1pPr>
              <a:defRPr sz="2025" b="0">
                <a:solidFill>
                  <a:srgbClr val="183C2D"/>
                </a:solidFill>
                <a:latin typeface="Arial"/>
                <a:ea typeface="Arial"/>
                <a:cs typeface="Arial"/>
              </a:defRPr>
            </a:lvl1pPr>
            <a:lvl2pPr>
              <a:defRPr sz="2025" b="0">
                <a:solidFill>
                  <a:srgbClr val="183C2D"/>
                </a:solidFill>
                <a:latin typeface="Arial"/>
                <a:ea typeface="Arial"/>
                <a:cs typeface="Arial"/>
              </a:defRPr>
            </a:lvl2pPr>
            <a:lvl3pPr>
              <a:defRPr sz="2025" b="0">
                <a:solidFill>
                  <a:srgbClr val="183C2D"/>
                </a:solidFill>
                <a:latin typeface="Arial"/>
                <a:ea typeface="Arial"/>
                <a:cs typeface="Arial"/>
              </a:defRPr>
            </a:lvl3pPr>
            <a:lvl4pPr>
              <a:defRPr sz="2025" b="0">
                <a:solidFill>
                  <a:srgbClr val="183C2D"/>
                </a:solidFill>
                <a:latin typeface="Arial"/>
                <a:ea typeface="Arial"/>
                <a:cs typeface="Arial"/>
              </a:defRPr>
            </a:lvl4pPr>
            <a:lvl5pPr>
              <a:defRPr sz="2025" b="0">
                <a:solidFill>
                  <a:srgbClr val="183C2D"/>
                </a:solidFill>
                <a:latin typeface="Arial"/>
                <a:ea typeface="Arial"/>
                <a:cs typeface="Arial"/>
              </a:defRPr>
            </a:lvl5pPr>
            <a:lvl6pPr>
              <a:defRPr sz="2025" b="0">
                <a:solidFill>
                  <a:srgbClr val="183C2D"/>
                </a:solidFill>
                <a:latin typeface="Arial"/>
                <a:ea typeface="Arial"/>
                <a:cs typeface="Arial"/>
              </a:defRPr>
            </a:lvl6pPr>
            <a:lvl7pPr>
              <a:defRPr sz="2025" b="0">
                <a:solidFill>
                  <a:srgbClr val="183C2D"/>
                </a:solidFill>
                <a:latin typeface="Arial"/>
                <a:ea typeface="Arial"/>
                <a:cs typeface="Arial"/>
              </a:defRPr>
            </a:lvl7pPr>
            <a:lvl8pPr>
              <a:defRPr sz="2025" b="0">
                <a:solidFill>
                  <a:srgbClr val="183C2D"/>
                </a:solidFill>
                <a:latin typeface="Arial"/>
                <a:ea typeface="Arial"/>
                <a:cs typeface="Arial"/>
              </a:defRPr>
            </a:lvl8pPr>
            <a:lvl9pPr>
              <a:defRPr sz="2025" b="0">
                <a:solidFill>
                  <a:srgbClr val="183C2D"/>
                </a:solidFill>
                <a:latin typeface="Arial"/>
                <a:ea typeface="Arial"/>
                <a:cs typeface="Arial"/>
              </a:defRPr>
            </a:lvl9pPr>
          </a:lstStyle>
          <a:p xmlns:a="http://schemas.openxmlformats.org/drawingml/2006/main">
            <a:pPr>
              <a:defRPr sz="2025" b="0">
                <a:solidFill>
                  <a:srgbClr val="183C2D"/>
                </a:solidFill>
                <a:latin typeface="Arial"/>
                <a:ea typeface="Arial"/>
                <a:cs typeface="Arial"/>
              </a:defRPr>
            </a:pPr>
            <a:r>
              <a:rPr sz="2025" b="0">
                <a:solidFill>
                  <a:srgbClr val="183C2D"/>
                </a:solidFill>
                <a:latin typeface="Arial"/>
                <a:ea typeface="Arial"/>
                <a:cs typeface="Arial"/>
              </a:rPr>
              <a:t>Check posted campus rules.</a:t>
            </a:r>
          </a:p>
          <a:p xmlns:a="http://schemas.openxmlformats.org/drawingml/2006/main">
            <a:r>
              <a:t/>
            </a:r>
          </a:p>
          <a:p xmlns:a="http://schemas.openxmlformats.org/drawingml/2006/main">
            <a:pPr>
              <a:defRPr sz="2025" b="0">
                <a:solidFill>
                  <a:srgbClr val="183C2D"/>
                </a:solidFill>
                <a:latin typeface="Arial"/>
                <a:ea typeface="Arial"/>
                <a:cs typeface="Arial"/>
              </a:defRPr>
            </a:pPr>
            <a:r>
              <a:rPr sz="2025" b="0">
                <a:solidFill>
                  <a:srgbClr val="183C2D"/>
                </a:solidFill>
                <a:latin typeface="Arial"/>
                <a:ea typeface="Arial"/>
                <a:cs typeface="Arial"/>
              </a:rPr>
              <a:t>No campus-photo accuracy claim.</a:t>
            </a:r>
          </a:p>
          <a:p xmlns:a="http://schemas.openxmlformats.org/drawingml/2006/main">
            <a:r>
              <a:t/>
            </a:r>
          </a:p>
          <a:p xmlns:a="http://schemas.openxmlformats.org/drawingml/2006/main">
            <a:pPr>
              <a:defRPr sz="2025" b="0">
                <a:solidFill>
                  <a:srgbClr val="183C2D"/>
                </a:solidFill>
                <a:latin typeface="Arial"/>
                <a:ea typeface="Arial"/>
                <a:cs typeface="Arial"/>
              </a:defRPr>
            </a:pPr>
            <a:r>
              <a:rPr sz="2025" b="0">
                <a:solidFill>
                  <a:srgbClr val="183C2D"/>
                </a:solidFill>
                <a:latin typeface="Arial"/>
                <a:ea typeface="Arial"/>
                <a:cs typeface="Arial"/>
              </a:rPr>
              <a:t>Unrelated objects can receive a waste label.</a:t>
            </a:r>
          </a:p>
        </p:txBody>
      </p:sp>
      <p:sp>
        <p:nvSpPr>
          <p:cNvPr id="5" name="">
            <a:extLst xmlns:a="http://schemas.openxmlformats.org/drawingml/2006/main">
              <a:ext uri="{FF2B5EF4-FFF2-40B4-BE49-F238E27FC236}">
                <a16:creationId xmlns:a16="http://schemas.microsoft.com/office/drawing/2014/main" id="{091DC813-CADE-449C-90F9-26E86EA0247D}"/>
              </a:ext>
            </a:extLst>
          </p:cNvPr>
          <p:cNvSpPr>
            <a:spLocks xmlns:a="http://schemas.openxmlformats.org/drawingml/2006/main" noGrp="1"/>
          </p:cNvSpPr>
          <p:nvPr/>
        </p:nvSpPr>
        <p:spPr>
          <a:xfrm xmlns:a="http://schemas.openxmlformats.org/drawingml/2006/main">
            <a:off x="619125" y="59055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83C2D"/>
                </a:solidFill>
                <a:latin typeface="Arial"/>
                <a:ea typeface="Arial"/>
                <a:cs typeface="Arial"/>
              </a:defRPr>
            </a:defPPr>
            <a:lvl1pPr>
              <a:defRPr sz="1800" b="0">
                <a:solidFill>
                  <a:srgbClr val="183C2D"/>
                </a:solidFill>
                <a:latin typeface="Arial"/>
                <a:ea typeface="Arial"/>
                <a:cs typeface="Arial"/>
              </a:defRPr>
            </a:lvl1pPr>
            <a:lvl2pPr>
              <a:defRPr sz="1800" b="0">
                <a:solidFill>
                  <a:srgbClr val="183C2D"/>
                </a:solidFill>
                <a:latin typeface="Arial"/>
                <a:ea typeface="Arial"/>
                <a:cs typeface="Arial"/>
              </a:defRPr>
            </a:lvl2pPr>
            <a:lvl3pPr>
              <a:defRPr sz="1800" b="0">
                <a:solidFill>
                  <a:srgbClr val="183C2D"/>
                </a:solidFill>
                <a:latin typeface="Arial"/>
                <a:ea typeface="Arial"/>
                <a:cs typeface="Arial"/>
              </a:defRPr>
            </a:lvl3pPr>
            <a:lvl4pPr>
              <a:defRPr sz="1800" b="0">
                <a:solidFill>
                  <a:srgbClr val="183C2D"/>
                </a:solidFill>
                <a:latin typeface="Arial"/>
                <a:ea typeface="Arial"/>
                <a:cs typeface="Arial"/>
              </a:defRPr>
            </a:lvl4pPr>
            <a:lvl5pPr>
              <a:defRPr sz="1800" b="0">
                <a:solidFill>
                  <a:srgbClr val="183C2D"/>
                </a:solidFill>
                <a:latin typeface="Arial"/>
                <a:ea typeface="Arial"/>
                <a:cs typeface="Arial"/>
              </a:defRPr>
            </a:lvl5pPr>
            <a:lvl6pPr>
              <a:defRPr sz="1800" b="0">
                <a:solidFill>
                  <a:srgbClr val="183C2D"/>
                </a:solidFill>
                <a:latin typeface="Arial"/>
                <a:ea typeface="Arial"/>
                <a:cs typeface="Arial"/>
              </a:defRPr>
            </a:lvl6pPr>
            <a:lvl7pPr>
              <a:defRPr sz="1800" b="0">
                <a:solidFill>
                  <a:srgbClr val="183C2D"/>
                </a:solidFill>
                <a:latin typeface="Arial"/>
                <a:ea typeface="Arial"/>
                <a:cs typeface="Arial"/>
              </a:defRPr>
            </a:lvl7pPr>
            <a:lvl8pPr>
              <a:defRPr sz="1800" b="0">
                <a:solidFill>
                  <a:srgbClr val="183C2D"/>
                </a:solidFill>
                <a:latin typeface="Arial"/>
                <a:ea typeface="Arial"/>
                <a:cs typeface="Arial"/>
              </a:defRPr>
            </a:lvl8pPr>
            <a:lvl9pPr>
              <a:defRPr sz="1800" b="0">
                <a:solidFill>
                  <a:srgbClr val="183C2D"/>
                </a:solidFill>
                <a:latin typeface="Arial"/>
                <a:ea typeface="Arial"/>
                <a:cs typeface="Arial"/>
              </a:defRPr>
            </a:lvl9pPr>
          </a:lstStyle>
          <a:p xmlns:a="http://schemas.openxmlformats.org/drawingml/2006/main">
            <a:pPr>
              <a:defRPr sz="1800" b="0">
                <a:solidFill>
                  <a:srgbClr val="183C2D"/>
                </a:solidFill>
                <a:latin typeface="Arial"/>
                <a:ea typeface="Arial"/>
                <a:cs typeface="Arial"/>
              </a:defRPr>
            </a:pPr>
            <a:r>
              <a:rPr sz="1800" b="0">
                <a:solidFill>
                  <a:srgbClr val="183C2D"/>
                </a:solidFill>
                <a:latin typeface="Arial"/>
                <a:ea typeface="Arial"/>
                <a:cs typeface="Arial"/>
              </a:rPr>
              <a:t>AI-assisted group work · methodology changes documented for instructor review</a:t>
            </a:r>
          </a:p>
        </p:txBody>
      </p:sp>
    </p:spTree>
    <p:extLst>
      <p:ext uri="{BB962C8B-B14F-4D97-AF65-F5344CB8AC3E}">
        <p14:creationId xmlns:p14="http://schemas.microsoft.com/office/powerpoint/2010/main" val="790210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2026-10-26T11:53:23.6080000Z</dcterms:created>
  <dcterms:modified xsi:type="dcterms:W3CDTF">2026-10-26T11:53:23.6080000Z</dcterms:modified>
</coreProperties>
</file>